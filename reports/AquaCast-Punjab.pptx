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E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77240" y="1143000"/>
            <a:ext cx="10607040" cy="365760"/>
          </a:xfrm>
          <a:prstGeom prst="rect">
            <a:avLst/>
          </a:prstGeom>
          <a:noFill/>
        </p:spPr>
        <p:txBody>
          <a:bodyPr wrap="square" lIns="0" rIns="0" tIns="0" bIns="0" anchor="t">
            <a:spAutoFit/>
          </a:bodyPr>
          <a:lstStyle/>
          <a:p>
            <a:pPr algn="l">
              <a:lnSpc>
                <a:spcPct val="100000"/>
              </a:lnSpc>
              <a:spcAft>
                <a:spcPts val="400"/>
              </a:spcAft>
            </a:pPr>
            <a:r>
              <a:rPr sz="1200" b="1">
                <a:solidFill>
                  <a:srgbClr val="0EA5E9"/>
                </a:solidFill>
                <a:latin typeface="Segoe UI"/>
              </a:rPr>
              <a:t>SANKALP  ·  CLIMATE-SMART AGRICULTURE  ·  WATER  ·  RURAL CREDIT RISK</a:t>
            </a:r>
          </a:p>
        </p:txBody>
      </p:sp>
      <p:sp>
        <p:nvSpPr>
          <p:cNvPr id="5" name="TextBox 4"/>
          <p:cNvSpPr txBox="1"/>
          <p:nvPr/>
        </p:nvSpPr>
        <p:spPr>
          <a:xfrm>
            <a:off x="777240" y="1572768"/>
            <a:ext cx="10607040" cy="1188720"/>
          </a:xfrm>
          <a:prstGeom prst="rect">
            <a:avLst/>
          </a:prstGeom>
          <a:noFill/>
        </p:spPr>
        <p:txBody>
          <a:bodyPr wrap="square" lIns="0" rIns="0" tIns="0" bIns="0" anchor="t">
            <a:spAutoFit/>
          </a:bodyPr>
          <a:lstStyle/>
          <a:p>
            <a:pPr algn="l">
              <a:lnSpc>
                <a:spcPct val="100000"/>
              </a:lnSpc>
              <a:spcAft>
                <a:spcPts val="400"/>
              </a:spcAft>
            </a:pPr>
            <a:r>
              <a:rPr sz="6200" b="1">
                <a:solidFill>
                  <a:srgbClr val="FFFFFF"/>
                </a:solidFill>
                <a:latin typeface="Segoe UI"/>
              </a:rPr>
              <a:t>AquaCast-Punjab</a:t>
            </a:r>
          </a:p>
        </p:txBody>
      </p:sp>
      <p:sp>
        <p:nvSpPr>
          <p:cNvPr id="6" name="TextBox 5"/>
          <p:cNvSpPr txBox="1"/>
          <p:nvPr/>
        </p:nvSpPr>
        <p:spPr>
          <a:xfrm>
            <a:off x="777240" y="2487168"/>
            <a:ext cx="10607040" cy="822960"/>
          </a:xfrm>
          <a:prstGeom prst="rect">
            <a:avLst/>
          </a:prstGeom>
          <a:noFill/>
        </p:spPr>
        <p:txBody>
          <a:bodyPr wrap="square" lIns="0" rIns="0" tIns="0" bIns="0" anchor="t">
            <a:spAutoFit/>
          </a:bodyPr>
          <a:lstStyle/>
          <a:p>
            <a:pPr algn="l">
              <a:lnSpc>
                <a:spcPct val="125000"/>
              </a:lnSpc>
              <a:spcAft>
                <a:spcPts val="400"/>
              </a:spcAft>
            </a:pPr>
            <a:r>
              <a:rPr sz="1900" b="0">
                <a:solidFill>
                  <a:srgbClr val="B6CDE0"/>
                </a:solidFill>
                <a:latin typeface="Segoe UI"/>
              </a:rPr>
              <a:t>Forecast the aquifer 90 days out — then tell a farmer how many hours to pump,
and a bank which loans are about to go bad.</a:t>
            </a:r>
          </a:p>
        </p:txBody>
      </p:sp>
      <p:sp>
        <p:nvSpPr>
          <p:cNvPr id="7" name="Rounded Rectangle 6"/>
          <p:cNvSpPr/>
          <p:nvPr/>
        </p:nvSpPr>
        <p:spPr>
          <a:xfrm>
            <a:off x="777240" y="3584448"/>
            <a:ext cx="2560320" cy="1298448"/>
          </a:xfrm>
          <a:prstGeom prst="roundRect">
            <a:avLst>
              <a:gd name="adj" fmla="val 6000"/>
            </a:avLst>
          </a:prstGeom>
          <a:solidFill>
            <a:srgbClr val="142C45"/>
          </a:solidFill>
          <a:ln w="12700">
            <a:solidFill>
              <a:srgbClr val="132A4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777240" y="3584448"/>
            <a:ext cx="50292" cy="1298448"/>
          </a:xfrm>
          <a:prstGeom prst="rect">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33272" y="3767328"/>
            <a:ext cx="2148840" cy="603504"/>
          </a:xfrm>
          <a:prstGeom prst="rect">
            <a:avLst/>
          </a:prstGeom>
          <a:noFill/>
        </p:spPr>
        <p:txBody>
          <a:bodyPr wrap="square" lIns="0" rIns="0" tIns="0" bIns="0" anchor="t">
            <a:spAutoFit/>
          </a:bodyPr>
          <a:lstStyle/>
          <a:p>
            <a:pPr algn="l">
              <a:lnSpc>
                <a:spcPct val="100000"/>
              </a:lnSpc>
              <a:spcAft>
                <a:spcPts val="400"/>
              </a:spcAft>
            </a:pPr>
            <a:r>
              <a:rPr sz="1900" b="1">
                <a:solidFill>
                  <a:srgbClr val="22C55E"/>
                </a:solidFill>
                <a:latin typeface="Segoe UI"/>
              </a:rPr>
              <a:t>0.099–0.117 m</a:t>
            </a:r>
          </a:p>
        </p:txBody>
      </p:sp>
      <p:sp>
        <p:nvSpPr>
          <p:cNvPr id="10" name="TextBox 9"/>
          <p:cNvSpPr txBox="1"/>
          <p:nvPr/>
        </p:nvSpPr>
        <p:spPr>
          <a:xfrm>
            <a:off x="1033272" y="4370832"/>
            <a:ext cx="2148840" cy="457200"/>
          </a:xfrm>
          <a:prstGeom prst="rect">
            <a:avLst/>
          </a:prstGeom>
          <a:noFill/>
        </p:spPr>
        <p:txBody>
          <a:bodyPr wrap="square" lIns="0" rIns="0" tIns="0" bIns="0" anchor="t">
            <a:spAutoFit/>
          </a:bodyPr>
          <a:lstStyle/>
          <a:p>
            <a:pPr algn="l">
              <a:lnSpc>
                <a:spcPct val="95000"/>
              </a:lnSpc>
              <a:spcAft>
                <a:spcPts val="400"/>
              </a:spcAft>
            </a:pPr>
            <a:r>
              <a:rPr sz="1050" b="0">
                <a:solidFill>
                  <a:srgbClr val="FFFFFF"/>
                </a:solidFill>
                <a:latin typeface="Segoe UI"/>
              </a:rPr>
              <a:t>out-of-sample RMSE
30 / 60 / 90-day forecast</a:t>
            </a:r>
          </a:p>
        </p:txBody>
      </p:sp>
      <p:sp>
        <p:nvSpPr>
          <p:cNvPr id="11" name="Rounded Rectangle 10"/>
          <p:cNvSpPr/>
          <p:nvPr/>
        </p:nvSpPr>
        <p:spPr>
          <a:xfrm>
            <a:off x="3465576" y="3584448"/>
            <a:ext cx="2560320" cy="1298448"/>
          </a:xfrm>
          <a:prstGeom prst="roundRect">
            <a:avLst>
              <a:gd name="adj" fmla="val 6000"/>
            </a:avLst>
          </a:prstGeom>
          <a:solidFill>
            <a:srgbClr val="142C45"/>
          </a:solidFill>
          <a:ln w="12700">
            <a:solidFill>
              <a:srgbClr val="132A4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3465576" y="3584448"/>
            <a:ext cx="50292" cy="1298448"/>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3721608" y="3767328"/>
            <a:ext cx="2148840" cy="603504"/>
          </a:xfrm>
          <a:prstGeom prst="rect">
            <a:avLst/>
          </a:prstGeom>
          <a:noFill/>
        </p:spPr>
        <p:txBody>
          <a:bodyPr wrap="square" lIns="0" rIns="0" tIns="0" bIns="0" anchor="t">
            <a:spAutoFit/>
          </a:bodyPr>
          <a:lstStyle/>
          <a:p>
            <a:pPr algn="l">
              <a:lnSpc>
                <a:spcPct val="100000"/>
              </a:lnSpc>
              <a:spcAft>
                <a:spcPts val="400"/>
              </a:spcAft>
            </a:pPr>
            <a:r>
              <a:rPr sz="3000" b="1">
                <a:solidFill>
                  <a:srgbClr val="0EA5E9"/>
                </a:solidFill>
                <a:latin typeface="Segoe UI"/>
              </a:rPr>
              <a:t>+67.4%</a:t>
            </a:r>
          </a:p>
        </p:txBody>
      </p:sp>
      <p:sp>
        <p:nvSpPr>
          <p:cNvPr id="14" name="TextBox 13"/>
          <p:cNvSpPr txBox="1"/>
          <p:nvPr/>
        </p:nvSpPr>
        <p:spPr>
          <a:xfrm>
            <a:off x="3721608" y="4370832"/>
            <a:ext cx="2148840" cy="457200"/>
          </a:xfrm>
          <a:prstGeom prst="rect">
            <a:avLst/>
          </a:prstGeom>
          <a:noFill/>
        </p:spPr>
        <p:txBody>
          <a:bodyPr wrap="square" lIns="0" rIns="0" tIns="0" bIns="0" anchor="t">
            <a:spAutoFit/>
          </a:bodyPr>
          <a:lstStyle/>
          <a:p>
            <a:pPr algn="l">
              <a:lnSpc>
                <a:spcPct val="95000"/>
              </a:lnSpc>
              <a:spcAft>
                <a:spcPts val="400"/>
              </a:spcAft>
            </a:pPr>
            <a:r>
              <a:rPr sz="1050" b="0">
                <a:solidFill>
                  <a:srgbClr val="FFFFFF"/>
                </a:solidFill>
                <a:latin typeface="Segoe UI"/>
              </a:rPr>
              <a:t>skill vs persistence
baseline (Ludhiana)</a:t>
            </a:r>
          </a:p>
        </p:txBody>
      </p:sp>
      <p:sp>
        <p:nvSpPr>
          <p:cNvPr id="15" name="Rounded Rectangle 14"/>
          <p:cNvSpPr/>
          <p:nvPr/>
        </p:nvSpPr>
        <p:spPr>
          <a:xfrm>
            <a:off x="6153912" y="3584448"/>
            <a:ext cx="2560320" cy="1298448"/>
          </a:xfrm>
          <a:prstGeom prst="roundRect">
            <a:avLst>
              <a:gd name="adj" fmla="val 6000"/>
            </a:avLst>
          </a:prstGeom>
          <a:solidFill>
            <a:srgbClr val="142C45"/>
          </a:solidFill>
          <a:ln w="12700">
            <a:solidFill>
              <a:srgbClr val="132A4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6153912" y="3584448"/>
            <a:ext cx="50292"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409944" y="3767328"/>
            <a:ext cx="2148840" cy="603504"/>
          </a:xfrm>
          <a:prstGeom prst="rect">
            <a:avLst/>
          </a:prstGeom>
          <a:noFill/>
        </p:spPr>
        <p:txBody>
          <a:bodyPr wrap="square" lIns="0" rIns="0" tIns="0" bIns="0" anchor="t">
            <a:spAutoFit/>
          </a:bodyPr>
          <a:lstStyle/>
          <a:p>
            <a:pPr algn="l">
              <a:lnSpc>
                <a:spcPct val="100000"/>
              </a:lnSpc>
              <a:spcAft>
                <a:spcPts val="400"/>
              </a:spcAft>
            </a:pPr>
            <a:r>
              <a:rPr sz="3000" b="1">
                <a:solidFill>
                  <a:srgbClr val="F59E0B"/>
                </a:solidFill>
                <a:latin typeface="Segoe UI"/>
              </a:rPr>
              <a:t>122</a:t>
            </a:r>
          </a:p>
        </p:txBody>
      </p:sp>
      <p:sp>
        <p:nvSpPr>
          <p:cNvPr id="18" name="TextBox 17"/>
          <p:cNvSpPr txBox="1"/>
          <p:nvPr/>
        </p:nvSpPr>
        <p:spPr>
          <a:xfrm>
            <a:off x="6409944" y="4370832"/>
            <a:ext cx="2148840" cy="457200"/>
          </a:xfrm>
          <a:prstGeom prst="rect">
            <a:avLst/>
          </a:prstGeom>
          <a:noFill/>
        </p:spPr>
        <p:txBody>
          <a:bodyPr wrap="square" lIns="0" rIns="0" tIns="0" bIns="0" anchor="t">
            <a:spAutoFit/>
          </a:bodyPr>
          <a:lstStyle/>
          <a:p>
            <a:pPr algn="l">
              <a:lnSpc>
                <a:spcPct val="95000"/>
              </a:lnSpc>
              <a:spcAft>
                <a:spcPts val="400"/>
              </a:spcAft>
            </a:pPr>
            <a:r>
              <a:rPr sz="1050" b="0">
                <a:solidFill>
                  <a:srgbClr val="FFFFFF"/>
                </a:solidFill>
                <a:latin typeface="Segoe UI"/>
              </a:rPr>
              <a:t>real CGWB wells scored
individually, not averaged</a:t>
            </a:r>
          </a:p>
        </p:txBody>
      </p:sp>
      <p:sp>
        <p:nvSpPr>
          <p:cNvPr id="19" name="Rounded Rectangle 18"/>
          <p:cNvSpPr/>
          <p:nvPr/>
        </p:nvSpPr>
        <p:spPr>
          <a:xfrm>
            <a:off x="8842248" y="3584448"/>
            <a:ext cx="2560320" cy="1298448"/>
          </a:xfrm>
          <a:prstGeom prst="roundRect">
            <a:avLst>
              <a:gd name="adj" fmla="val 6000"/>
            </a:avLst>
          </a:prstGeom>
          <a:solidFill>
            <a:srgbClr val="142C45"/>
          </a:solidFill>
          <a:ln w="12700">
            <a:solidFill>
              <a:srgbClr val="132A4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8842248" y="3584448"/>
            <a:ext cx="50292" cy="1298448"/>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9098280" y="3767328"/>
            <a:ext cx="2148840" cy="603504"/>
          </a:xfrm>
          <a:prstGeom prst="rect">
            <a:avLst/>
          </a:prstGeom>
          <a:noFill/>
        </p:spPr>
        <p:txBody>
          <a:bodyPr wrap="square" lIns="0" rIns="0" tIns="0" bIns="0" anchor="t">
            <a:spAutoFit/>
          </a:bodyPr>
          <a:lstStyle/>
          <a:p>
            <a:pPr algn="l">
              <a:lnSpc>
                <a:spcPct val="100000"/>
              </a:lnSpc>
              <a:spcAft>
                <a:spcPts val="400"/>
              </a:spcAft>
            </a:pPr>
            <a:r>
              <a:rPr sz="3000" b="1">
                <a:solidFill>
                  <a:srgbClr val="14B8A6"/>
                </a:solidFill>
                <a:latin typeface="Segoe UI"/>
              </a:rPr>
              <a:t>84.2%</a:t>
            </a:r>
          </a:p>
        </p:txBody>
      </p:sp>
      <p:sp>
        <p:nvSpPr>
          <p:cNvPr id="22" name="TextBox 21"/>
          <p:cNvSpPr txBox="1"/>
          <p:nvPr/>
        </p:nvSpPr>
        <p:spPr>
          <a:xfrm>
            <a:off x="9098280" y="4370832"/>
            <a:ext cx="2148840" cy="457200"/>
          </a:xfrm>
          <a:prstGeom prst="rect">
            <a:avLst/>
          </a:prstGeom>
          <a:noFill/>
        </p:spPr>
        <p:txBody>
          <a:bodyPr wrap="square" lIns="0" rIns="0" tIns="0" bIns="0" anchor="t">
            <a:spAutoFit/>
          </a:bodyPr>
          <a:lstStyle/>
          <a:p>
            <a:pPr algn="l">
              <a:lnSpc>
                <a:spcPct val="95000"/>
              </a:lnSpc>
              <a:spcAft>
                <a:spcPts val="400"/>
              </a:spcAft>
            </a:pPr>
            <a:r>
              <a:rPr sz="1050" b="0">
                <a:solidFill>
                  <a:srgbClr val="FFFFFF"/>
                </a:solidFill>
                <a:latin typeface="Segoe UI"/>
              </a:rPr>
              <a:t>of rainfall days in the 1,828-day
frame are measured telemetry</a:t>
            </a:r>
          </a:p>
        </p:txBody>
      </p:sp>
      <p:sp>
        <p:nvSpPr>
          <p:cNvPr id="23" name="TextBox 22"/>
          <p:cNvSpPr txBox="1"/>
          <p:nvPr/>
        </p:nvSpPr>
        <p:spPr>
          <a:xfrm>
            <a:off x="777240" y="5230368"/>
            <a:ext cx="10607040" cy="822960"/>
          </a:xfrm>
          <a:prstGeom prst="rect">
            <a:avLst/>
          </a:prstGeom>
          <a:noFill/>
        </p:spPr>
        <p:txBody>
          <a:bodyPr wrap="square" lIns="0" rIns="0" tIns="0" bIns="0" anchor="t">
            <a:spAutoFit/>
          </a:bodyPr>
          <a:lstStyle/>
          <a:p>
            <a:pPr algn="l">
              <a:lnSpc>
                <a:spcPct val="120000"/>
              </a:lnSpc>
              <a:spcAft>
                <a:spcPts val="400"/>
              </a:spcAft>
            </a:pPr>
            <a:r>
              <a:rPr sz="1100" b="0">
                <a:solidFill>
                  <a:srgbClr val="7DA2C4"/>
                </a:solidFill>
                <a:latin typeface="Segoe UI"/>
              </a:rPr>
              <a:t>PyTorch LSTM  ·  52,547 parameters  ·  1,828-day daily frame  ·  3 districts  ·  122 wells  ·  8 real Punjab rasters  ·  bilingual English / ਪੰਜਾਬੀ advisory</a:t>
            </a:r>
          </a:p>
        </p:txBody>
      </p:sp>
      <p:sp>
        <p:nvSpPr>
          <p:cNvPr id="24" name="Rectangle 23"/>
          <p:cNvSpPr/>
          <p:nvPr/>
        </p:nvSpPr>
        <p:spPr>
          <a:xfrm>
            <a:off x="777240" y="5961888"/>
            <a:ext cx="10607040" cy="10972"/>
          </a:xfrm>
          <a:prstGeom prst="rect">
            <a:avLst/>
          </a:prstGeom>
          <a:solidFill>
            <a:srgbClr val="13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11064240" cy="256032"/>
          </a:xfrm>
          <a:prstGeom prst="rect">
            <a:avLst/>
          </a:prstGeom>
          <a:noFill/>
        </p:spPr>
        <p:txBody>
          <a:bodyPr wrap="square" lIns="0" rIns="0" tIns="0" bIns="0" anchor="t">
            <a:spAutoFit/>
          </a:bodyPr>
          <a:lstStyle/>
          <a:p>
            <a:pPr algn="l">
              <a:lnSpc>
                <a:spcPct val="100000"/>
              </a:lnSpc>
              <a:spcAft>
                <a:spcPts val="400"/>
              </a:spcAft>
            </a:pPr>
            <a:r>
              <a:rPr sz="1050" b="1">
                <a:solidFill>
                  <a:srgbClr val="0369A1"/>
                </a:solidFill>
                <a:latin typeface="Segoe UI"/>
              </a:rPr>
              <a:t>THE PROBLEM</a:t>
            </a:r>
          </a:p>
        </p:txBody>
      </p:sp>
      <p:sp>
        <p:nvSpPr>
          <p:cNvPr id="4" name="TextBox 3"/>
          <p:cNvSpPr txBox="1"/>
          <p:nvPr/>
        </p:nvSpPr>
        <p:spPr>
          <a:xfrm>
            <a:off x="566928" y="640080"/>
            <a:ext cx="11064240" cy="658368"/>
          </a:xfrm>
          <a:prstGeom prst="rect">
            <a:avLst/>
          </a:prstGeom>
          <a:noFill/>
        </p:spPr>
        <p:txBody>
          <a:bodyPr wrap="square" lIns="0" rIns="0" tIns="0" bIns="0" anchor="t">
            <a:spAutoFit/>
          </a:bodyPr>
          <a:lstStyle/>
          <a:p>
            <a:pPr algn="l">
              <a:lnSpc>
                <a:spcPct val="100000"/>
              </a:lnSpc>
              <a:spcAft>
                <a:spcPts val="400"/>
              </a:spcAft>
            </a:pPr>
            <a:r>
              <a:rPr sz="2500" b="1">
                <a:solidFill>
                  <a:srgbClr val="0F172A"/>
                </a:solidFill>
                <a:latin typeface="Segoe UI"/>
              </a:rPr>
              <a:t>Punjab is mining its aquifer — and the paradox hides it</a:t>
            </a:r>
          </a:p>
        </p:txBody>
      </p:sp>
      <p:sp>
        <p:nvSpPr>
          <p:cNvPr id="5" name="Rectangle 4"/>
          <p:cNvSpPr/>
          <p:nvPr/>
        </p:nvSpPr>
        <p:spPr>
          <a:xfrm>
            <a:off x="566928" y="1335024"/>
            <a:ext cx="658368"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566928" y="1554480"/>
            <a:ext cx="5486400" cy="1143000"/>
          </a:xfrm>
          <a:prstGeom prst="rect">
            <a:avLst/>
          </a:prstGeom>
          <a:noFill/>
        </p:spPr>
        <p:txBody>
          <a:bodyPr wrap="square" lIns="0" rIns="0" tIns="0" bIns="0" anchor="t">
            <a:spAutoFit/>
          </a:bodyPr>
          <a:lstStyle/>
          <a:p>
            <a:pPr algn="l">
              <a:lnSpc>
                <a:spcPct val="125000"/>
              </a:lnSpc>
              <a:spcAft>
                <a:spcPts val="400"/>
              </a:spcAft>
            </a:pPr>
            <a:r>
              <a:rPr sz="1300" b="0">
                <a:solidFill>
                  <a:srgbClr val="0F172A"/>
                </a:solidFill>
                <a:latin typeface="Segoe UI"/>
              </a:rPr>
              <a:t>Central Punjab pumps 2,488 MCM of groundwater a year and recharges 2,139 MCM. The 349 MCM gap is the 0.8 m/yr the water table drops — every year, across 280,000 ha of wheat.</a:t>
            </a:r>
          </a:p>
        </p:txBody>
      </p:sp>
      <p:sp>
        <p:nvSpPr>
          <p:cNvPr id="7" name="Oval 6"/>
          <p:cNvSpPr/>
          <p:nvPr/>
        </p:nvSpPr>
        <p:spPr>
          <a:xfrm>
            <a:off x="566928" y="2674620"/>
            <a:ext cx="77724" cy="77724"/>
          </a:xfrm>
          <a:prstGeom prst="ellipse">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04672" y="2578608"/>
            <a:ext cx="5111496" cy="274320"/>
          </a:xfrm>
          <a:prstGeom prst="rect">
            <a:avLst/>
          </a:prstGeom>
          <a:noFill/>
        </p:spPr>
        <p:txBody>
          <a:bodyPr wrap="square" lIns="0" rIns="0" tIns="0" bIns="0" anchor="t">
            <a:spAutoFit/>
          </a:bodyPr>
          <a:lstStyle/>
          <a:p>
            <a:pPr algn="l">
              <a:lnSpc>
                <a:spcPct val="100000"/>
              </a:lnSpc>
              <a:spcAft>
                <a:spcPts val="400"/>
              </a:spcAft>
            </a:pPr>
            <a:r>
              <a:rPr sz="1250" b="1">
                <a:solidFill>
                  <a:srgbClr val="0F172A"/>
                </a:solidFill>
                <a:latin typeface="Segoe UI"/>
              </a:rPr>
              <a:t>The monsoon arrives in July; the water table falls until August.</a:t>
            </a:r>
          </a:p>
        </p:txBody>
      </p:sp>
      <p:sp>
        <p:nvSpPr>
          <p:cNvPr id="9" name="TextBox 8"/>
          <p:cNvSpPr txBox="1"/>
          <p:nvPr/>
        </p:nvSpPr>
        <p:spPr>
          <a:xfrm>
            <a:off x="804672" y="2820924"/>
            <a:ext cx="5111496" cy="548640"/>
          </a:xfrm>
          <a:prstGeom prst="rect">
            <a:avLst/>
          </a:prstGeom>
          <a:noFill/>
        </p:spPr>
        <p:txBody>
          <a:bodyPr wrap="square" lIns="0" rIns="0" tIns="0" bIns="0" anchor="t">
            <a:spAutoFit/>
          </a:bodyPr>
          <a:lstStyle/>
          <a:p>
            <a:pPr algn="l">
              <a:lnSpc>
                <a:spcPct val="98000"/>
              </a:lnSpc>
              <a:spcAft>
                <a:spcPts val="400"/>
              </a:spcAft>
            </a:pPr>
            <a:r>
              <a:rPr sz="1100" b="0">
                <a:solidFill>
                  <a:srgbClr val="64748B"/>
                </a:solidFill>
                <a:latin typeface="Segoe UI"/>
              </a:rPr>
              <a:t>A 30–40 m deep aquifer lags the monsoon by months — so everyone misreads the signal.</a:t>
            </a:r>
          </a:p>
        </p:txBody>
      </p:sp>
      <p:sp>
        <p:nvSpPr>
          <p:cNvPr id="10" name="Oval 9"/>
          <p:cNvSpPr/>
          <p:nvPr/>
        </p:nvSpPr>
        <p:spPr>
          <a:xfrm>
            <a:off x="566928" y="3332988"/>
            <a:ext cx="77724" cy="77724"/>
          </a:xfrm>
          <a:prstGeom prst="ellipse">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04672" y="3236976"/>
            <a:ext cx="5111496" cy="274320"/>
          </a:xfrm>
          <a:prstGeom prst="rect">
            <a:avLst/>
          </a:prstGeom>
          <a:noFill/>
        </p:spPr>
        <p:txBody>
          <a:bodyPr wrap="square" lIns="0" rIns="0" tIns="0" bIns="0" anchor="t">
            <a:spAutoFit/>
          </a:bodyPr>
          <a:lstStyle/>
          <a:p>
            <a:pPr algn="l">
              <a:lnSpc>
                <a:spcPct val="100000"/>
              </a:lnSpc>
              <a:spcAft>
                <a:spcPts val="400"/>
              </a:spcAft>
            </a:pPr>
            <a:r>
              <a:rPr sz="1250" b="1">
                <a:solidFill>
                  <a:srgbClr val="0F172A"/>
                </a:solidFill>
                <a:latin typeface="Segoe UI"/>
              </a:rPr>
              <a:t>Farmers pump on a calendar, not on a forecast.</a:t>
            </a:r>
          </a:p>
        </p:txBody>
      </p:sp>
      <p:sp>
        <p:nvSpPr>
          <p:cNvPr id="12" name="TextBox 11"/>
          <p:cNvSpPr txBox="1"/>
          <p:nvPr/>
        </p:nvSpPr>
        <p:spPr>
          <a:xfrm>
            <a:off x="804672" y="3479292"/>
            <a:ext cx="5111496" cy="548640"/>
          </a:xfrm>
          <a:prstGeom prst="rect">
            <a:avLst/>
          </a:prstGeom>
          <a:noFill/>
        </p:spPr>
        <p:txBody>
          <a:bodyPr wrap="square" lIns="0" rIns="0" tIns="0" bIns="0" anchor="t">
            <a:spAutoFit/>
          </a:bodyPr>
          <a:lstStyle/>
          <a:p>
            <a:pPr algn="l">
              <a:lnSpc>
                <a:spcPct val="98000"/>
              </a:lnSpc>
              <a:spcAft>
                <a:spcPts val="400"/>
              </a:spcAft>
            </a:pPr>
            <a:r>
              <a:rPr sz="1100" b="0">
                <a:solidFill>
                  <a:srgbClr val="64748B"/>
                </a:solidFill>
                <a:latin typeface="Segoe UI"/>
              </a:rPr>
              <a:t>Paddy is transplanted in May, before the rain, when the aquifer is at its lowest.</a:t>
            </a:r>
          </a:p>
        </p:txBody>
      </p:sp>
      <p:sp>
        <p:nvSpPr>
          <p:cNvPr id="13" name="Oval 12"/>
          <p:cNvSpPr/>
          <p:nvPr/>
        </p:nvSpPr>
        <p:spPr>
          <a:xfrm>
            <a:off x="566928" y="3991356"/>
            <a:ext cx="77724" cy="77724"/>
          </a:xfrm>
          <a:prstGeom prst="ellipse">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04672" y="3895344"/>
            <a:ext cx="5111496" cy="274320"/>
          </a:xfrm>
          <a:prstGeom prst="rect">
            <a:avLst/>
          </a:prstGeom>
          <a:noFill/>
        </p:spPr>
        <p:txBody>
          <a:bodyPr wrap="square" lIns="0" rIns="0" tIns="0" bIns="0" anchor="t">
            <a:spAutoFit/>
          </a:bodyPr>
          <a:lstStyle/>
          <a:p>
            <a:pPr algn="l">
              <a:lnSpc>
                <a:spcPct val="100000"/>
              </a:lnSpc>
              <a:spcAft>
                <a:spcPts val="400"/>
              </a:spcAft>
            </a:pPr>
            <a:r>
              <a:rPr sz="1250" b="1">
                <a:solidFill>
                  <a:srgbClr val="0F172A"/>
                </a:solidFill>
                <a:latin typeface="Segoe UI"/>
              </a:rPr>
              <a:t>Lenders price crop loans on rainfall, not on water.</a:t>
            </a:r>
          </a:p>
        </p:txBody>
      </p:sp>
      <p:sp>
        <p:nvSpPr>
          <p:cNvPr id="15" name="TextBox 14"/>
          <p:cNvSpPr txBox="1"/>
          <p:nvPr/>
        </p:nvSpPr>
        <p:spPr>
          <a:xfrm>
            <a:off x="804672" y="4137660"/>
            <a:ext cx="5111496" cy="548640"/>
          </a:xfrm>
          <a:prstGeom prst="rect">
            <a:avLst/>
          </a:prstGeom>
          <a:noFill/>
        </p:spPr>
        <p:txBody>
          <a:bodyPr wrap="square" lIns="0" rIns="0" tIns="0" bIns="0" anchor="t">
            <a:spAutoFit/>
          </a:bodyPr>
          <a:lstStyle/>
          <a:p>
            <a:pPr algn="l">
              <a:lnSpc>
                <a:spcPct val="98000"/>
              </a:lnSpc>
              <a:spcAft>
                <a:spcPts val="400"/>
              </a:spcAft>
            </a:pPr>
            <a:r>
              <a:rPr sz="1100" b="0">
                <a:solidFill>
                  <a:srgbClr val="64748B"/>
                </a:solidFill>
                <a:latin typeface="Segoe UI"/>
              </a:rPr>
              <a:t>Nothing in the credit file says 'this tubewell goes dry in 400 days'.</a:t>
            </a:r>
          </a:p>
        </p:txBody>
      </p:sp>
      <p:pic>
        <p:nvPicPr>
          <p:cNvPr id="16" name="Picture 15" descr="seasonal_paradox.png"/>
          <p:cNvPicPr>
            <a:picLocks noChangeAspect="1"/>
          </p:cNvPicPr>
          <p:nvPr/>
        </p:nvPicPr>
        <p:blipFill>
          <a:blip r:embed="rId2"/>
          <a:stretch>
            <a:fillRect/>
          </a:stretch>
        </p:blipFill>
        <p:spPr>
          <a:xfrm>
            <a:off x="6473452" y="1499616"/>
            <a:ext cx="5048486" cy="2286000"/>
          </a:xfrm>
          <a:prstGeom prst="rect">
            <a:avLst/>
          </a:prstGeom>
        </p:spPr>
      </p:pic>
      <p:sp>
        <p:nvSpPr>
          <p:cNvPr id="17" name="TextBox 16"/>
          <p:cNvSpPr txBox="1"/>
          <p:nvPr/>
        </p:nvSpPr>
        <p:spPr>
          <a:xfrm>
            <a:off x="6355080" y="3931920"/>
            <a:ext cx="5285232" cy="658368"/>
          </a:xfrm>
          <a:prstGeom prst="rect">
            <a:avLst/>
          </a:prstGeom>
          <a:noFill/>
        </p:spPr>
        <p:txBody>
          <a:bodyPr wrap="square" lIns="0" rIns="0" tIns="0" bIns="0" anchor="t">
            <a:spAutoFit/>
          </a:bodyPr>
          <a:lstStyle/>
          <a:p>
            <a:pPr algn="l">
              <a:lnSpc>
                <a:spcPct val="115000"/>
              </a:lnSpc>
              <a:spcAft>
                <a:spcPts val="400"/>
              </a:spcAft>
            </a:pPr>
            <a:r>
              <a:rPr sz="1000" b="0">
                <a:solidFill>
                  <a:srgbClr val="64748B"/>
                </a:solidFill>
                <a:latin typeface="Segoe UI"/>
              </a:rPr>
              <a:t>Recharge peaks in July–August, but the water table is at its deepest exactly then: the monsoon's recharge has not reached 36 m down yet.</a:t>
            </a:r>
          </a:p>
        </p:txBody>
      </p:sp>
      <p:sp>
        <p:nvSpPr>
          <p:cNvPr id="18" name="TextBox 17"/>
          <p:cNvSpPr txBox="1"/>
          <p:nvPr/>
        </p:nvSpPr>
        <p:spPr>
          <a:xfrm>
            <a:off x="566928" y="6419088"/>
            <a:ext cx="8229600" cy="237744"/>
          </a:xfrm>
          <a:prstGeom prst="rect">
            <a:avLst/>
          </a:prstGeom>
          <a:noFill/>
        </p:spPr>
        <p:txBody>
          <a:bodyPr wrap="square" lIns="0" rIns="0" tIns="0" bIns="0" anchor="t">
            <a:spAutoFit/>
          </a:bodyPr>
          <a:lstStyle/>
          <a:p>
            <a:pPr algn="l">
              <a:lnSpc>
                <a:spcPct val="100000"/>
              </a:lnSpc>
              <a:spcAft>
                <a:spcPts val="400"/>
              </a:spcAft>
            </a:pPr>
            <a:r>
              <a:rPr sz="850" b="0">
                <a:solidFill>
                  <a:srgbClr val="94A3B8"/>
                </a:solidFill>
                <a:latin typeface="Segoe UI"/>
              </a:rPr>
              <a:t>AquaCast-Punjab  ·  Sankalp — Climate-Smart Agriculture, Water &amp; Rural Credit</a:t>
            </a:r>
          </a:p>
        </p:txBody>
      </p:sp>
      <p:sp>
        <p:nvSpPr>
          <p:cNvPr id="19" name="TextBox 18"/>
          <p:cNvSpPr txBox="1"/>
          <p:nvPr/>
        </p:nvSpPr>
        <p:spPr>
          <a:xfrm>
            <a:off x="10972800" y="6419088"/>
            <a:ext cx="685800" cy="237744"/>
          </a:xfrm>
          <a:prstGeom prst="rect">
            <a:avLst/>
          </a:prstGeom>
          <a:noFill/>
        </p:spPr>
        <p:txBody>
          <a:bodyPr wrap="square" lIns="0" rIns="0" tIns="0" bIns="0" anchor="t">
            <a:spAutoFit/>
          </a:bodyPr>
          <a:lstStyle/>
          <a:p>
            <a:pPr algn="r">
              <a:lnSpc>
                <a:spcPct val="100000"/>
              </a:lnSpc>
              <a:spcAft>
                <a:spcPts val="400"/>
              </a:spcAft>
            </a:pPr>
            <a:r>
              <a:rPr sz="850" b="1">
                <a:solidFill>
                  <a:srgbClr val="94A3B8"/>
                </a:solidFill>
                <a:latin typeface="Segoe U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11064240" cy="256032"/>
          </a:xfrm>
          <a:prstGeom prst="rect">
            <a:avLst/>
          </a:prstGeom>
          <a:noFill/>
        </p:spPr>
        <p:txBody>
          <a:bodyPr wrap="square" lIns="0" rIns="0" tIns="0" bIns="0" anchor="t">
            <a:spAutoFit/>
          </a:bodyPr>
          <a:lstStyle/>
          <a:p>
            <a:pPr algn="l">
              <a:lnSpc>
                <a:spcPct val="100000"/>
              </a:lnSpc>
              <a:spcAft>
                <a:spcPts val="400"/>
              </a:spcAft>
            </a:pPr>
            <a:r>
              <a:rPr sz="1050" b="1">
                <a:solidFill>
                  <a:srgbClr val="0369A1"/>
                </a:solidFill>
                <a:latin typeface="Segoe UI"/>
              </a:rPr>
              <a:t>ARCHITECTURE</a:t>
            </a:r>
          </a:p>
        </p:txBody>
      </p:sp>
      <p:sp>
        <p:nvSpPr>
          <p:cNvPr id="4" name="TextBox 3"/>
          <p:cNvSpPr txBox="1"/>
          <p:nvPr/>
        </p:nvSpPr>
        <p:spPr>
          <a:xfrm>
            <a:off x="566928" y="640080"/>
            <a:ext cx="11064240" cy="658368"/>
          </a:xfrm>
          <a:prstGeom prst="rect">
            <a:avLst/>
          </a:prstGeom>
          <a:noFill/>
        </p:spPr>
        <p:txBody>
          <a:bodyPr wrap="square" lIns="0" rIns="0" tIns="0" bIns="0" anchor="t">
            <a:spAutoFit/>
          </a:bodyPr>
          <a:lstStyle/>
          <a:p>
            <a:pPr algn="l">
              <a:lnSpc>
                <a:spcPct val="100000"/>
              </a:lnSpc>
              <a:spcAft>
                <a:spcPts val="400"/>
              </a:spcAft>
            </a:pPr>
            <a:r>
              <a:rPr sz="2500" b="1">
                <a:solidFill>
                  <a:srgbClr val="0F172A"/>
                </a:solidFill>
                <a:latin typeface="Segoe UI"/>
              </a:rPr>
              <a:t>Four modules, one contract: measured data in, an action out</a:t>
            </a:r>
          </a:p>
        </p:txBody>
      </p:sp>
      <p:sp>
        <p:nvSpPr>
          <p:cNvPr id="5" name="Rectangle 4"/>
          <p:cNvSpPr/>
          <p:nvPr/>
        </p:nvSpPr>
        <p:spPr>
          <a:xfrm>
            <a:off x="566928" y="1335024"/>
            <a:ext cx="658368"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ounded Rectangle 5"/>
          <p:cNvSpPr/>
          <p:nvPr/>
        </p:nvSpPr>
        <p:spPr>
          <a:xfrm>
            <a:off x="566928" y="1554480"/>
            <a:ext cx="2542032" cy="1481328"/>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566928" y="1554480"/>
            <a:ext cx="2542032" cy="45720"/>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04672" y="1773936"/>
            <a:ext cx="640080" cy="320040"/>
          </a:xfrm>
          <a:prstGeom prst="rect">
            <a:avLst/>
          </a:prstGeom>
          <a:noFill/>
        </p:spPr>
        <p:txBody>
          <a:bodyPr wrap="square" lIns="0" rIns="0" tIns="0" bIns="0" anchor="t">
            <a:spAutoFit/>
          </a:bodyPr>
          <a:lstStyle/>
          <a:p>
            <a:pPr algn="l">
              <a:lnSpc>
                <a:spcPct val="100000"/>
              </a:lnSpc>
              <a:spcAft>
                <a:spcPts val="400"/>
              </a:spcAft>
            </a:pPr>
            <a:r>
              <a:rPr sz="1900" b="1">
                <a:solidFill>
                  <a:srgbClr val="0EA5E9"/>
                </a:solidFill>
                <a:latin typeface="Segoe UI"/>
              </a:rPr>
              <a:t>01</a:t>
            </a:r>
          </a:p>
        </p:txBody>
      </p:sp>
      <p:sp>
        <p:nvSpPr>
          <p:cNvPr id="9" name="TextBox 8"/>
          <p:cNvSpPr txBox="1"/>
          <p:nvPr/>
        </p:nvSpPr>
        <p:spPr>
          <a:xfrm>
            <a:off x="804672" y="2157984"/>
            <a:ext cx="2084832" cy="274320"/>
          </a:xfrm>
          <a:prstGeom prst="rect">
            <a:avLst/>
          </a:prstGeom>
          <a:noFill/>
        </p:spPr>
        <p:txBody>
          <a:bodyPr wrap="square" lIns="0" rIns="0" tIns="0" bIns="0" anchor="t">
            <a:spAutoFit/>
          </a:bodyPr>
          <a:lstStyle/>
          <a:p>
            <a:pPr algn="l">
              <a:lnSpc>
                <a:spcPct val="100000"/>
              </a:lnSpc>
              <a:spcAft>
                <a:spcPts val="400"/>
              </a:spcAft>
            </a:pPr>
            <a:r>
              <a:rPr sz="1250" b="1">
                <a:solidFill>
                  <a:srgbClr val="0F172A"/>
                </a:solidFill>
                <a:latin typeface="Segoe UI"/>
              </a:rPr>
              <a:t>INGEST</a:t>
            </a:r>
          </a:p>
        </p:txBody>
      </p:sp>
      <p:sp>
        <p:nvSpPr>
          <p:cNvPr id="10" name="TextBox 9"/>
          <p:cNvSpPr txBox="1"/>
          <p:nvPr/>
        </p:nvSpPr>
        <p:spPr>
          <a:xfrm>
            <a:off x="804672" y="2450592"/>
            <a:ext cx="2084832" cy="502920"/>
          </a:xfrm>
          <a:prstGeom prst="rect">
            <a:avLst/>
          </a:prstGeom>
          <a:noFill/>
        </p:spPr>
        <p:txBody>
          <a:bodyPr wrap="square" lIns="0" rIns="0" tIns="0" bIns="0" anchor="t">
            <a:spAutoFit/>
          </a:bodyPr>
          <a:lstStyle/>
          <a:p>
            <a:pPr algn="l">
              <a:lnSpc>
                <a:spcPct val="110000"/>
              </a:lnSpc>
              <a:spcAft>
                <a:spcPts val="400"/>
              </a:spcAft>
            </a:pPr>
            <a:r>
              <a:rPr sz="1000" b="0">
                <a:solidFill>
                  <a:srgbClr val="64748B"/>
                </a:solidFill>
                <a:latin typeface="Segoe UI"/>
              </a:rPr>
              <a:t>3 rain gauges · 5 temp stations
31 CGWB readings · 22 districts</a:t>
            </a:r>
          </a:p>
        </p:txBody>
      </p:sp>
      <p:sp>
        <p:nvSpPr>
          <p:cNvPr id="11" name="Rectangle 10"/>
          <p:cNvSpPr/>
          <p:nvPr/>
        </p:nvSpPr>
        <p:spPr>
          <a:xfrm>
            <a:off x="3154680" y="2231136"/>
            <a:ext cx="182880" cy="32004"/>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3383280" y="1554480"/>
            <a:ext cx="2542032" cy="1481328"/>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3383280" y="1554480"/>
            <a:ext cx="2542032" cy="4572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3621024" y="1773936"/>
            <a:ext cx="640080" cy="320040"/>
          </a:xfrm>
          <a:prstGeom prst="rect">
            <a:avLst/>
          </a:prstGeom>
          <a:noFill/>
        </p:spPr>
        <p:txBody>
          <a:bodyPr wrap="square" lIns="0" rIns="0" tIns="0" bIns="0" anchor="t">
            <a:spAutoFit/>
          </a:bodyPr>
          <a:lstStyle/>
          <a:p>
            <a:pPr algn="l">
              <a:lnSpc>
                <a:spcPct val="100000"/>
              </a:lnSpc>
              <a:spcAft>
                <a:spcPts val="400"/>
              </a:spcAft>
            </a:pPr>
            <a:r>
              <a:rPr sz="1900" b="1">
                <a:solidFill>
                  <a:srgbClr val="14B8A6"/>
                </a:solidFill>
                <a:latin typeface="Segoe UI"/>
              </a:rPr>
              <a:t>02</a:t>
            </a:r>
          </a:p>
        </p:txBody>
      </p:sp>
      <p:sp>
        <p:nvSpPr>
          <p:cNvPr id="15" name="TextBox 14"/>
          <p:cNvSpPr txBox="1"/>
          <p:nvPr/>
        </p:nvSpPr>
        <p:spPr>
          <a:xfrm>
            <a:off x="3621024" y="2157984"/>
            <a:ext cx="2084832" cy="274320"/>
          </a:xfrm>
          <a:prstGeom prst="rect">
            <a:avLst/>
          </a:prstGeom>
          <a:noFill/>
        </p:spPr>
        <p:txBody>
          <a:bodyPr wrap="square" lIns="0" rIns="0" tIns="0" bIns="0" anchor="t">
            <a:spAutoFit/>
          </a:bodyPr>
          <a:lstStyle/>
          <a:p>
            <a:pPr algn="l">
              <a:lnSpc>
                <a:spcPct val="100000"/>
              </a:lnSpc>
              <a:spcAft>
                <a:spcPts val="400"/>
              </a:spcAft>
            </a:pPr>
            <a:r>
              <a:rPr sz="1250" b="1">
                <a:solidFill>
                  <a:srgbClr val="0F172A"/>
                </a:solidFill>
                <a:latin typeface="Segoe UI"/>
              </a:rPr>
              <a:t>RECONSTRUCT</a:t>
            </a:r>
          </a:p>
        </p:txBody>
      </p:sp>
      <p:sp>
        <p:nvSpPr>
          <p:cNvPr id="16" name="TextBox 15"/>
          <p:cNvSpPr txBox="1"/>
          <p:nvPr/>
        </p:nvSpPr>
        <p:spPr>
          <a:xfrm>
            <a:off x="3621024" y="2450592"/>
            <a:ext cx="2084832" cy="502920"/>
          </a:xfrm>
          <a:prstGeom prst="rect">
            <a:avLst/>
          </a:prstGeom>
          <a:noFill/>
        </p:spPr>
        <p:txBody>
          <a:bodyPr wrap="square" lIns="0" rIns="0" tIns="0" bIns="0" anchor="t">
            <a:spAutoFit/>
          </a:bodyPr>
          <a:lstStyle/>
          <a:p>
            <a:pPr algn="l">
              <a:lnSpc>
                <a:spcPct val="110000"/>
              </a:lnSpc>
              <a:spcAft>
                <a:spcPts val="400"/>
              </a:spcAft>
            </a:pPr>
            <a:r>
              <a:rPr sz="1000" b="0">
                <a:solidFill>
                  <a:srgbClr val="64748B"/>
                </a:solidFill>
                <a:latin typeface="Segoe UI"/>
              </a:rPr>
              <a:t>FAO-56 water balance, gamma-lagged recharge,
calibrated to the CGWB hydrographs</a:t>
            </a:r>
          </a:p>
        </p:txBody>
      </p:sp>
      <p:sp>
        <p:nvSpPr>
          <p:cNvPr id="17" name="Rectangle 16"/>
          <p:cNvSpPr/>
          <p:nvPr/>
        </p:nvSpPr>
        <p:spPr>
          <a:xfrm>
            <a:off x="5971032" y="2231136"/>
            <a:ext cx="182880" cy="32004"/>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ounded Rectangle 17"/>
          <p:cNvSpPr/>
          <p:nvPr/>
        </p:nvSpPr>
        <p:spPr>
          <a:xfrm>
            <a:off x="6199632" y="1554480"/>
            <a:ext cx="2542032" cy="1481328"/>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6199632" y="1554480"/>
            <a:ext cx="2542032" cy="45720"/>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437376" y="1773936"/>
            <a:ext cx="640080" cy="320040"/>
          </a:xfrm>
          <a:prstGeom prst="rect">
            <a:avLst/>
          </a:prstGeom>
          <a:noFill/>
        </p:spPr>
        <p:txBody>
          <a:bodyPr wrap="square" lIns="0" rIns="0" tIns="0" bIns="0" anchor="t">
            <a:spAutoFit/>
          </a:bodyPr>
          <a:lstStyle/>
          <a:p>
            <a:pPr algn="l">
              <a:lnSpc>
                <a:spcPct val="100000"/>
              </a:lnSpc>
              <a:spcAft>
                <a:spcPts val="400"/>
              </a:spcAft>
            </a:pPr>
            <a:r>
              <a:rPr sz="1900" b="1">
                <a:solidFill>
                  <a:srgbClr val="0369A1"/>
                </a:solidFill>
                <a:latin typeface="Segoe UI"/>
              </a:rPr>
              <a:t>03</a:t>
            </a:r>
          </a:p>
        </p:txBody>
      </p:sp>
      <p:sp>
        <p:nvSpPr>
          <p:cNvPr id="21" name="TextBox 20"/>
          <p:cNvSpPr txBox="1"/>
          <p:nvPr/>
        </p:nvSpPr>
        <p:spPr>
          <a:xfrm>
            <a:off x="6437376" y="2157984"/>
            <a:ext cx="2084832" cy="274320"/>
          </a:xfrm>
          <a:prstGeom prst="rect">
            <a:avLst/>
          </a:prstGeom>
          <a:noFill/>
        </p:spPr>
        <p:txBody>
          <a:bodyPr wrap="square" lIns="0" rIns="0" tIns="0" bIns="0" anchor="t">
            <a:spAutoFit/>
          </a:bodyPr>
          <a:lstStyle/>
          <a:p>
            <a:pPr algn="l">
              <a:lnSpc>
                <a:spcPct val="100000"/>
              </a:lnSpc>
              <a:spcAft>
                <a:spcPts val="400"/>
              </a:spcAft>
            </a:pPr>
            <a:r>
              <a:rPr sz="1250" b="1">
                <a:solidFill>
                  <a:srgbClr val="0F172A"/>
                </a:solidFill>
                <a:latin typeface="Segoe UI"/>
              </a:rPr>
              <a:t>FORECAST</a:t>
            </a:r>
          </a:p>
        </p:txBody>
      </p:sp>
      <p:sp>
        <p:nvSpPr>
          <p:cNvPr id="22" name="TextBox 21"/>
          <p:cNvSpPr txBox="1"/>
          <p:nvPr/>
        </p:nvSpPr>
        <p:spPr>
          <a:xfrm>
            <a:off x="6437376" y="2450592"/>
            <a:ext cx="2084832" cy="502920"/>
          </a:xfrm>
          <a:prstGeom prst="rect">
            <a:avLst/>
          </a:prstGeom>
          <a:noFill/>
        </p:spPr>
        <p:txBody>
          <a:bodyPr wrap="square" lIns="0" rIns="0" tIns="0" bIns="0" anchor="t">
            <a:spAutoFit/>
          </a:bodyPr>
          <a:lstStyle/>
          <a:p>
            <a:pPr algn="l">
              <a:lnSpc>
                <a:spcPct val="110000"/>
              </a:lnSpc>
              <a:spcAft>
                <a:spcPts val="400"/>
              </a:spcAft>
            </a:pPr>
            <a:r>
              <a:rPr sz="1000" b="0">
                <a:solidFill>
                  <a:srgbClr val="64748B"/>
                </a:solidFill>
                <a:latin typeface="Segoe UI"/>
              </a:rPr>
              <a:t>2-layer LSTM, 60-day window,
3 direct horizons (30/60/90 d)</a:t>
            </a:r>
          </a:p>
        </p:txBody>
      </p:sp>
      <p:sp>
        <p:nvSpPr>
          <p:cNvPr id="23" name="Rectangle 22"/>
          <p:cNvSpPr/>
          <p:nvPr/>
        </p:nvSpPr>
        <p:spPr>
          <a:xfrm>
            <a:off x="8787384" y="2231136"/>
            <a:ext cx="182880" cy="32004"/>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ounded Rectangle 23"/>
          <p:cNvSpPr/>
          <p:nvPr/>
        </p:nvSpPr>
        <p:spPr>
          <a:xfrm>
            <a:off x="9015984" y="1554480"/>
            <a:ext cx="2542032" cy="1481328"/>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9015984" y="1554480"/>
            <a:ext cx="2542032" cy="457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9253728" y="1773936"/>
            <a:ext cx="640080" cy="320040"/>
          </a:xfrm>
          <a:prstGeom prst="rect">
            <a:avLst/>
          </a:prstGeom>
          <a:noFill/>
        </p:spPr>
        <p:txBody>
          <a:bodyPr wrap="square" lIns="0" rIns="0" tIns="0" bIns="0" anchor="t">
            <a:spAutoFit/>
          </a:bodyPr>
          <a:lstStyle/>
          <a:p>
            <a:pPr algn="l">
              <a:lnSpc>
                <a:spcPct val="100000"/>
              </a:lnSpc>
              <a:spcAft>
                <a:spcPts val="400"/>
              </a:spcAft>
            </a:pPr>
            <a:r>
              <a:rPr sz="1900" b="1">
                <a:solidFill>
                  <a:srgbClr val="F59E0B"/>
                </a:solidFill>
                <a:latin typeface="Segoe UI"/>
              </a:rPr>
              <a:t>04</a:t>
            </a:r>
          </a:p>
        </p:txBody>
      </p:sp>
      <p:sp>
        <p:nvSpPr>
          <p:cNvPr id="27" name="TextBox 26"/>
          <p:cNvSpPr txBox="1"/>
          <p:nvPr/>
        </p:nvSpPr>
        <p:spPr>
          <a:xfrm>
            <a:off x="9253728" y="2157984"/>
            <a:ext cx="2084832" cy="274320"/>
          </a:xfrm>
          <a:prstGeom prst="rect">
            <a:avLst/>
          </a:prstGeom>
          <a:noFill/>
        </p:spPr>
        <p:txBody>
          <a:bodyPr wrap="square" lIns="0" rIns="0" tIns="0" bIns="0" anchor="t">
            <a:spAutoFit/>
          </a:bodyPr>
          <a:lstStyle/>
          <a:p>
            <a:pPr algn="l">
              <a:lnSpc>
                <a:spcPct val="100000"/>
              </a:lnSpc>
              <a:spcAft>
                <a:spcPts val="400"/>
              </a:spcAft>
            </a:pPr>
            <a:r>
              <a:rPr sz="1250" b="1">
                <a:solidFill>
                  <a:srgbClr val="0F172A"/>
                </a:solidFill>
                <a:latin typeface="Segoe UI"/>
              </a:rPr>
              <a:t>ACT</a:t>
            </a:r>
          </a:p>
        </p:txBody>
      </p:sp>
      <p:sp>
        <p:nvSpPr>
          <p:cNvPr id="28" name="TextBox 27"/>
          <p:cNvSpPr txBox="1"/>
          <p:nvPr/>
        </p:nvSpPr>
        <p:spPr>
          <a:xfrm>
            <a:off x="9253728" y="2450592"/>
            <a:ext cx="2084832" cy="502920"/>
          </a:xfrm>
          <a:prstGeom prst="rect">
            <a:avLst/>
          </a:prstGeom>
          <a:noFill/>
        </p:spPr>
        <p:txBody>
          <a:bodyPr wrap="square" lIns="0" rIns="0" tIns="0" bIns="0" anchor="t">
            <a:spAutoFit/>
          </a:bodyPr>
          <a:lstStyle/>
          <a:p>
            <a:pPr algn="l">
              <a:lnSpc>
                <a:spcPct val="110000"/>
              </a:lnSpc>
              <a:spcAft>
                <a:spcPts val="400"/>
              </a:spcAft>
            </a:pPr>
            <a:r>
              <a:rPr sz="1000" b="0">
                <a:solidFill>
                  <a:srgbClr val="64748B"/>
                </a:solidFill>
                <a:latin typeface="Segoe UI"/>
              </a:rPr>
              <a:t>Pumping quota · bilingual WhatsApp/SMS
· well-level risk · credit score</a:t>
            </a:r>
          </a:p>
        </p:txBody>
      </p:sp>
      <p:sp>
        <p:nvSpPr>
          <p:cNvPr id="29" name="TextBox 28"/>
          <p:cNvSpPr txBox="1"/>
          <p:nvPr/>
        </p:nvSpPr>
        <p:spPr>
          <a:xfrm>
            <a:off x="566928" y="3310128"/>
            <a:ext cx="11064240" cy="438912"/>
          </a:xfrm>
          <a:prstGeom prst="rect">
            <a:avLst/>
          </a:prstGeom>
          <a:noFill/>
        </p:spPr>
        <p:txBody>
          <a:bodyPr wrap="square" lIns="0" rIns="0" tIns="0" bIns="0" anchor="t">
            <a:spAutoFit/>
          </a:bodyPr>
          <a:lstStyle/>
          <a:p>
            <a:pPr algn="l">
              <a:lnSpc>
                <a:spcPct val="100000"/>
              </a:lnSpc>
              <a:spcAft>
                <a:spcPts val="400"/>
              </a:spcAft>
            </a:pPr>
            <a:r>
              <a:rPr sz="1200" b="0">
                <a:solidFill>
                  <a:srgbClr val="0F172A"/>
                </a:solidFill>
                <a:latin typeface="Segoe UI"/>
              </a:rPr>
              <a:t>Every row of the training frame carries a provenance flag. The dashboard prints the ledger — you can always see which days are measured and which are physics-filled.</a:t>
            </a:r>
          </a:p>
        </p:txBody>
      </p:sp>
      <p:graphicFrame>
        <p:nvGraphicFramePr>
          <p:cNvPr id="30" name="Table 29"/>
          <p:cNvGraphicFramePr>
            <a:graphicFrameLocks noGrp="1"/>
          </p:cNvGraphicFramePr>
          <p:nvPr/>
        </p:nvGraphicFramePr>
        <p:xfrm>
          <a:off x="566928" y="3767328"/>
          <a:ext cx="11064240" cy="2633472"/>
        </p:xfrm>
        <a:graphic>
          <a:graphicData uri="http://schemas.openxmlformats.org/drawingml/2006/table">
            <a:tbl>
              <a:tblPr firstRow="1" bandRow="1">
                <a:tableStyleId>{5C22544A-7EE6-4342-B048-85BDC9FD1C3A}</a:tableStyleId>
              </a:tblPr>
              <a:tblGrid>
                <a:gridCol w="3200400"/>
                <a:gridCol w="2011680"/>
                <a:gridCol w="5852160"/>
              </a:tblGrid>
              <a:tr h="329184">
                <a:tc>
                  <a:txBody>
                    <a:bodyPr wrap="square"/>
                    <a:lstStyle/>
                    <a:p>
                      <a:pPr algn="l"/>
                      <a:r>
                        <a:rPr sz="1050" b="1">
                          <a:solidFill>
                            <a:srgbClr val="FFFFFF"/>
                          </a:solidFill>
                          <a:latin typeface="Segoe UI"/>
                        </a:rPr>
                        <a:t>Layer</a:t>
                      </a:r>
                    </a:p>
                  </a:txBody>
                  <a:tcPr marL="91440" marR="91440" marT="27432" marB="27432" anchor="ctr">
                    <a:solidFill>
                      <a:srgbClr val="0B1E30"/>
                    </a:solidFill>
                  </a:tcPr>
                </a:tc>
                <a:tc>
                  <a:txBody>
                    <a:bodyPr wrap="square"/>
                    <a:lstStyle/>
                    <a:p>
                      <a:pPr algn="ctr"/>
                      <a:r>
                        <a:rPr sz="1050" b="1">
                          <a:solidFill>
                            <a:srgbClr val="FFFFFF"/>
                          </a:solidFill>
                          <a:latin typeface="Segoe UI"/>
                        </a:rPr>
                        <a:t>Real or modelled?</a:t>
                      </a:r>
                    </a:p>
                  </a:txBody>
                  <a:tcPr marL="91440" marR="91440" marT="27432" marB="27432" anchor="ctr">
                    <a:solidFill>
                      <a:srgbClr val="0B1E30"/>
                    </a:solidFill>
                  </a:tcPr>
                </a:tc>
                <a:tc>
                  <a:txBody>
                    <a:bodyPr wrap="square"/>
                    <a:lstStyle/>
                    <a:p>
                      <a:pPr algn="ctr"/>
                      <a:r>
                        <a:rPr sz="1050" b="1">
                          <a:solidFill>
                            <a:srgbClr val="FFFFFF"/>
                          </a:solidFill>
                          <a:latin typeface="Segoe UI"/>
                        </a:rPr>
                        <a:t>Shipped source</a:t>
                      </a:r>
                    </a:p>
                  </a:txBody>
                  <a:tcPr marL="91440" marR="91440" marT="27432" marB="27432" anchor="ctr">
                    <a:solidFill>
                      <a:srgbClr val="0B1E30"/>
                    </a:solidFill>
                  </a:tcPr>
                </a:tc>
              </a:tr>
              <a:tr h="288036">
                <a:tc>
                  <a:txBody>
                    <a:bodyPr wrap="square"/>
                    <a:lstStyle/>
                    <a:p>
                      <a:pPr algn="l"/>
                      <a:r>
                        <a:rPr sz="1050" b="0">
                          <a:solidFill>
                            <a:srgbClr val="0F172A"/>
                          </a:solidFill>
                          <a:latin typeface="Segoe UI"/>
                        </a:rPr>
                        <a:t>Rainfall (daily)</a:t>
                      </a:r>
                    </a:p>
                  </a:txBody>
                  <a:tcPr marL="91440" marR="91440" marT="27432" marB="27432" anchor="ctr">
                    <a:solidFill>
                      <a:srgbClr val="FFFFFF"/>
                    </a:solidFill>
                  </a:tcPr>
                </a:tc>
                <a:tc>
                  <a:txBody>
                    <a:bodyPr wrap="square"/>
                    <a:lstStyle/>
                    <a:p>
                      <a:pPr algn="ctr"/>
                      <a:r>
                        <a:rPr sz="1050" b="1">
                          <a:solidFill>
                            <a:srgbClr val="22C55E"/>
                          </a:solidFill>
                          <a:latin typeface="Segoe UI"/>
                        </a:rPr>
                        <a:t>Measured</a:t>
                      </a:r>
                    </a:p>
                  </a:txBody>
                  <a:tcPr marL="91440" marR="91440" marT="27432" marB="27432" anchor="ctr">
                    <a:solidFill>
                      <a:srgbClr val="FFFFFF"/>
                    </a:solidFill>
                  </a:tcPr>
                </a:tc>
                <a:tc>
                  <a:txBody>
                    <a:bodyPr wrap="square"/>
                    <a:lstStyle/>
                    <a:p>
                      <a:pPr algn="ctr"/>
                      <a:r>
                        <a:rPr sz="1050" b="0">
                          <a:solidFill>
                            <a:srgbClr val="0F172A"/>
                          </a:solidFill>
                          <a:latin typeface="Segoe UI"/>
                        </a:rPr>
                        <a:t>India-WRIS, 3 gauges</a:t>
                      </a:r>
                    </a:p>
                  </a:txBody>
                  <a:tcPr marL="91440" marR="91440" marT="27432" marB="27432" anchor="ctr">
                    <a:solidFill>
                      <a:srgbClr val="FFFFFF"/>
                    </a:solidFill>
                  </a:tcPr>
                </a:tc>
              </a:tr>
              <a:tr h="288036">
                <a:tc>
                  <a:txBody>
                    <a:bodyPr wrap="square"/>
                    <a:lstStyle/>
                    <a:p>
                      <a:pPr algn="l"/>
                      <a:r>
                        <a:rPr sz="1050" b="0">
                          <a:solidFill>
                            <a:srgbClr val="0F172A"/>
                          </a:solidFill>
                          <a:latin typeface="Segoe UI"/>
                        </a:rPr>
                        <a:t>Temperature (daily Tmax/Tmin)</a:t>
                      </a:r>
                    </a:p>
                  </a:txBody>
                  <a:tcPr marL="91440" marR="91440" marT="27432" marB="27432" anchor="ctr">
                    <a:solidFill>
                      <a:srgbClr val="F8FAFC"/>
                    </a:solidFill>
                  </a:tcPr>
                </a:tc>
                <a:tc>
                  <a:txBody>
                    <a:bodyPr wrap="square"/>
                    <a:lstStyle/>
                    <a:p>
                      <a:pPr algn="ctr"/>
                      <a:r>
                        <a:rPr sz="1050" b="1">
                          <a:solidFill>
                            <a:srgbClr val="22C55E"/>
                          </a:solidFill>
                          <a:latin typeface="Segoe UI"/>
                        </a:rPr>
                        <a:t>Measured</a:t>
                      </a:r>
                    </a:p>
                  </a:txBody>
                  <a:tcPr marL="91440" marR="91440" marT="27432" marB="27432" anchor="ctr">
                    <a:solidFill>
                      <a:srgbClr val="F8FAFC"/>
                    </a:solidFill>
                  </a:tcPr>
                </a:tc>
                <a:tc>
                  <a:txBody>
                    <a:bodyPr wrap="square"/>
                    <a:lstStyle/>
                    <a:p>
                      <a:pPr algn="ctr"/>
                      <a:r>
                        <a:rPr sz="1050" b="0">
                          <a:solidFill>
                            <a:srgbClr val="0F172A"/>
                          </a:solidFill>
                          <a:latin typeface="Segoe UI"/>
                        </a:rPr>
                        <a:t>Punjab SW telemetry, 5 stations</a:t>
                      </a:r>
                    </a:p>
                  </a:txBody>
                  <a:tcPr marL="91440" marR="91440" marT="27432" marB="27432" anchor="ctr">
                    <a:solidFill>
                      <a:srgbClr val="F8FAFC"/>
                    </a:solidFill>
                  </a:tcPr>
                </a:tc>
              </a:tr>
              <a:tr h="288036">
                <a:tc>
                  <a:txBody>
                    <a:bodyPr wrap="square"/>
                    <a:lstStyle/>
                    <a:p>
                      <a:pPr algn="l"/>
                      <a:r>
                        <a:rPr sz="1050" b="0">
                          <a:solidFill>
                            <a:srgbClr val="0F172A"/>
                          </a:solidFill>
                          <a:latin typeface="Segoe UI"/>
                        </a:rPr>
                        <a:t>Water level</a:t>
                      </a:r>
                    </a:p>
                  </a:txBody>
                  <a:tcPr marL="91440" marR="91440" marT="27432" marB="27432" anchor="ctr">
                    <a:solidFill>
                      <a:srgbClr val="FFFFFF"/>
                    </a:solidFill>
                  </a:tcPr>
                </a:tc>
                <a:tc>
                  <a:txBody>
                    <a:bodyPr wrap="square"/>
                    <a:lstStyle/>
                    <a:p>
                      <a:pPr algn="ctr"/>
                      <a:r>
                        <a:rPr sz="1050" b="1">
                          <a:solidFill>
                            <a:srgbClr val="22C55E"/>
                          </a:solidFill>
                          <a:latin typeface="Segoe UI"/>
                        </a:rPr>
                        <a:t>Measured (sparse)</a:t>
                      </a:r>
                    </a:p>
                  </a:txBody>
                  <a:tcPr marL="91440" marR="91440" marT="27432" marB="27432" anchor="ctr">
                    <a:solidFill>
                      <a:srgbClr val="FFFFFF"/>
                    </a:solidFill>
                  </a:tcPr>
                </a:tc>
                <a:tc>
                  <a:txBody>
                    <a:bodyPr wrap="square"/>
                    <a:lstStyle/>
                    <a:p>
                      <a:pPr algn="ctr"/>
                      <a:r>
                        <a:rPr sz="1050" b="0">
                          <a:solidFill>
                            <a:srgbClr val="0F172A"/>
                          </a:solidFill>
                          <a:latin typeface="Segoe UI"/>
                        </a:rPr>
                        <a:t>31 in-situ CGWB readings, 10 wells</a:t>
                      </a:r>
                    </a:p>
                  </a:txBody>
                  <a:tcPr marL="91440" marR="91440" marT="27432" marB="27432" anchor="ctr">
                    <a:solidFill>
                      <a:srgbClr val="FFFFFF"/>
                    </a:solidFill>
                  </a:tcPr>
                </a:tc>
              </a:tr>
              <a:tr h="288036">
                <a:tc>
                  <a:txBody>
                    <a:bodyPr wrap="square"/>
                    <a:lstStyle/>
                    <a:p>
                      <a:pPr algn="l"/>
                      <a:r>
                        <a:rPr sz="1050" b="0">
                          <a:solidFill>
                            <a:srgbClr val="0F172A"/>
                          </a:solidFill>
                          <a:latin typeface="Segoe UI"/>
                        </a:rPr>
                        <a:t>District / block polygons</a:t>
                      </a:r>
                    </a:p>
                  </a:txBody>
                  <a:tcPr marL="91440" marR="91440" marT="27432" marB="27432" anchor="ctr">
                    <a:solidFill>
                      <a:srgbClr val="F8FAFC"/>
                    </a:solidFill>
                  </a:tcPr>
                </a:tc>
                <a:tc>
                  <a:txBody>
                    <a:bodyPr wrap="square"/>
                    <a:lstStyle/>
                    <a:p>
                      <a:pPr algn="ctr"/>
                      <a:r>
                        <a:rPr sz="1050" b="1">
                          <a:solidFill>
                            <a:srgbClr val="22C55E"/>
                          </a:solidFill>
                          <a:latin typeface="Segoe UI"/>
                        </a:rPr>
                        <a:t>Real</a:t>
                      </a:r>
                    </a:p>
                  </a:txBody>
                  <a:tcPr marL="91440" marR="91440" marT="27432" marB="27432" anchor="ctr">
                    <a:solidFill>
                      <a:srgbClr val="F8FAFC"/>
                    </a:solidFill>
                  </a:tcPr>
                </a:tc>
                <a:tc>
                  <a:txBody>
                    <a:bodyPr wrap="square"/>
                    <a:lstStyle/>
                    <a:p>
                      <a:pPr algn="ctr"/>
                      <a:r>
                        <a:rPr sz="1050" b="0">
                          <a:solidFill>
                            <a:srgbClr val="0F172A"/>
                          </a:solidFill>
                          <a:latin typeface="Segoe UI"/>
                        </a:rPr>
                        <a:t>India-WRIS, 22 Punjab districts</a:t>
                      </a:r>
                    </a:p>
                  </a:txBody>
                  <a:tcPr marL="91440" marR="91440" marT="27432" marB="27432" anchor="ctr">
                    <a:solidFill>
                      <a:srgbClr val="F8FAFC"/>
                    </a:solidFill>
                  </a:tcPr>
                </a:tc>
              </a:tr>
              <a:tr h="288036">
                <a:tc>
                  <a:txBody>
                    <a:bodyPr wrap="square"/>
                    <a:lstStyle/>
                    <a:p>
                      <a:pPr algn="l"/>
                      <a:r>
                        <a:rPr sz="1050" b="0">
                          <a:solidFill>
                            <a:srgbClr val="0F172A"/>
                          </a:solidFill>
                          <a:latin typeface="Segoe UI"/>
                        </a:rPr>
                        <a:t>Observation-well network</a:t>
                      </a:r>
                    </a:p>
                  </a:txBody>
                  <a:tcPr marL="91440" marR="91440" marT="27432" marB="27432" anchor="ctr">
                    <a:solidFill>
                      <a:srgbClr val="FFFFFF"/>
                    </a:solidFill>
                  </a:tcPr>
                </a:tc>
                <a:tc>
                  <a:txBody>
                    <a:bodyPr wrap="square"/>
                    <a:lstStyle/>
                    <a:p>
                      <a:pPr algn="ctr"/>
                      <a:r>
                        <a:rPr sz="1050" b="1">
                          <a:solidFill>
                            <a:srgbClr val="22C55E"/>
                          </a:solidFill>
                          <a:latin typeface="Segoe UI"/>
                        </a:rPr>
                        <a:t>Real</a:t>
                      </a:r>
                    </a:p>
                  </a:txBody>
                  <a:tcPr marL="91440" marR="91440" marT="27432" marB="27432" anchor="ctr">
                    <a:solidFill>
                      <a:srgbClr val="FFFFFF"/>
                    </a:solidFill>
                  </a:tcPr>
                </a:tc>
                <a:tc>
                  <a:txBody>
                    <a:bodyPr wrap="square"/>
                    <a:lstStyle/>
                    <a:p>
                      <a:pPr algn="ctr"/>
                      <a:r>
                        <a:rPr sz="1050" b="0">
                          <a:solidFill>
                            <a:srgbClr val="0F172A"/>
                          </a:solidFill>
                          <a:latin typeface="Segoe UI"/>
                        </a:rPr>
                        <a:t>122 CGWB wells inside Sangrur</a:t>
                      </a:r>
                    </a:p>
                  </a:txBody>
                  <a:tcPr marL="91440" marR="91440" marT="27432" marB="27432" anchor="ctr">
                    <a:solidFill>
                      <a:srgbClr val="FFFFFF"/>
                    </a:solidFill>
                  </a:tcPr>
                </a:tc>
              </a:tr>
              <a:tr h="288036">
                <a:tc>
                  <a:txBody>
                    <a:bodyPr wrap="square"/>
                    <a:lstStyle/>
                    <a:p>
                      <a:pPr algn="l"/>
                      <a:r>
                        <a:rPr sz="1050" b="0">
                          <a:solidFill>
                            <a:srgbClr val="0F172A"/>
                          </a:solidFill>
                          <a:latin typeface="Segoe UI"/>
                        </a:rPr>
                        <a:t>Aquifer thickness, depth to 1st aquifer</a:t>
                      </a:r>
                    </a:p>
                  </a:txBody>
                  <a:tcPr marL="91440" marR="91440" marT="27432" marB="27432" anchor="ctr">
                    <a:solidFill>
                      <a:srgbClr val="F8FAFC"/>
                    </a:solidFill>
                  </a:tcPr>
                </a:tc>
                <a:tc>
                  <a:txBody>
                    <a:bodyPr wrap="square"/>
                    <a:lstStyle/>
                    <a:p>
                      <a:pPr algn="ctr"/>
                      <a:r>
                        <a:rPr sz="1050" b="1">
                          <a:solidFill>
                            <a:srgbClr val="22C55E"/>
                          </a:solidFill>
                          <a:latin typeface="Segoe UI"/>
                        </a:rPr>
                        <a:t>Real</a:t>
                      </a:r>
                    </a:p>
                  </a:txBody>
                  <a:tcPr marL="91440" marR="91440" marT="27432" marB="27432" anchor="ctr">
                    <a:solidFill>
                      <a:srgbClr val="F8FAFC"/>
                    </a:solidFill>
                  </a:tcPr>
                </a:tc>
                <a:tc>
                  <a:txBody>
                    <a:bodyPr wrap="square"/>
                    <a:lstStyle/>
                    <a:p>
                      <a:pPr algn="ctr"/>
                      <a:r>
                        <a:rPr sz="1050" b="0">
                          <a:solidFill>
                            <a:srgbClr val="0F172A"/>
                          </a:solidFill>
                          <a:latin typeface="Segoe UI"/>
                        </a:rPr>
                        <a:t>CGWB rasters → 440 m grid</a:t>
                      </a:r>
                    </a:p>
                  </a:txBody>
                  <a:tcPr marL="91440" marR="91440" marT="27432" marB="27432" anchor="ctr">
                    <a:solidFill>
                      <a:srgbClr val="F8FAFC"/>
                    </a:solidFill>
                  </a:tcPr>
                </a:tc>
              </a:tr>
              <a:tr h="288036">
                <a:tc>
                  <a:txBody>
                    <a:bodyPr wrap="square"/>
                    <a:lstStyle/>
                    <a:p>
                      <a:pPr algn="l"/>
                      <a:r>
                        <a:rPr sz="1050" b="0">
                          <a:solidFill>
                            <a:srgbClr val="0F172A"/>
                          </a:solidFill>
                          <a:latin typeface="Segoe UI"/>
                        </a:rPr>
                        <a:t>Soil texture / depth / slope / erosion</a:t>
                      </a:r>
                    </a:p>
                  </a:txBody>
                  <a:tcPr marL="91440" marR="91440" marT="27432" marB="27432" anchor="ctr">
                    <a:solidFill>
                      <a:srgbClr val="FFFFFF"/>
                    </a:solidFill>
                  </a:tcPr>
                </a:tc>
                <a:tc>
                  <a:txBody>
                    <a:bodyPr wrap="square"/>
                    <a:lstStyle/>
                    <a:p>
                      <a:pPr algn="ctr"/>
                      <a:r>
                        <a:rPr sz="1050" b="1">
                          <a:solidFill>
                            <a:srgbClr val="22C55E"/>
                          </a:solidFill>
                          <a:latin typeface="Segoe UI"/>
                        </a:rPr>
                        <a:t>Real</a:t>
                      </a:r>
                    </a:p>
                  </a:txBody>
                  <a:tcPr marL="91440" marR="91440" marT="27432" marB="27432" anchor="ctr">
                    <a:solidFill>
                      <a:srgbClr val="FFFFFF"/>
                    </a:solidFill>
                  </a:tcPr>
                </a:tc>
                <a:tc>
                  <a:txBody>
                    <a:bodyPr wrap="square"/>
                    <a:lstStyle/>
                    <a:p>
                      <a:pPr algn="ctr"/>
                      <a:r>
                        <a:rPr sz="1050" b="0">
                          <a:solidFill>
                            <a:srgbClr val="0F172A"/>
                          </a:solidFill>
                          <a:latin typeface="Segoe UI"/>
                        </a:rPr>
                        <a:t>NBSS&amp;LUP rasters</a:t>
                      </a:r>
                    </a:p>
                  </a:txBody>
                  <a:tcPr marL="91440" marR="91440" marT="27432" marB="27432" anchor="ctr">
                    <a:solidFill>
                      <a:srgbClr val="FFFFFF"/>
                    </a:solidFill>
                  </a:tcPr>
                </a:tc>
              </a:tr>
              <a:tr h="288036">
                <a:tc>
                  <a:txBody>
                    <a:bodyPr wrap="square"/>
                    <a:lstStyle/>
                    <a:p>
                      <a:pPr algn="l"/>
                      <a:r>
                        <a:rPr sz="1050" b="0">
                          <a:solidFill>
                            <a:srgbClr val="0F172A"/>
                          </a:solidFill>
                          <a:latin typeface="Segoe UI"/>
                        </a:rPr>
                        <a:t>Daily water-level trajectory</a:t>
                      </a:r>
                    </a:p>
                  </a:txBody>
                  <a:tcPr marL="91440" marR="91440" marT="27432" marB="27432" anchor="ctr">
                    <a:solidFill>
                      <a:srgbClr val="F8FAFC"/>
                    </a:solidFill>
                  </a:tcPr>
                </a:tc>
                <a:tc>
                  <a:txBody>
                    <a:bodyPr wrap="square"/>
                    <a:lstStyle/>
                    <a:p>
                      <a:pPr algn="ctr"/>
                      <a:r>
                        <a:rPr sz="1050" b="1">
                          <a:solidFill>
                            <a:srgbClr val="F59E0B"/>
                          </a:solidFill>
                          <a:latin typeface="Segoe UI"/>
                        </a:rPr>
                        <a:t>Physics + ML</a:t>
                      </a:r>
                    </a:p>
                  </a:txBody>
                  <a:tcPr marL="91440" marR="91440" marT="27432" marB="27432" anchor="ctr">
                    <a:solidFill>
                      <a:srgbClr val="F8FAFC"/>
                    </a:solidFill>
                  </a:tcPr>
                </a:tc>
                <a:tc>
                  <a:txBody>
                    <a:bodyPr wrap="square"/>
                    <a:lstStyle/>
                    <a:p>
                      <a:pPr algn="ctr"/>
                      <a:r>
                        <a:rPr sz="1050" b="0">
                          <a:solidFill>
                            <a:srgbClr val="0F172A"/>
                          </a:solidFill>
                          <a:latin typeface="Segoe UI"/>
                        </a:rPr>
                        <a:t>FAO-56 balance, calibrated to the CGWB readings</a:t>
                      </a:r>
                    </a:p>
                  </a:txBody>
                  <a:tcPr marL="91440" marR="91440" marT="27432" marB="27432" anchor="ctr">
                    <a:solidFill>
                      <a:srgbClr val="F8FAFC"/>
                    </a:solidFill>
                  </a:tcPr>
                </a:tc>
              </a:tr>
            </a:tbl>
          </a:graphicData>
        </a:graphic>
      </p:graphicFrame>
      <p:sp>
        <p:nvSpPr>
          <p:cNvPr id="31" name="TextBox 30"/>
          <p:cNvSpPr txBox="1"/>
          <p:nvPr/>
        </p:nvSpPr>
        <p:spPr>
          <a:xfrm>
            <a:off x="566928" y="6419088"/>
            <a:ext cx="8229600" cy="237744"/>
          </a:xfrm>
          <a:prstGeom prst="rect">
            <a:avLst/>
          </a:prstGeom>
          <a:noFill/>
        </p:spPr>
        <p:txBody>
          <a:bodyPr wrap="square" lIns="0" rIns="0" tIns="0" bIns="0" anchor="t">
            <a:spAutoFit/>
          </a:bodyPr>
          <a:lstStyle/>
          <a:p>
            <a:pPr algn="l">
              <a:lnSpc>
                <a:spcPct val="100000"/>
              </a:lnSpc>
              <a:spcAft>
                <a:spcPts val="400"/>
              </a:spcAft>
            </a:pPr>
            <a:r>
              <a:rPr sz="850" b="0">
                <a:solidFill>
                  <a:srgbClr val="94A3B8"/>
                </a:solidFill>
                <a:latin typeface="Segoe UI"/>
              </a:rPr>
              <a:t>AquaCast-Punjab  ·  Sankalp — Climate-Smart Agriculture, Water &amp; Rural Credit</a:t>
            </a:r>
          </a:p>
        </p:txBody>
      </p:sp>
      <p:sp>
        <p:nvSpPr>
          <p:cNvPr id="32" name="TextBox 31"/>
          <p:cNvSpPr txBox="1"/>
          <p:nvPr/>
        </p:nvSpPr>
        <p:spPr>
          <a:xfrm>
            <a:off x="10972800" y="6419088"/>
            <a:ext cx="685800" cy="237744"/>
          </a:xfrm>
          <a:prstGeom prst="rect">
            <a:avLst/>
          </a:prstGeom>
          <a:noFill/>
        </p:spPr>
        <p:txBody>
          <a:bodyPr wrap="square" lIns="0" rIns="0" tIns="0" bIns="0" anchor="t">
            <a:spAutoFit/>
          </a:bodyPr>
          <a:lstStyle/>
          <a:p>
            <a:pPr algn="r">
              <a:lnSpc>
                <a:spcPct val="100000"/>
              </a:lnSpc>
              <a:spcAft>
                <a:spcPts val="400"/>
              </a:spcAft>
            </a:pPr>
            <a:r>
              <a:rPr sz="850" b="1">
                <a:solidFill>
                  <a:srgbClr val="94A3B8"/>
                </a:solidFill>
                <a:latin typeface="Segoe U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E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395728"/>
            <a:ext cx="12191695" cy="1920240"/>
          </a:xfrm>
          <a:prstGeom prst="rect">
            <a:avLst/>
          </a:prstGeom>
          <a:solidFill>
            <a:srgbClr val="13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2395728"/>
            <a:ext cx="82296" cy="1920240"/>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2670048"/>
            <a:ext cx="10607040" cy="457200"/>
          </a:xfrm>
          <a:prstGeom prst="rect">
            <a:avLst/>
          </a:prstGeom>
          <a:noFill/>
        </p:spPr>
        <p:txBody>
          <a:bodyPr wrap="square" lIns="0" rIns="0" tIns="0" bIns="0" anchor="t">
            <a:spAutoFit/>
          </a:bodyPr>
          <a:lstStyle/>
          <a:p>
            <a:pPr algn="l">
              <a:lnSpc>
                <a:spcPct val="100000"/>
              </a:lnSpc>
              <a:spcAft>
                <a:spcPts val="400"/>
              </a:spcAft>
            </a:pPr>
            <a:r>
              <a:rPr sz="1500" b="1">
                <a:solidFill>
                  <a:srgbClr val="0EA5E9"/>
                </a:solidFill>
                <a:latin typeface="Segoe UI"/>
              </a:rPr>
              <a:t>01</a:t>
            </a:r>
          </a:p>
        </p:txBody>
      </p:sp>
      <p:sp>
        <p:nvSpPr>
          <p:cNvPr id="6" name="TextBox 5"/>
          <p:cNvSpPr txBox="1"/>
          <p:nvPr/>
        </p:nvSpPr>
        <p:spPr>
          <a:xfrm>
            <a:off x="777240" y="2999232"/>
            <a:ext cx="10607040" cy="731520"/>
          </a:xfrm>
          <a:prstGeom prst="rect">
            <a:avLst/>
          </a:prstGeom>
          <a:noFill/>
        </p:spPr>
        <p:txBody>
          <a:bodyPr wrap="square" lIns="0" rIns="0" tIns="0" bIns="0" anchor="t">
            <a:spAutoFit/>
          </a:bodyPr>
          <a:lstStyle/>
          <a:p>
            <a:pPr algn="l">
              <a:lnSpc>
                <a:spcPct val="100000"/>
              </a:lnSpc>
              <a:spcAft>
                <a:spcPts val="400"/>
              </a:spcAft>
            </a:pPr>
            <a:r>
              <a:rPr sz="3400" b="1">
                <a:solidFill>
                  <a:srgbClr val="FFFFFF"/>
                </a:solidFill>
                <a:latin typeface="Segoe UI"/>
              </a:rPr>
              <a:t>Real data, declared provenance</a:t>
            </a:r>
          </a:p>
        </p:txBody>
      </p:sp>
      <p:sp>
        <p:nvSpPr>
          <p:cNvPr id="7" name="TextBox 6"/>
          <p:cNvSpPr txBox="1"/>
          <p:nvPr/>
        </p:nvSpPr>
        <p:spPr>
          <a:xfrm>
            <a:off x="777240" y="3675887"/>
            <a:ext cx="10607040" cy="457200"/>
          </a:xfrm>
          <a:prstGeom prst="rect">
            <a:avLst/>
          </a:prstGeom>
          <a:noFill/>
        </p:spPr>
        <p:txBody>
          <a:bodyPr wrap="square" lIns="0" rIns="0" tIns="0" bIns="0" anchor="t">
            <a:spAutoFit/>
          </a:bodyPr>
          <a:lstStyle/>
          <a:p>
            <a:pPr algn="l">
              <a:lnSpc>
                <a:spcPct val="100000"/>
              </a:lnSpc>
              <a:spcAft>
                <a:spcPts val="400"/>
              </a:spcAft>
            </a:pPr>
            <a:r>
              <a:rPr sz="1300" b="0">
                <a:solidFill>
                  <a:srgbClr val="9FBAD3"/>
                </a:solidFill>
                <a:latin typeface="Segoe UI"/>
              </a:rPr>
              <a:t>1,828 days · 3 rain gauges · 5 temperature stations · 31 in-situ groundwater readings</a:t>
            </a:r>
          </a:p>
        </p:txBody>
      </p:sp>
      <p:sp>
        <p:nvSpPr>
          <p:cNvPr id="8" name="TextBox 7"/>
          <p:cNvSpPr txBox="1"/>
          <p:nvPr/>
        </p:nvSpPr>
        <p:spPr>
          <a:xfrm>
            <a:off x="566928" y="6419088"/>
            <a:ext cx="8229600" cy="237744"/>
          </a:xfrm>
          <a:prstGeom prst="rect">
            <a:avLst/>
          </a:prstGeom>
          <a:noFill/>
        </p:spPr>
        <p:txBody>
          <a:bodyPr wrap="square" lIns="0" rIns="0" tIns="0" bIns="0" anchor="t">
            <a:spAutoFit/>
          </a:bodyPr>
          <a:lstStyle/>
          <a:p>
            <a:pPr algn="l">
              <a:lnSpc>
                <a:spcPct val="100000"/>
              </a:lnSpc>
              <a:spcAft>
                <a:spcPts val="400"/>
              </a:spcAft>
            </a:pPr>
            <a:r>
              <a:rPr sz="850" b="0">
                <a:solidFill>
                  <a:srgbClr val="5A7A99"/>
                </a:solidFill>
                <a:latin typeface="Segoe UI"/>
              </a:rPr>
              <a:t>AquaCast-Punjab  ·  Sankalp — Climate-Smart Agriculture, Water &amp; Rural Credit</a:t>
            </a:r>
          </a:p>
        </p:txBody>
      </p:sp>
      <p:sp>
        <p:nvSpPr>
          <p:cNvPr id="9" name="TextBox 8"/>
          <p:cNvSpPr txBox="1"/>
          <p:nvPr/>
        </p:nvSpPr>
        <p:spPr>
          <a:xfrm>
            <a:off x="10972800" y="6419088"/>
            <a:ext cx="685800" cy="237744"/>
          </a:xfrm>
          <a:prstGeom prst="rect">
            <a:avLst/>
          </a:prstGeom>
          <a:noFill/>
        </p:spPr>
        <p:txBody>
          <a:bodyPr wrap="square" lIns="0" rIns="0" tIns="0" bIns="0" anchor="t">
            <a:spAutoFit/>
          </a:bodyPr>
          <a:lstStyle/>
          <a:p>
            <a:pPr algn="r">
              <a:lnSpc>
                <a:spcPct val="100000"/>
              </a:lnSpc>
              <a:spcAft>
                <a:spcPts val="400"/>
              </a:spcAft>
            </a:pPr>
            <a:r>
              <a:rPr sz="850" b="1">
                <a:solidFill>
                  <a:srgbClr val="5A7A99"/>
                </a:solidFill>
                <a:latin typeface="Segoe U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11064240" cy="256032"/>
          </a:xfrm>
          <a:prstGeom prst="rect">
            <a:avLst/>
          </a:prstGeom>
          <a:noFill/>
        </p:spPr>
        <p:txBody>
          <a:bodyPr wrap="square" lIns="0" rIns="0" tIns="0" bIns="0" anchor="t">
            <a:spAutoFit/>
          </a:bodyPr>
          <a:lstStyle/>
          <a:p>
            <a:pPr algn="l">
              <a:lnSpc>
                <a:spcPct val="100000"/>
              </a:lnSpc>
              <a:spcAft>
                <a:spcPts val="400"/>
              </a:spcAft>
            </a:pPr>
            <a:r>
              <a:rPr sz="1050" b="1">
                <a:solidFill>
                  <a:srgbClr val="0369A1"/>
                </a:solidFill>
                <a:latin typeface="Segoe UI"/>
              </a:rPr>
              <a:t>DATA INTEGRITY</a:t>
            </a:r>
          </a:p>
        </p:txBody>
      </p:sp>
      <p:sp>
        <p:nvSpPr>
          <p:cNvPr id="4" name="TextBox 3"/>
          <p:cNvSpPr txBox="1"/>
          <p:nvPr/>
        </p:nvSpPr>
        <p:spPr>
          <a:xfrm>
            <a:off x="566928" y="640080"/>
            <a:ext cx="11064240" cy="658368"/>
          </a:xfrm>
          <a:prstGeom prst="rect">
            <a:avLst/>
          </a:prstGeom>
          <a:noFill/>
        </p:spPr>
        <p:txBody>
          <a:bodyPr wrap="square" lIns="0" rIns="0" tIns="0" bIns="0" anchor="t">
            <a:spAutoFit/>
          </a:bodyPr>
          <a:lstStyle/>
          <a:p>
            <a:pPr algn="l">
              <a:lnSpc>
                <a:spcPct val="100000"/>
              </a:lnSpc>
              <a:spcAft>
                <a:spcPts val="400"/>
              </a:spcAft>
            </a:pPr>
            <a:r>
              <a:rPr sz="2500" b="1">
                <a:solidFill>
                  <a:srgbClr val="0F172A"/>
                </a:solidFill>
                <a:latin typeface="Segoe UI"/>
              </a:rPr>
              <a:t>We filled the gaps with physics — and flagged every gap</a:t>
            </a:r>
          </a:p>
        </p:txBody>
      </p:sp>
      <p:sp>
        <p:nvSpPr>
          <p:cNvPr id="5" name="Rectangle 4"/>
          <p:cNvSpPr/>
          <p:nvPr/>
        </p:nvSpPr>
        <p:spPr>
          <a:xfrm>
            <a:off x="566928" y="1335024"/>
            <a:ext cx="658368"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566928" y="1554480"/>
            <a:ext cx="5029200" cy="1097280"/>
          </a:xfrm>
          <a:prstGeom prst="rect">
            <a:avLst/>
          </a:prstGeom>
          <a:noFill/>
        </p:spPr>
        <p:txBody>
          <a:bodyPr wrap="square" lIns="0" rIns="0" tIns="0" bIns="0" anchor="t">
            <a:spAutoFit/>
          </a:bodyPr>
          <a:lstStyle/>
          <a:p>
            <a:pPr algn="l">
              <a:lnSpc>
                <a:spcPct val="125000"/>
              </a:lnSpc>
              <a:spcAft>
                <a:spcPts val="400"/>
              </a:spcAft>
            </a:pPr>
            <a:r>
              <a:rPr sz="1250" b="0">
                <a:solidFill>
                  <a:srgbClr val="0F172A"/>
                </a:solidFill>
                <a:latin typeface="Segoe UI"/>
              </a:rPr>
              <a:t>The WRIS telemetry is real but incomplete: rain gauges report 1,540 of 1,828 days and temperature stations 1,070. Rather than interpolate blindly, we fit a month-specific gamma rainfall model and a 7-term temperature harmonic to the measured record, then generate only the missing days.</a:t>
            </a:r>
          </a:p>
        </p:txBody>
      </p:sp>
      <p:sp>
        <p:nvSpPr>
          <p:cNvPr id="7" name="Oval 6"/>
          <p:cNvSpPr/>
          <p:nvPr/>
        </p:nvSpPr>
        <p:spPr>
          <a:xfrm>
            <a:off x="566928" y="2857500"/>
            <a:ext cx="77724" cy="77724"/>
          </a:xfrm>
          <a:prstGeom prst="ellipse">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04672" y="2761488"/>
            <a:ext cx="4791456" cy="274320"/>
          </a:xfrm>
          <a:prstGeom prst="rect">
            <a:avLst/>
          </a:prstGeom>
          <a:noFill/>
        </p:spPr>
        <p:txBody>
          <a:bodyPr wrap="square" lIns="0" rIns="0" tIns="0" bIns="0" anchor="t">
            <a:spAutoFit/>
          </a:bodyPr>
          <a:lstStyle/>
          <a:p>
            <a:pPr algn="l">
              <a:lnSpc>
                <a:spcPct val="100000"/>
              </a:lnSpc>
              <a:spcAft>
                <a:spcPts val="400"/>
              </a:spcAft>
            </a:pPr>
            <a:r>
              <a:rPr sz="1200" b="1">
                <a:solidFill>
                  <a:srgbClr val="0F172A"/>
                </a:solidFill>
                <a:latin typeface="Segoe UI"/>
              </a:rPr>
              <a:t>84.2% of rainfall days measured</a:t>
            </a:r>
          </a:p>
        </p:txBody>
      </p:sp>
      <p:sp>
        <p:nvSpPr>
          <p:cNvPr id="9" name="TextBox 8"/>
          <p:cNvSpPr txBox="1"/>
          <p:nvPr/>
        </p:nvSpPr>
        <p:spPr>
          <a:xfrm>
            <a:off x="804672" y="3003804"/>
            <a:ext cx="4791456" cy="548640"/>
          </a:xfrm>
          <a:prstGeom prst="rect">
            <a:avLst/>
          </a:prstGeom>
          <a:noFill/>
        </p:spPr>
        <p:txBody>
          <a:bodyPr wrap="square" lIns="0" rIns="0" tIns="0" bIns="0" anchor="t">
            <a:spAutoFit/>
          </a:bodyPr>
          <a:lstStyle/>
          <a:p>
            <a:pPr algn="l">
              <a:lnSpc>
                <a:spcPct val="98000"/>
              </a:lnSpc>
              <a:spcAft>
                <a:spcPts val="400"/>
              </a:spcAft>
            </a:pPr>
            <a:r>
              <a:rPr sz="1050" b="0">
                <a:solidFill>
                  <a:srgbClr val="64748B"/>
                </a:solidFill>
                <a:latin typeface="Segoe UI"/>
              </a:rPr>
              <a:t>the rest carry rainfall_src = 'generated'</a:t>
            </a:r>
          </a:p>
        </p:txBody>
      </p:sp>
      <p:sp>
        <p:nvSpPr>
          <p:cNvPr id="10" name="Oval 9"/>
          <p:cNvSpPr/>
          <p:nvPr/>
        </p:nvSpPr>
        <p:spPr>
          <a:xfrm>
            <a:off x="566928" y="3515868"/>
            <a:ext cx="77724" cy="77724"/>
          </a:xfrm>
          <a:prstGeom prst="ellipse">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04672" y="3419856"/>
            <a:ext cx="4791456" cy="274320"/>
          </a:xfrm>
          <a:prstGeom prst="rect">
            <a:avLst/>
          </a:prstGeom>
          <a:noFill/>
        </p:spPr>
        <p:txBody>
          <a:bodyPr wrap="square" lIns="0" rIns="0" tIns="0" bIns="0" anchor="t">
            <a:spAutoFit/>
          </a:bodyPr>
          <a:lstStyle/>
          <a:p>
            <a:pPr algn="l">
              <a:lnSpc>
                <a:spcPct val="100000"/>
              </a:lnSpc>
              <a:spcAft>
                <a:spcPts val="400"/>
              </a:spcAft>
            </a:pPr>
            <a:r>
              <a:rPr sz="1200" b="1">
                <a:solidFill>
                  <a:srgbClr val="0F172A"/>
                </a:solidFill>
                <a:latin typeface="Segoe UI"/>
              </a:rPr>
              <a:t>58.5% of temperature days measured</a:t>
            </a:r>
          </a:p>
        </p:txBody>
      </p:sp>
      <p:sp>
        <p:nvSpPr>
          <p:cNvPr id="12" name="TextBox 11"/>
          <p:cNvSpPr txBox="1"/>
          <p:nvPr/>
        </p:nvSpPr>
        <p:spPr>
          <a:xfrm>
            <a:off x="804672" y="3662172"/>
            <a:ext cx="4791456" cy="548640"/>
          </a:xfrm>
          <a:prstGeom prst="rect">
            <a:avLst/>
          </a:prstGeom>
          <a:noFill/>
        </p:spPr>
        <p:txBody>
          <a:bodyPr wrap="square" lIns="0" rIns="0" tIns="0" bIns="0" anchor="t">
            <a:spAutoFit/>
          </a:bodyPr>
          <a:lstStyle/>
          <a:p>
            <a:pPr algn="l">
              <a:lnSpc>
                <a:spcPct val="98000"/>
              </a:lnSpc>
              <a:spcAft>
                <a:spcPts val="400"/>
              </a:spcAft>
            </a:pPr>
            <a:r>
              <a:rPr sz="1050" b="0">
                <a:solidFill>
                  <a:srgbClr val="64748B"/>
                </a:solidFill>
                <a:latin typeface="Segoe UI"/>
              </a:rPr>
              <a:t>62,339 rows of hourly SW telemetry reduced to daily</a:t>
            </a:r>
          </a:p>
        </p:txBody>
      </p:sp>
      <p:sp>
        <p:nvSpPr>
          <p:cNvPr id="13" name="Oval 12"/>
          <p:cNvSpPr/>
          <p:nvPr/>
        </p:nvSpPr>
        <p:spPr>
          <a:xfrm>
            <a:off x="566928" y="4174236"/>
            <a:ext cx="77724" cy="77724"/>
          </a:xfrm>
          <a:prstGeom prst="ellipse">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04672" y="4078224"/>
            <a:ext cx="4791456" cy="274320"/>
          </a:xfrm>
          <a:prstGeom prst="rect">
            <a:avLst/>
          </a:prstGeom>
          <a:noFill/>
        </p:spPr>
        <p:txBody>
          <a:bodyPr wrap="square" lIns="0" rIns="0" tIns="0" bIns="0" anchor="t">
            <a:spAutoFit/>
          </a:bodyPr>
          <a:lstStyle/>
          <a:p>
            <a:pPr algn="l">
              <a:lnSpc>
                <a:spcPct val="100000"/>
              </a:lnSpc>
              <a:spcAft>
                <a:spcPts val="400"/>
              </a:spcAft>
            </a:pPr>
            <a:r>
              <a:rPr sz="1200" b="1">
                <a:solidFill>
                  <a:srgbClr val="0F172A"/>
                </a:solidFill>
                <a:latin typeface="Segoe UI"/>
              </a:rPr>
              <a:t>Zero silent imputation</a:t>
            </a:r>
          </a:p>
        </p:txBody>
      </p:sp>
      <p:sp>
        <p:nvSpPr>
          <p:cNvPr id="15" name="TextBox 14"/>
          <p:cNvSpPr txBox="1"/>
          <p:nvPr/>
        </p:nvSpPr>
        <p:spPr>
          <a:xfrm>
            <a:off x="804672" y="4320540"/>
            <a:ext cx="4791456" cy="548640"/>
          </a:xfrm>
          <a:prstGeom prst="rect">
            <a:avLst/>
          </a:prstGeom>
          <a:noFill/>
        </p:spPr>
        <p:txBody>
          <a:bodyPr wrap="square" lIns="0" rIns="0" tIns="0" bIns="0" anchor="t">
            <a:spAutoFit/>
          </a:bodyPr>
          <a:lstStyle/>
          <a:p>
            <a:pPr algn="l">
              <a:lnSpc>
                <a:spcPct val="98000"/>
              </a:lnSpc>
              <a:spcAft>
                <a:spcPts val="400"/>
              </a:spcAft>
            </a:pPr>
            <a:r>
              <a:rPr sz="1050" b="0">
                <a:solidFill>
                  <a:srgbClr val="64748B"/>
                </a:solidFill>
                <a:latin typeface="Segoe UI"/>
              </a:rPr>
              <a:t>every row is auditable in the dashboard's provenance ledger</a:t>
            </a:r>
          </a:p>
        </p:txBody>
      </p:sp>
      <p:pic>
        <p:nvPicPr>
          <p:cNvPr id="16" name="Picture 15" descr="provenance.png"/>
          <p:cNvPicPr>
            <a:picLocks noChangeAspect="1"/>
          </p:cNvPicPr>
          <p:nvPr/>
        </p:nvPicPr>
        <p:blipFill>
          <a:blip r:embed="rId2"/>
          <a:stretch>
            <a:fillRect/>
          </a:stretch>
        </p:blipFill>
        <p:spPr>
          <a:xfrm>
            <a:off x="5989320" y="1463096"/>
            <a:ext cx="5623560" cy="2011567"/>
          </a:xfrm>
          <a:prstGeom prst="rect">
            <a:avLst/>
          </a:prstGeom>
        </p:spPr>
      </p:pic>
      <p:pic>
        <p:nvPicPr>
          <p:cNvPr id="17" name="Picture 16" descr="water_budget.png"/>
          <p:cNvPicPr>
            <a:picLocks noChangeAspect="1"/>
          </p:cNvPicPr>
          <p:nvPr/>
        </p:nvPicPr>
        <p:blipFill>
          <a:blip r:embed="rId3"/>
          <a:stretch>
            <a:fillRect/>
          </a:stretch>
        </p:blipFill>
        <p:spPr>
          <a:xfrm>
            <a:off x="6794374" y="3767328"/>
            <a:ext cx="4013450" cy="1828800"/>
          </a:xfrm>
          <a:prstGeom prst="rect">
            <a:avLst/>
          </a:prstGeom>
        </p:spPr>
      </p:pic>
      <p:sp>
        <p:nvSpPr>
          <p:cNvPr id="18" name="TextBox 17"/>
          <p:cNvSpPr txBox="1"/>
          <p:nvPr/>
        </p:nvSpPr>
        <p:spPr>
          <a:xfrm>
            <a:off x="5989320" y="5760720"/>
            <a:ext cx="5623560" cy="585216"/>
          </a:xfrm>
          <a:prstGeom prst="rect">
            <a:avLst/>
          </a:prstGeom>
          <a:noFill/>
        </p:spPr>
        <p:txBody>
          <a:bodyPr wrap="square" lIns="0" rIns="0" tIns="0" bIns="0" anchor="t">
            <a:spAutoFit/>
          </a:bodyPr>
          <a:lstStyle/>
          <a:p>
            <a:pPr algn="l">
              <a:lnSpc>
                <a:spcPct val="115000"/>
              </a:lnSpc>
              <a:spcAft>
                <a:spcPts val="400"/>
              </a:spcAft>
            </a:pPr>
            <a:r>
              <a:rPr sz="1050" b="0">
                <a:solidFill>
                  <a:srgbClr val="64748B"/>
                </a:solidFill>
                <a:latin typeface="Segoe UI"/>
              </a:rPr>
              <a:t>Closing the balance: 2,488 MCM/yr draft vs 2,139 MCM/yr recharge — a 349 MCM/yr structural deficit, 116% stage of extraction.</a:t>
            </a:r>
          </a:p>
        </p:txBody>
      </p:sp>
      <p:sp>
        <p:nvSpPr>
          <p:cNvPr id="19" name="TextBox 18"/>
          <p:cNvSpPr txBox="1"/>
          <p:nvPr/>
        </p:nvSpPr>
        <p:spPr>
          <a:xfrm>
            <a:off x="566928" y="6419088"/>
            <a:ext cx="8229600" cy="237744"/>
          </a:xfrm>
          <a:prstGeom prst="rect">
            <a:avLst/>
          </a:prstGeom>
          <a:noFill/>
        </p:spPr>
        <p:txBody>
          <a:bodyPr wrap="square" lIns="0" rIns="0" tIns="0" bIns="0" anchor="t">
            <a:spAutoFit/>
          </a:bodyPr>
          <a:lstStyle/>
          <a:p>
            <a:pPr algn="l">
              <a:lnSpc>
                <a:spcPct val="100000"/>
              </a:lnSpc>
              <a:spcAft>
                <a:spcPts val="400"/>
              </a:spcAft>
            </a:pPr>
            <a:r>
              <a:rPr sz="850" b="0">
                <a:solidFill>
                  <a:srgbClr val="94A3B8"/>
                </a:solidFill>
                <a:latin typeface="Segoe UI"/>
              </a:rPr>
              <a:t>AquaCast-Punjab  ·  Sankalp — Climate-Smart Agriculture, Water &amp; Rural Credit</a:t>
            </a:r>
          </a:p>
        </p:txBody>
      </p:sp>
      <p:sp>
        <p:nvSpPr>
          <p:cNvPr id="20" name="TextBox 19"/>
          <p:cNvSpPr txBox="1"/>
          <p:nvPr/>
        </p:nvSpPr>
        <p:spPr>
          <a:xfrm>
            <a:off x="10972800" y="6419088"/>
            <a:ext cx="685800" cy="237744"/>
          </a:xfrm>
          <a:prstGeom prst="rect">
            <a:avLst/>
          </a:prstGeom>
          <a:noFill/>
        </p:spPr>
        <p:txBody>
          <a:bodyPr wrap="square" lIns="0" rIns="0" tIns="0" bIns="0" anchor="t">
            <a:spAutoFit/>
          </a:bodyPr>
          <a:lstStyle/>
          <a:p>
            <a:pPr algn="r">
              <a:lnSpc>
                <a:spcPct val="100000"/>
              </a:lnSpc>
              <a:spcAft>
                <a:spcPts val="400"/>
              </a:spcAft>
            </a:pPr>
            <a:r>
              <a:rPr sz="850" b="1">
                <a:solidFill>
                  <a:srgbClr val="94A3B8"/>
                </a:solidFill>
                <a:latin typeface="Segoe U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E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395728"/>
            <a:ext cx="12191695" cy="1920240"/>
          </a:xfrm>
          <a:prstGeom prst="rect">
            <a:avLst/>
          </a:prstGeom>
          <a:solidFill>
            <a:srgbClr val="13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2395728"/>
            <a:ext cx="82296" cy="1920240"/>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2670048"/>
            <a:ext cx="10607040" cy="457200"/>
          </a:xfrm>
          <a:prstGeom prst="rect">
            <a:avLst/>
          </a:prstGeom>
          <a:noFill/>
        </p:spPr>
        <p:txBody>
          <a:bodyPr wrap="square" lIns="0" rIns="0" tIns="0" bIns="0" anchor="t">
            <a:spAutoFit/>
          </a:bodyPr>
          <a:lstStyle/>
          <a:p>
            <a:pPr algn="l">
              <a:lnSpc>
                <a:spcPct val="100000"/>
              </a:lnSpc>
              <a:spcAft>
                <a:spcPts val="400"/>
              </a:spcAft>
            </a:pPr>
            <a:r>
              <a:rPr sz="1500" b="1">
                <a:solidFill>
                  <a:srgbClr val="0EA5E9"/>
                </a:solidFill>
                <a:latin typeface="Segoe UI"/>
              </a:rPr>
              <a:t>02</a:t>
            </a:r>
          </a:p>
        </p:txBody>
      </p:sp>
      <p:sp>
        <p:nvSpPr>
          <p:cNvPr id="6" name="TextBox 5"/>
          <p:cNvSpPr txBox="1"/>
          <p:nvPr/>
        </p:nvSpPr>
        <p:spPr>
          <a:xfrm>
            <a:off x="777240" y="2999232"/>
            <a:ext cx="10607040" cy="731520"/>
          </a:xfrm>
          <a:prstGeom prst="rect">
            <a:avLst/>
          </a:prstGeom>
          <a:noFill/>
        </p:spPr>
        <p:txBody>
          <a:bodyPr wrap="square" lIns="0" rIns="0" tIns="0" bIns="0" anchor="t">
            <a:spAutoFit/>
          </a:bodyPr>
          <a:lstStyle/>
          <a:p>
            <a:pPr algn="l">
              <a:lnSpc>
                <a:spcPct val="100000"/>
              </a:lnSpc>
              <a:spcAft>
                <a:spcPts val="400"/>
              </a:spcAft>
            </a:pPr>
            <a:r>
              <a:rPr sz="3400" b="1">
                <a:solidFill>
                  <a:srgbClr val="FFFFFF"/>
                </a:solidFill>
                <a:latin typeface="Segoe UI"/>
              </a:rPr>
              <a:t>The forecast</a:t>
            </a:r>
          </a:p>
        </p:txBody>
      </p:sp>
      <p:sp>
        <p:nvSpPr>
          <p:cNvPr id="7" name="TextBox 6"/>
          <p:cNvSpPr txBox="1"/>
          <p:nvPr/>
        </p:nvSpPr>
        <p:spPr>
          <a:xfrm>
            <a:off x="777240" y="3675887"/>
            <a:ext cx="10607040" cy="457200"/>
          </a:xfrm>
          <a:prstGeom prst="rect">
            <a:avLst/>
          </a:prstGeom>
          <a:noFill/>
        </p:spPr>
        <p:txBody>
          <a:bodyPr wrap="square" lIns="0" rIns="0" tIns="0" bIns="0" anchor="t">
            <a:spAutoFit/>
          </a:bodyPr>
          <a:lstStyle/>
          <a:p>
            <a:pPr algn="l">
              <a:lnSpc>
                <a:spcPct val="100000"/>
              </a:lnSpc>
              <a:spcAft>
                <a:spcPts val="400"/>
              </a:spcAft>
            </a:pPr>
            <a:r>
              <a:rPr sz="1300" b="0">
                <a:solidFill>
                  <a:srgbClr val="9FBAD3"/>
                </a:solidFill>
                <a:latin typeface="Segoe UI"/>
              </a:rPr>
              <a:t>A PyTorch LSTM that earns its place — and we prove it</a:t>
            </a:r>
          </a:p>
        </p:txBody>
      </p:sp>
      <p:sp>
        <p:nvSpPr>
          <p:cNvPr id="8" name="TextBox 7"/>
          <p:cNvSpPr txBox="1"/>
          <p:nvPr/>
        </p:nvSpPr>
        <p:spPr>
          <a:xfrm>
            <a:off x="566928" y="6419088"/>
            <a:ext cx="8229600" cy="237744"/>
          </a:xfrm>
          <a:prstGeom prst="rect">
            <a:avLst/>
          </a:prstGeom>
          <a:noFill/>
        </p:spPr>
        <p:txBody>
          <a:bodyPr wrap="square" lIns="0" rIns="0" tIns="0" bIns="0" anchor="t">
            <a:spAutoFit/>
          </a:bodyPr>
          <a:lstStyle/>
          <a:p>
            <a:pPr algn="l">
              <a:lnSpc>
                <a:spcPct val="100000"/>
              </a:lnSpc>
              <a:spcAft>
                <a:spcPts val="400"/>
              </a:spcAft>
            </a:pPr>
            <a:r>
              <a:rPr sz="850" b="0">
                <a:solidFill>
                  <a:srgbClr val="5A7A99"/>
                </a:solidFill>
                <a:latin typeface="Segoe UI"/>
              </a:rPr>
              <a:t>AquaCast-Punjab  ·  Sankalp — Climate-Smart Agriculture, Water &amp; Rural Credit</a:t>
            </a:r>
          </a:p>
        </p:txBody>
      </p:sp>
      <p:sp>
        <p:nvSpPr>
          <p:cNvPr id="9" name="TextBox 8"/>
          <p:cNvSpPr txBox="1"/>
          <p:nvPr/>
        </p:nvSpPr>
        <p:spPr>
          <a:xfrm>
            <a:off x="10972800" y="6419088"/>
            <a:ext cx="685800" cy="237744"/>
          </a:xfrm>
          <a:prstGeom prst="rect">
            <a:avLst/>
          </a:prstGeom>
          <a:noFill/>
        </p:spPr>
        <p:txBody>
          <a:bodyPr wrap="square" lIns="0" rIns="0" tIns="0" bIns="0" anchor="t">
            <a:spAutoFit/>
          </a:bodyPr>
          <a:lstStyle/>
          <a:p>
            <a:pPr algn="r">
              <a:lnSpc>
                <a:spcPct val="100000"/>
              </a:lnSpc>
              <a:spcAft>
                <a:spcPts val="400"/>
              </a:spcAft>
            </a:pPr>
            <a:r>
              <a:rPr sz="850" b="1">
                <a:solidFill>
                  <a:srgbClr val="5A7A99"/>
                </a:solidFill>
                <a:latin typeface="Segoe U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11064240" cy="256032"/>
          </a:xfrm>
          <a:prstGeom prst="rect">
            <a:avLst/>
          </a:prstGeom>
          <a:noFill/>
        </p:spPr>
        <p:txBody>
          <a:bodyPr wrap="square" lIns="0" rIns="0" tIns="0" bIns="0" anchor="t">
            <a:spAutoFit/>
          </a:bodyPr>
          <a:lstStyle/>
          <a:p>
            <a:pPr algn="l">
              <a:lnSpc>
                <a:spcPct val="100000"/>
              </a:lnSpc>
              <a:spcAft>
                <a:spcPts val="400"/>
              </a:spcAft>
            </a:pPr>
            <a:r>
              <a:rPr sz="1050" b="1">
                <a:solidFill>
                  <a:srgbClr val="0369A1"/>
                </a:solidFill>
                <a:latin typeface="Segoe UI"/>
              </a:rPr>
              <a:t>MODEL</a:t>
            </a:r>
          </a:p>
        </p:txBody>
      </p:sp>
      <p:sp>
        <p:nvSpPr>
          <p:cNvPr id="4" name="TextBox 3"/>
          <p:cNvSpPr txBox="1"/>
          <p:nvPr/>
        </p:nvSpPr>
        <p:spPr>
          <a:xfrm>
            <a:off x="566928" y="640080"/>
            <a:ext cx="11064240" cy="658368"/>
          </a:xfrm>
          <a:prstGeom prst="rect">
            <a:avLst/>
          </a:prstGeom>
          <a:noFill/>
        </p:spPr>
        <p:txBody>
          <a:bodyPr wrap="square" lIns="0" rIns="0" tIns="0" bIns="0" anchor="t">
            <a:spAutoFit/>
          </a:bodyPr>
          <a:lstStyle/>
          <a:p>
            <a:pPr algn="l">
              <a:lnSpc>
                <a:spcPct val="100000"/>
              </a:lnSpc>
              <a:spcAft>
                <a:spcPts val="400"/>
              </a:spcAft>
            </a:pPr>
            <a:r>
              <a:rPr sz="2500" b="1">
                <a:solidFill>
                  <a:srgbClr val="0F172A"/>
                </a:solidFill>
                <a:latin typeface="Segoe UI"/>
              </a:rPr>
              <a:t>Physics-prior residual learning, on a 60-day window</a:t>
            </a:r>
          </a:p>
        </p:txBody>
      </p:sp>
      <p:sp>
        <p:nvSpPr>
          <p:cNvPr id="5" name="Rectangle 4"/>
          <p:cNvSpPr/>
          <p:nvPr/>
        </p:nvSpPr>
        <p:spPr>
          <a:xfrm>
            <a:off x="566928" y="1335024"/>
            <a:ext cx="658368"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Oval 5"/>
          <p:cNvSpPr/>
          <p:nvPr/>
        </p:nvSpPr>
        <p:spPr>
          <a:xfrm>
            <a:off x="566928" y="1623060"/>
            <a:ext cx="77724" cy="77724"/>
          </a:xfrm>
          <a:prstGeom prst="ellipse">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804672" y="1527048"/>
            <a:ext cx="4791456" cy="274320"/>
          </a:xfrm>
          <a:prstGeom prst="rect">
            <a:avLst/>
          </a:prstGeom>
          <a:noFill/>
        </p:spPr>
        <p:txBody>
          <a:bodyPr wrap="square" lIns="0" rIns="0" tIns="0" bIns="0" anchor="t">
            <a:spAutoFit/>
          </a:bodyPr>
          <a:lstStyle/>
          <a:p>
            <a:pPr algn="l">
              <a:lnSpc>
                <a:spcPct val="100000"/>
              </a:lnSpc>
              <a:spcAft>
                <a:spcPts val="400"/>
              </a:spcAft>
            </a:pPr>
            <a:r>
              <a:rPr sz="1250" b="1">
                <a:solidFill>
                  <a:srgbClr val="0F172A"/>
                </a:solidFill>
                <a:latin typeface="Segoe UI"/>
              </a:rPr>
              <a:t>LSTMs extrapolate linear trends badly.</a:t>
            </a:r>
          </a:p>
        </p:txBody>
      </p:sp>
      <p:sp>
        <p:nvSpPr>
          <p:cNvPr id="8" name="TextBox 7"/>
          <p:cNvSpPr txBox="1"/>
          <p:nvPr/>
        </p:nvSpPr>
        <p:spPr>
          <a:xfrm>
            <a:off x="804672" y="1769364"/>
            <a:ext cx="4791456" cy="548640"/>
          </a:xfrm>
          <a:prstGeom prst="rect">
            <a:avLst/>
          </a:prstGeom>
          <a:noFill/>
        </p:spPr>
        <p:txBody>
          <a:bodyPr wrap="square" lIns="0" rIns="0" tIns="0" bIns="0" anchor="t">
            <a:spAutoFit/>
          </a:bodyPr>
          <a:lstStyle/>
          <a:p>
            <a:pPr algn="l">
              <a:lnSpc>
                <a:spcPct val="98000"/>
              </a:lnSpc>
              <a:spcAft>
                <a:spcPts val="400"/>
              </a:spcAft>
            </a:pPr>
            <a:r>
              <a:rPr sz="1100" b="0">
                <a:solidFill>
                  <a:srgbClr val="64748B"/>
                </a:solidFill>
                <a:latin typeface="Segoe UI"/>
              </a:rPr>
              <a:t>So the calibrated CGWB depletion rate is subtracted from the target and re-added analytically. The network only models the stationary seasonal residual.</a:t>
            </a:r>
          </a:p>
        </p:txBody>
      </p:sp>
      <p:sp>
        <p:nvSpPr>
          <p:cNvPr id="9" name="Oval 8"/>
          <p:cNvSpPr/>
          <p:nvPr/>
        </p:nvSpPr>
        <p:spPr>
          <a:xfrm>
            <a:off x="566928" y="2281428"/>
            <a:ext cx="77724" cy="77724"/>
          </a:xfrm>
          <a:prstGeom prst="ellipse">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804672" y="2185416"/>
            <a:ext cx="4791456" cy="274320"/>
          </a:xfrm>
          <a:prstGeom prst="rect">
            <a:avLst/>
          </a:prstGeom>
          <a:noFill/>
        </p:spPr>
        <p:txBody>
          <a:bodyPr wrap="square" lIns="0" rIns="0" tIns="0" bIns="0" anchor="t">
            <a:spAutoFit/>
          </a:bodyPr>
          <a:lstStyle/>
          <a:p>
            <a:pPr algn="l">
              <a:lnSpc>
                <a:spcPct val="100000"/>
              </a:lnSpc>
              <a:spcAft>
                <a:spcPts val="400"/>
              </a:spcAft>
            </a:pPr>
            <a:r>
              <a:rPr sz="1250" b="1">
                <a:solidFill>
                  <a:srgbClr val="0F172A"/>
                </a:solidFill>
                <a:latin typeface="Segoe UI"/>
              </a:rPr>
              <a:t>The calendar is a feature, not a nuisance.</a:t>
            </a:r>
          </a:p>
        </p:txBody>
      </p:sp>
      <p:sp>
        <p:nvSpPr>
          <p:cNvPr id="11" name="TextBox 10"/>
          <p:cNvSpPr txBox="1"/>
          <p:nvPr/>
        </p:nvSpPr>
        <p:spPr>
          <a:xfrm>
            <a:off x="804672" y="2427732"/>
            <a:ext cx="4791456" cy="548640"/>
          </a:xfrm>
          <a:prstGeom prst="rect">
            <a:avLst/>
          </a:prstGeom>
          <a:noFill/>
        </p:spPr>
        <p:txBody>
          <a:bodyPr wrap="square" lIns="0" rIns="0" tIns="0" bIns="0" anchor="t">
            <a:spAutoFit/>
          </a:bodyPr>
          <a:lstStyle/>
          <a:p>
            <a:pPr algn="l">
              <a:lnSpc>
                <a:spcPct val="98000"/>
              </a:lnSpc>
              <a:spcAft>
                <a:spcPts val="400"/>
              </a:spcAft>
            </a:pPr>
            <a:r>
              <a:rPr sz="1100" b="0">
                <a:solidFill>
                  <a:srgbClr val="64748B"/>
                </a:solidFill>
                <a:latin typeface="Segoe UI"/>
              </a:rPr>
              <a:t>sin/cos of day-of-year over the whole window tells the net whether the next 90 days are a Rabi drawdown or a monsoon recovery.</a:t>
            </a:r>
          </a:p>
        </p:txBody>
      </p:sp>
      <p:sp>
        <p:nvSpPr>
          <p:cNvPr id="12" name="Oval 11"/>
          <p:cNvSpPr/>
          <p:nvPr/>
        </p:nvSpPr>
        <p:spPr>
          <a:xfrm>
            <a:off x="566928" y="2939796"/>
            <a:ext cx="77724" cy="77724"/>
          </a:xfrm>
          <a:prstGeom prst="ellipse">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04672" y="2843784"/>
            <a:ext cx="4791456" cy="274320"/>
          </a:xfrm>
          <a:prstGeom prst="rect">
            <a:avLst/>
          </a:prstGeom>
          <a:noFill/>
        </p:spPr>
        <p:txBody>
          <a:bodyPr wrap="square" lIns="0" rIns="0" tIns="0" bIns="0" anchor="t">
            <a:spAutoFit/>
          </a:bodyPr>
          <a:lstStyle/>
          <a:p>
            <a:pPr algn="l">
              <a:lnSpc>
                <a:spcPct val="100000"/>
              </a:lnSpc>
              <a:spcAft>
                <a:spcPts val="400"/>
              </a:spcAft>
            </a:pPr>
            <a:r>
              <a:rPr sz="1250" b="1">
                <a:solidFill>
                  <a:srgbClr val="0F172A"/>
                </a:solidFill>
                <a:latin typeface="Segoe UI"/>
              </a:rPr>
              <a:t>Three districts pooled, one network.</a:t>
            </a:r>
          </a:p>
        </p:txBody>
      </p:sp>
      <p:sp>
        <p:nvSpPr>
          <p:cNvPr id="14" name="TextBox 13"/>
          <p:cNvSpPr txBox="1"/>
          <p:nvPr/>
        </p:nvSpPr>
        <p:spPr>
          <a:xfrm>
            <a:off x="804672" y="3086100"/>
            <a:ext cx="4791456" cy="548640"/>
          </a:xfrm>
          <a:prstGeom prst="rect">
            <a:avLst/>
          </a:prstGeom>
          <a:noFill/>
        </p:spPr>
        <p:txBody>
          <a:bodyPr wrap="square" lIns="0" rIns="0" tIns="0" bIns="0" anchor="t">
            <a:spAutoFit/>
          </a:bodyPr>
          <a:lstStyle/>
          <a:p>
            <a:pPr algn="l">
              <a:lnSpc>
                <a:spcPct val="98000"/>
              </a:lnSpc>
              <a:spcAft>
                <a:spcPts val="400"/>
              </a:spcAft>
            </a:pPr>
            <a:r>
              <a:rPr sz="1100" b="0">
                <a:solidFill>
                  <a:srgbClr val="64748B"/>
                </a:solidFill>
                <a:latin typeface="Segoe UI"/>
              </a:rPr>
              <a:t>1,713 training sequences instead of 571 — the single biggest win.</a:t>
            </a:r>
          </a:p>
        </p:txBody>
      </p:sp>
      <p:pic>
        <p:nvPicPr>
          <p:cNvPr id="15" name="Picture 14" descr="training_curve.png"/>
          <p:cNvPicPr>
            <a:picLocks noChangeAspect="1"/>
          </p:cNvPicPr>
          <p:nvPr/>
        </p:nvPicPr>
        <p:blipFill>
          <a:blip r:embed="rId2"/>
          <a:stretch>
            <a:fillRect/>
          </a:stretch>
        </p:blipFill>
        <p:spPr>
          <a:xfrm>
            <a:off x="6740657" y="1499616"/>
            <a:ext cx="4020301" cy="2286000"/>
          </a:xfrm>
          <a:prstGeom prst="rect">
            <a:avLst/>
          </a:prstGeom>
        </p:spPr>
      </p:pic>
      <p:pic>
        <p:nvPicPr>
          <p:cNvPr id="16" name="Picture 15" descr="hero_forecast.png"/>
          <p:cNvPicPr>
            <a:picLocks noChangeAspect="1"/>
          </p:cNvPicPr>
          <p:nvPr/>
        </p:nvPicPr>
        <p:blipFill>
          <a:blip r:embed="rId3"/>
          <a:stretch>
            <a:fillRect/>
          </a:stretch>
        </p:blipFill>
        <p:spPr>
          <a:xfrm>
            <a:off x="3603399" y="3493008"/>
            <a:ext cx="4991297" cy="2331720"/>
          </a:xfrm>
          <a:prstGeom prst="rect">
            <a:avLst/>
          </a:prstGeom>
        </p:spPr>
      </p:pic>
      <p:sp>
        <p:nvSpPr>
          <p:cNvPr id="17" name="TextBox 16"/>
          <p:cNvSpPr txBox="1"/>
          <p:nvPr/>
        </p:nvSpPr>
        <p:spPr>
          <a:xfrm>
            <a:off x="566928" y="5925312"/>
            <a:ext cx="11064240" cy="502920"/>
          </a:xfrm>
          <a:prstGeom prst="rect">
            <a:avLst/>
          </a:prstGeom>
          <a:noFill/>
        </p:spPr>
        <p:txBody>
          <a:bodyPr wrap="square" lIns="0" rIns="0" tIns="0" bIns="0" anchor="t">
            <a:spAutoFit/>
          </a:bodyPr>
          <a:lstStyle/>
          <a:p>
            <a:pPr algn="l">
              <a:lnSpc>
                <a:spcPct val="115000"/>
              </a:lnSpc>
              <a:spcAft>
                <a:spcPts val="400"/>
              </a:spcAft>
            </a:pPr>
            <a:r>
              <a:rPr sz="1050" b="0">
                <a:solidFill>
                  <a:srgbClr val="64748B"/>
                </a:solidFill>
                <a:latin typeface="Segoe UI"/>
              </a:rPr>
              <a:t>Five years of reconstructed water table (blue), the 31 in-situ CGWB readings (red rings), and the live 90-day forecast with its MC-dropout 95% band (amber).</a:t>
            </a:r>
          </a:p>
        </p:txBody>
      </p:sp>
      <p:sp>
        <p:nvSpPr>
          <p:cNvPr id="18" name="TextBox 17"/>
          <p:cNvSpPr txBox="1"/>
          <p:nvPr/>
        </p:nvSpPr>
        <p:spPr>
          <a:xfrm>
            <a:off x="566928" y="6419088"/>
            <a:ext cx="8229600" cy="237744"/>
          </a:xfrm>
          <a:prstGeom prst="rect">
            <a:avLst/>
          </a:prstGeom>
          <a:noFill/>
        </p:spPr>
        <p:txBody>
          <a:bodyPr wrap="square" lIns="0" rIns="0" tIns="0" bIns="0" anchor="t">
            <a:spAutoFit/>
          </a:bodyPr>
          <a:lstStyle/>
          <a:p>
            <a:pPr algn="l">
              <a:lnSpc>
                <a:spcPct val="100000"/>
              </a:lnSpc>
              <a:spcAft>
                <a:spcPts val="400"/>
              </a:spcAft>
            </a:pPr>
            <a:r>
              <a:rPr sz="850" b="0">
                <a:solidFill>
                  <a:srgbClr val="94A3B8"/>
                </a:solidFill>
                <a:latin typeface="Segoe UI"/>
              </a:rPr>
              <a:t>AquaCast-Punjab  ·  Sankalp — Climate-Smart Agriculture, Water &amp; Rural Credit</a:t>
            </a:r>
          </a:p>
        </p:txBody>
      </p:sp>
      <p:sp>
        <p:nvSpPr>
          <p:cNvPr id="19" name="TextBox 18"/>
          <p:cNvSpPr txBox="1"/>
          <p:nvPr/>
        </p:nvSpPr>
        <p:spPr>
          <a:xfrm>
            <a:off x="10972800" y="6419088"/>
            <a:ext cx="685800" cy="237744"/>
          </a:xfrm>
          <a:prstGeom prst="rect">
            <a:avLst/>
          </a:prstGeom>
          <a:noFill/>
        </p:spPr>
        <p:txBody>
          <a:bodyPr wrap="square" lIns="0" rIns="0" tIns="0" bIns="0" anchor="t">
            <a:spAutoFit/>
          </a:bodyPr>
          <a:lstStyle/>
          <a:p>
            <a:pPr algn="r">
              <a:lnSpc>
                <a:spcPct val="100000"/>
              </a:lnSpc>
              <a:spcAft>
                <a:spcPts val="400"/>
              </a:spcAft>
            </a:pPr>
            <a:r>
              <a:rPr sz="850" b="1">
                <a:solidFill>
                  <a:srgbClr val="94A3B8"/>
                </a:solidFill>
                <a:latin typeface="Segoe U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11064240" cy="256032"/>
          </a:xfrm>
          <a:prstGeom prst="rect">
            <a:avLst/>
          </a:prstGeom>
          <a:noFill/>
        </p:spPr>
        <p:txBody>
          <a:bodyPr wrap="square" lIns="0" rIns="0" tIns="0" bIns="0" anchor="t">
            <a:spAutoFit/>
          </a:bodyPr>
          <a:lstStyle/>
          <a:p>
            <a:pPr algn="l">
              <a:lnSpc>
                <a:spcPct val="100000"/>
              </a:lnSpc>
              <a:spcAft>
                <a:spcPts val="400"/>
              </a:spcAft>
            </a:pPr>
            <a:r>
              <a:rPr sz="1050" b="1">
                <a:solidFill>
                  <a:srgbClr val="0369A1"/>
                </a:solidFill>
                <a:latin typeface="Segoe UI"/>
              </a:rPr>
              <a:t>OUT-OF-SAMPLE ACCURACY</a:t>
            </a:r>
          </a:p>
        </p:txBody>
      </p:sp>
      <p:sp>
        <p:nvSpPr>
          <p:cNvPr id="4" name="TextBox 3"/>
          <p:cNvSpPr txBox="1"/>
          <p:nvPr/>
        </p:nvSpPr>
        <p:spPr>
          <a:xfrm>
            <a:off x="566928" y="640080"/>
            <a:ext cx="11064240" cy="658368"/>
          </a:xfrm>
          <a:prstGeom prst="rect">
            <a:avLst/>
          </a:prstGeom>
          <a:noFill/>
        </p:spPr>
        <p:txBody>
          <a:bodyPr wrap="square" lIns="0" rIns="0" tIns="0" bIns="0" anchor="t">
            <a:spAutoFit/>
          </a:bodyPr>
          <a:lstStyle/>
          <a:p>
            <a:pPr algn="l">
              <a:lnSpc>
                <a:spcPct val="100000"/>
              </a:lnSpc>
              <a:spcAft>
                <a:spcPts val="400"/>
              </a:spcAft>
            </a:pPr>
            <a:r>
              <a:rPr sz="2500" b="1">
                <a:solidFill>
                  <a:srgbClr val="0F172A"/>
                </a:solidFill>
                <a:latin typeface="Segoe UI"/>
              </a:rPr>
              <a:t>0.099–0.117 m RMSE at 90 days, 0.935–0.942 R²</a:t>
            </a:r>
          </a:p>
        </p:txBody>
      </p:sp>
      <p:sp>
        <p:nvSpPr>
          <p:cNvPr id="5" name="Rectangle 4"/>
          <p:cNvSpPr/>
          <p:nvPr/>
        </p:nvSpPr>
        <p:spPr>
          <a:xfrm>
            <a:off x="566928" y="1335024"/>
            <a:ext cx="658368"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graphicFrame>
        <p:nvGraphicFramePr>
          <p:cNvPr id="6" name="Table 5"/>
          <p:cNvGraphicFramePr>
            <a:graphicFrameLocks noGrp="1"/>
          </p:cNvGraphicFramePr>
          <p:nvPr/>
        </p:nvGraphicFramePr>
        <p:xfrm>
          <a:off x="566928" y="1554480"/>
          <a:ext cx="11064240" cy="2103120"/>
        </p:xfrm>
        <a:graphic>
          <a:graphicData uri="http://schemas.openxmlformats.org/drawingml/2006/table">
            <a:tbl>
              <a:tblPr firstRow="1" bandRow="1">
                <a:tableStyleId>{5C22544A-7EE6-4342-B048-85BDC9FD1C3A}</a:tableStyleId>
              </a:tblPr>
              <a:tblGrid>
                <a:gridCol w="2148840"/>
                <a:gridCol w="1051560"/>
                <a:gridCol w="1051560"/>
                <a:gridCol w="1051560"/>
                <a:gridCol w="1691640"/>
                <a:gridCol w="1051560"/>
                <a:gridCol w="1371600"/>
                <a:gridCol w="1645920"/>
              </a:tblGrid>
              <a:tr h="420624">
                <a:tc>
                  <a:txBody>
                    <a:bodyPr wrap="square"/>
                    <a:lstStyle/>
                    <a:p>
                      <a:pPr algn="l"/>
                      <a:r>
                        <a:rPr sz="1200" b="1">
                          <a:solidFill>
                            <a:srgbClr val="FFFFFF"/>
                          </a:solidFill>
                          <a:latin typeface="Segoe UI"/>
                        </a:rPr>
                        <a:t>District</a:t>
                      </a:r>
                    </a:p>
                  </a:txBody>
                  <a:tcPr marL="91440" marR="91440" marT="27432" marB="27432" anchor="ctr">
                    <a:solidFill>
                      <a:srgbClr val="0B1E30"/>
                    </a:solidFill>
                  </a:tcPr>
                </a:tc>
                <a:tc>
                  <a:txBody>
                    <a:bodyPr wrap="square"/>
                    <a:lstStyle/>
                    <a:p>
                      <a:pPr algn="ctr"/>
                      <a:r>
                        <a:rPr sz="1200" b="1">
                          <a:solidFill>
                            <a:srgbClr val="FFFFFF"/>
                          </a:solidFill>
                          <a:latin typeface="Segoe UI"/>
                        </a:rPr>
                        <a:t>t+30</a:t>
                      </a:r>
                    </a:p>
                  </a:txBody>
                  <a:tcPr marL="91440" marR="91440" marT="27432" marB="27432" anchor="ctr">
                    <a:solidFill>
                      <a:srgbClr val="0B1E30"/>
                    </a:solidFill>
                  </a:tcPr>
                </a:tc>
                <a:tc>
                  <a:txBody>
                    <a:bodyPr wrap="square"/>
                    <a:lstStyle/>
                    <a:p>
                      <a:pPr algn="ctr"/>
                      <a:r>
                        <a:rPr sz="1200" b="1">
                          <a:solidFill>
                            <a:srgbClr val="FFFFFF"/>
                          </a:solidFill>
                          <a:latin typeface="Segoe UI"/>
                        </a:rPr>
                        <a:t>t+60</a:t>
                      </a:r>
                    </a:p>
                  </a:txBody>
                  <a:tcPr marL="91440" marR="91440" marT="27432" marB="27432" anchor="ctr">
                    <a:solidFill>
                      <a:srgbClr val="0B1E30"/>
                    </a:solidFill>
                  </a:tcPr>
                </a:tc>
                <a:tc>
                  <a:txBody>
                    <a:bodyPr wrap="square"/>
                    <a:lstStyle/>
                    <a:p>
                      <a:pPr algn="ctr"/>
                      <a:r>
                        <a:rPr sz="1200" b="1">
                          <a:solidFill>
                            <a:srgbClr val="FFFFFF"/>
                          </a:solidFill>
                          <a:latin typeface="Segoe UI"/>
                        </a:rPr>
                        <a:t>t+90</a:t>
                      </a:r>
                    </a:p>
                  </a:txBody>
                  <a:tcPr marL="91440" marR="91440" marT="27432" marB="27432" anchor="ctr">
                    <a:solidFill>
                      <a:srgbClr val="0B1E30"/>
                    </a:solidFill>
                  </a:tcPr>
                </a:tc>
                <a:tc>
                  <a:txBody>
                    <a:bodyPr wrap="square"/>
                    <a:lstStyle/>
                    <a:p>
                      <a:pPr algn="ctr"/>
                      <a:r>
                        <a:rPr sz="1200" b="1">
                          <a:solidFill>
                            <a:srgbClr val="FFFFFF"/>
                          </a:solidFill>
                          <a:latin typeface="Segoe UI"/>
                        </a:rPr>
                        <a:t>Overall RMSE</a:t>
                      </a:r>
                    </a:p>
                  </a:txBody>
                  <a:tcPr marL="91440" marR="91440" marT="27432" marB="27432" anchor="ctr">
                    <a:solidFill>
                      <a:srgbClr val="0B1E30"/>
                    </a:solidFill>
                  </a:tcPr>
                </a:tc>
                <a:tc>
                  <a:txBody>
                    <a:bodyPr wrap="square"/>
                    <a:lstStyle/>
                    <a:p>
                      <a:pPr algn="ctr"/>
                      <a:r>
                        <a:rPr sz="1200" b="1">
                          <a:solidFill>
                            <a:srgbClr val="FFFFFF"/>
                          </a:solidFill>
                          <a:latin typeface="Segoe UI"/>
                        </a:rPr>
                        <a:t>R²</a:t>
                      </a:r>
                    </a:p>
                  </a:txBody>
                  <a:tcPr marL="91440" marR="91440" marT="27432" marB="27432" anchor="ctr">
                    <a:solidFill>
                      <a:srgbClr val="0B1E30"/>
                    </a:solidFill>
                  </a:tcPr>
                </a:tc>
                <a:tc>
                  <a:txBody>
                    <a:bodyPr wrap="square"/>
                    <a:lstStyle/>
                    <a:p>
                      <a:pPr algn="ctr"/>
                      <a:r>
                        <a:rPr sz="1200" b="1">
                          <a:solidFill>
                            <a:srgbClr val="FFFFFF"/>
                          </a:solidFill>
                          <a:latin typeface="Segoe UI"/>
                        </a:rPr>
                        <a:t>Trend acc.</a:t>
                      </a:r>
                    </a:p>
                  </a:txBody>
                  <a:tcPr marL="91440" marR="91440" marT="27432" marB="27432" anchor="ctr">
                    <a:solidFill>
                      <a:srgbClr val="0B1E30"/>
                    </a:solidFill>
                  </a:tcPr>
                </a:tc>
                <a:tc>
                  <a:txBody>
                    <a:bodyPr wrap="square"/>
                    <a:lstStyle/>
                    <a:p>
                      <a:pPr algn="ctr"/>
                      <a:r>
                        <a:rPr sz="1200" b="1">
                          <a:solidFill>
                            <a:srgbClr val="FFFFFF"/>
                          </a:solidFill>
                          <a:latin typeface="Segoe UI"/>
                        </a:rPr>
                        <a:t>Skill vs persistence</a:t>
                      </a:r>
                    </a:p>
                  </a:txBody>
                  <a:tcPr marL="91440" marR="91440" marT="27432" marB="27432" anchor="ctr">
                    <a:solidFill>
                      <a:srgbClr val="0B1E30"/>
                    </a:solidFill>
                  </a:tcPr>
                </a:tc>
              </a:tr>
              <a:tr h="420624">
                <a:tc>
                  <a:txBody>
                    <a:bodyPr wrap="square"/>
                    <a:lstStyle/>
                    <a:p>
                      <a:pPr algn="l"/>
                      <a:r>
                        <a:rPr sz="1200" b="0">
                          <a:solidFill>
                            <a:srgbClr val="0F172A"/>
                          </a:solidFill>
                          <a:latin typeface="Segoe UI"/>
                        </a:rPr>
                        <a:t>Sangrur</a:t>
                      </a:r>
                    </a:p>
                  </a:txBody>
                  <a:tcPr marL="91440" marR="91440" marT="27432" marB="27432" anchor="ctr">
                    <a:solidFill>
                      <a:srgbClr val="FFFFFF"/>
                    </a:solidFill>
                  </a:tcPr>
                </a:tc>
                <a:tc>
                  <a:txBody>
                    <a:bodyPr wrap="square"/>
                    <a:lstStyle/>
                    <a:p>
                      <a:pPr algn="ctr"/>
                      <a:r>
                        <a:rPr sz="1200" b="0">
                          <a:solidFill>
                            <a:srgbClr val="0F172A"/>
                          </a:solidFill>
                          <a:latin typeface="Segoe UI"/>
                        </a:rPr>
                        <a:t>0.125</a:t>
                      </a:r>
                    </a:p>
                  </a:txBody>
                  <a:tcPr marL="91440" marR="91440" marT="27432" marB="27432" anchor="ctr">
                    <a:solidFill>
                      <a:srgbClr val="FFFFFF"/>
                    </a:solidFill>
                  </a:tcPr>
                </a:tc>
                <a:tc>
                  <a:txBody>
                    <a:bodyPr wrap="square"/>
                    <a:lstStyle/>
                    <a:p>
                      <a:pPr algn="ctr"/>
                      <a:r>
                        <a:rPr sz="1200" b="0">
                          <a:solidFill>
                            <a:srgbClr val="0F172A"/>
                          </a:solidFill>
                          <a:latin typeface="Segoe UI"/>
                        </a:rPr>
                        <a:t>0.122</a:t>
                      </a:r>
                    </a:p>
                  </a:txBody>
                  <a:tcPr marL="91440" marR="91440" marT="27432" marB="27432" anchor="ctr">
                    <a:solidFill>
                      <a:srgbClr val="FFFFFF"/>
                    </a:solidFill>
                  </a:tcPr>
                </a:tc>
                <a:tc>
                  <a:txBody>
                    <a:bodyPr wrap="square"/>
                    <a:lstStyle/>
                    <a:p>
                      <a:pPr algn="ctr"/>
                      <a:r>
                        <a:rPr sz="1200" b="0">
                          <a:solidFill>
                            <a:srgbClr val="0F172A"/>
                          </a:solidFill>
                          <a:latin typeface="Segoe UI"/>
                        </a:rPr>
                        <a:t>0.103</a:t>
                      </a:r>
                    </a:p>
                  </a:txBody>
                  <a:tcPr marL="91440" marR="91440" marT="27432" marB="27432" anchor="ctr">
                    <a:solidFill>
                      <a:srgbClr val="FFFFFF"/>
                    </a:solidFill>
                  </a:tcPr>
                </a:tc>
                <a:tc>
                  <a:txBody>
                    <a:bodyPr wrap="square"/>
                    <a:lstStyle/>
                    <a:p>
                      <a:pPr algn="ctr"/>
                      <a:r>
                        <a:rPr sz="1200" b="1">
                          <a:solidFill>
                            <a:srgbClr val="22C55E"/>
                          </a:solidFill>
                          <a:latin typeface="Segoe UI"/>
                        </a:rPr>
                        <a:t>0.117 m</a:t>
                      </a:r>
                    </a:p>
                  </a:txBody>
                  <a:tcPr marL="91440" marR="91440" marT="27432" marB="27432" anchor="ctr">
                    <a:solidFill>
                      <a:srgbClr val="FFFFFF"/>
                    </a:solidFill>
                  </a:tcPr>
                </a:tc>
                <a:tc>
                  <a:txBody>
                    <a:bodyPr wrap="square"/>
                    <a:lstStyle/>
                    <a:p>
                      <a:pPr algn="ctr"/>
                      <a:r>
                        <a:rPr sz="1200" b="0">
                          <a:solidFill>
                            <a:srgbClr val="0F172A"/>
                          </a:solidFill>
                          <a:latin typeface="Segoe UI"/>
                        </a:rPr>
                        <a:t>0.935</a:t>
                      </a:r>
                    </a:p>
                  </a:txBody>
                  <a:tcPr marL="91440" marR="91440" marT="27432" marB="27432" anchor="ctr">
                    <a:solidFill>
                      <a:srgbClr val="FFFFFF"/>
                    </a:solidFill>
                  </a:tcPr>
                </a:tc>
                <a:tc>
                  <a:txBody>
                    <a:bodyPr wrap="square"/>
                    <a:lstStyle/>
                    <a:p>
                      <a:pPr algn="ctr"/>
                      <a:r>
                        <a:rPr sz="1200" b="0">
                          <a:solidFill>
                            <a:srgbClr val="0F172A"/>
                          </a:solidFill>
                          <a:latin typeface="Segoe UI"/>
                        </a:rPr>
                        <a:t>91.7%</a:t>
                      </a:r>
                    </a:p>
                  </a:txBody>
                  <a:tcPr marL="91440" marR="91440" marT="27432" marB="27432" anchor="ctr">
                    <a:solidFill>
                      <a:srgbClr val="FFFFFF"/>
                    </a:solidFill>
                  </a:tcPr>
                </a:tc>
                <a:tc>
                  <a:txBody>
                    <a:bodyPr wrap="square"/>
                    <a:lstStyle/>
                    <a:p>
                      <a:pPr algn="ctr"/>
                      <a:r>
                        <a:rPr sz="1200" b="1">
                          <a:solidFill>
                            <a:srgbClr val="22C55E"/>
                          </a:solidFill>
                          <a:latin typeface="Segoe UI"/>
                        </a:rPr>
                        <a:t>+67.4%</a:t>
                      </a:r>
                    </a:p>
                  </a:txBody>
                  <a:tcPr marL="91440" marR="91440" marT="27432" marB="27432" anchor="ctr">
                    <a:solidFill>
                      <a:srgbClr val="FFFFFF"/>
                    </a:solidFill>
                  </a:tcPr>
                </a:tc>
              </a:tr>
              <a:tr h="420624">
                <a:tc>
                  <a:txBody>
                    <a:bodyPr wrap="square"/>
                    <a:lstStyle/>
                    <a:p>
                      <a:pPr algn="l"/>
                      <a:r>
                        <a:rPr sz="1200" b="0">
                          <a:solidFill>
                            <a:srgbClr val="0F172A"/>
                          </a:solidFill>
                          <a:latin typeface="Segoe UI"/>
                        </a:rPr>
                        <a:t>Ludhiana</a:t>
                      </a:r>
                    </a:p>
                  </a:txBody>
                  <a:tcPr marL="91440" marR="91440" marT="27432" marB="27432" anchor="ctr">
                    <a:solidFill>
                      <a:srgbClr val="F8FAFC"/>
                    </a:solidFill>
                  </a:tcPr>
                </a:tc>
                <a:tc>
                  <a:txBody>
                    <a:bodyPr wrap="square"/>
                    <a:lstStyle/>
                    <a:p>
                      <a:pPr algn="ctr"/>
                      <a:r>
                        <a:rPr sz="1200" b="0">
                          <a:solidFill>
                            <a:srgbClr val="0F172A"/>
                          </a:solidFill>
                          <a:latin typeface="Segoe UI"/>
                        </a:rPr>
                        <a:t>0.092</a:t>
                      </a:r>
                    </a:p>
                  </a:txBody>
                  <a:tcPr marL="91440" marR="91440" marT="27432" marB="27432" anchor="ctr">
                    <a:solidFill>
                      <a:srgbClr val="F8FAFC"/>
                    </a:solidFill>
                  </a:tcPr>
                </a:tc>
                <a:tc>
                  <a:txBody>
                    <a:bodyPr wrap="square"/>
                    <a:lstStyle/>
                    <a:p>
                      <a:pPr algn="ctr"/>
                      <a:r>
                        <a:rPr sz="1200" b="0">
                          <a:solidFill>
                            <a:srgbClr val="0F172A"/>
                          </a:solidFill>
                          <a:latin typeface="Segoe UI"/>
                        </a:rPr>
                        <a:t>0.098</a:t>
                      </a:r>
                    </a:p>
                  </a:txBody>
                  <a:tcPr marL="91440" marR="91440" marT="27432" marB="27432" anchor="ctr">
                    <a:solidFill>
                      <a:srgbClr val="F8FAFC"/>
                    </a:solidFill>
                  </a:tcPr>
                </a:tc>
                <a:tc>
                  <a:txBody>
                    <a:bodyPr wrap="square"/>
                    <a:lstStyle/>
                    <a:p>
                      <a:pPr algn="ctr"/>
                      <a:r>
                        <a:rPr sz="1200" b="0">
                          <a:solidFill>
                            <a:srgbClr val="0F172A"/>
                          </a:solidFill>
                          <a:latin typeface="Segoe UI"/>
                        </a:rPr>
                        <a:t>0.107</a:t>
                      </a:r>
                    </a:p>
                  </a:txBody>
                  <a:tcPr marL="91440" marR="91440" marT="27432" marB="27432" anchor="ctr">
                    <a:solidFill>
                      <a:srgbClr val="F8FAFC"/>
                    </a:solidFill>
                  </a:tcPr>
                </a:tc>
                <a:tc>
                  <a:txBody>
                    <a:bodyPr wrap="square"/>
                    <a:lstStyle/>
                    <a:p>
                      <a:pPr algn="ctr"/>
                      <a:r>
                        <a:rPr sz="1200" b="1">
                          <a:solidFill>
                            <a:srgbClr val="22C55E"/>
                          </a:solidFill>
                          <a:latin typeface="Segoe UI"/>
                        </a:rPr>
                        <a:t>0.099 m</a:t>
                      </a:r>
                    </a:p>
                  </a:txBody>
                  <a:tcPr marL="91440" marR="91440" marT="27432" marB="27432" anchor="ctr">
                    <a:solidFill>
                      <a:srgbClr val="F8FAFC"/>
                    </a:solidFill>
                  </a:tcPr>
                </a:tc>
                <a:tc>
                  <a:txBody>
                    <a:bodyPr wrap="square"/>
                    <a:lstStyle/>
                    <a:p>
                      <a:pPr algn="ctr"/>
                      <a:r>
                        <a:rPr sz="1200" b="0">
                          <a:solidFill>
                            <a:srgbClr val="0F172A"/>
                          </a:solidFill>
                          <a:latin typeface="Segoe UI"/>
                        </a:rPr>
                        <a:t>0.939</a:t>
                      </a:r>
                    </a:p>
                  </a:txBody>
                  <a:tcPr marL="91440" marR="91440" marT="27432" marB="27432" anchor="ctr">
                    <a:solidFill>
                      <a:srgbClr val="F8FAFC"/>
                    </a:solidFill>
                  </a:tcPr>
                </a:tc>
                <a:tc>
                  <a:txBody>
                    <a:bodyPr wrap="square"/>
                    <a:lstStyle/>
                    <a:p>
                      <a:pPr algn="ctr"/>
                      <a:r>
                        <a:rPr sz="1200" b="0">
                          <a:solidFill>
                            <a:srgbClr val="0F172A"/>
                          </a:solidFill>
                          <a:latin typeface="Segoe UI"/>
                        </a:rPr>
                        <a:t>90.6%</a:t>
                      </a:r>
                    </a:p>
                  </a:txBody>
                  <a:tcPr marL="91440" marR="91440" marT="27432" marB="27432" anchor="ctr">
                    <a:solidFill>
                      <a:srgbClr val="F8FAFC"/>
                    </a:solidFill>
                  </a:tcPr>
                </a:tc>
                <a:tc>
                  <a:txBody>
                    <a:bodyPr wrap="square"/>
                    <a:lstStyle/>
                    <a:p>
                      <a:pPr algn="ctr"/>
                      <a:r>
                        <a:rPr sz="1200" b="1">
                          <a:solidFill>
                            <a:srgbClr val="22C55E"/>
                          </a:solidFill>
                          <a:latin typeface="Segoe UI"/>
                        </a:rPr>
                        <a:t>+70.9%</a:t>
                      </a:r>
                    </a:p>
                  </a:txBody>
                  <a:tcPr marL="91440" marR="91440" marT="27432" marB="27432" anchor="ctr">
                    <a:solidFill>
                      <a:srgbClr val="F8FAFC"/>
                    </a:solidFill>
                  </a:tcPr>
                </a:tc>
              </a:tr>
              <a:tr h="420624">
                <a:tc>
                  <a:txBody>
                    <a:bodyPr wrap="square"/>
                    <a:lstStyle/>
                    <a:p>
                      <a:pPr algn="l"/>
                      <a:r>
                        <a:rPr sz="1200" b="0">
                          <a:solidFill>
                            <a:srgbClr val="0F172A"/>
                          </a:solidFill>
                          <a:latin typeface="Segoe UI"/>
                        </a:rPr>
                        <a:t>Moga</a:t>
                      </a:r>
                    </a:p>
                  </a:txBody>
                  <a:tcPr marL="91440" marR="91440" marT="27432" marB="27432" anchor="ctr">
                    <a:solidFill>
                      <a:srgbClr val="FFFFFF"/>
                    </a:solidFill>
                  </a:tcPr>
                </a:tc>
                <a:tc>
                  <a:txBody>
                    <a:bodyPr wrap="square"/>
                    <a:lstStyle/>
                    <a:p>
                      <a:pPr algn="ctr"/>
                      <a:r>
                        <a:rPr sz="1200" b="0">
                          <a:solidFill>
                            <a:srgbClr val="0F172A"/>
                          </a:solidFill>
                          <a:latin typeface="Segoe UI"/>
                        </a:rPr>
                        <a:t>0.121</a:t>
                      </a:r>
                    </a:p>
                  </a:txBody>
                  <a:tcPr marL="91440" marR="91440" marT="27432" marB="27432" anchor="ctr">
                    <a:solidFill>
                      <a:srgbClr val="FFFFFF"/>
                    </a:solidFill>
                  </a:tcPr>
                </a:tc>
                <a:tc>
                  <a:txBody>
                    <a:bodyPr wrap="square"/>
                    <a:lstStyle/>
                    <a:p>
                      <a:pPr algn="ctr"/>
                      <a:r>
                        <a:rPr sz="1200" b="0">
                          <a:solidFill>
                            <a:srgbClr val="0F172A"/>
                          </a:solidFill>
                          <a:latin typeface="Segoe UI"/>
                        </a:rPr>
                        <a:t>0.115</a:t>
                      </a:r>
                    </a:p>
                  </a:txBody>
                  <a:tcPr marL="91440" marR="91440" marT="27432" marB="27432" anchor="ctr">
                    <a:solidFill>
                      <a:srgbClr val="FFFFFF"/>
                    </a:solidFill>
                  </a:tcPr>
                </a:tc>
                <a:tc>
                  <a:txBody>
                    <a:bodyPr wrap="square"/>
                    <a:lstStyle/>
                    <a:p>
                      <a:pPr algn="ctr"/>
                      <a:r>
                        <a:rPr sz="1200" b="0">
                          <a:solidFill>
                            <a:srgbClr val="0F172A"/>
                          </a:solidFill>
                          <a:latin typeface="Segoe UI"/>
                        </a:rPr>
                        <a:t>0.106</a:t>
                      </a:r>
                    </a:p>
                  </a:txBody>
                  <a:tcPr marL="91440" marR="91440" marT="27432" marB="27432" anchor="ctr">
                    <a:solidFill>
                      <a:srgbClr val="FFFFFF"/>
                    </a:solidFill>
                  </a:tcPr>
                </a:tc>
                <a:tc>
                  <a:txBody>
                    <a:bodyPr wrap="square"/>
                    <a:lstStyle/>
                    <a:p>
                      <a:pPr algn="ctr"/>
                      <a:r>
                        <a:rPr sz="1200" b="1">
                          <a:solidFill>
                            <a:srgbClr val="22C55E"/>
                          </a:solidFill>
                          <a:latin typeface="Segoe UI"/>
                        </a:rPr>
                        <a:t>0.114 m</a:t>
                      </a:r>
                    </a:p>
                  </a:txBody>
                  <a:tcPr marL="91440" marR="91440" marT="27432" marB="27432" anchor="ctr">
                    <a:solidFill>
                      <a:srgbClr val="FFFFFF"/>
                    </a:solidFill>
                  </a:tcPr>
                </a:tc>
                <a:tc>
                  <a:txBody>
                    <a:bodyPr wrap="square"/>
                    <a:lstStyle/>
                    <a:p>
                      <a:pPr algn="ctr"/>
                      <a:r>
                        <a:rPr sz="1200" b="0">
                          <a:solidFill>
                            <a:srgbClr val="0F172A"/>
                          </a:solidFill>
                          <a:latin typeface="Segoe UI"/>
                        </a:rPr>
                        <a:t>0.942</a:t>
                      </a:r>
                    </a:p>
                  </a:txBody>
                  <a:tcPr marL="91440" marR="91440" marT="27432" marB="27432" anchor="ctr">
                    <a:solidFill>
                      <a:srgbClr val="FFFFFF"/>
                    </a:solidFill>
                  </a:tcPr>
                </a:tc>
                <a:tc>
                  <a:txBody>
                    <a:bodyPr wrap="square"/>
                    <a:lstStyle/>
                    <a:p>
                      <a:pPr algn="ctr"/>
                      <a:r>
                        <a:rPr sz="1200" b="0">
                          <a:solidFill>
                            <a:srgbClr val="0F172A"/>
                          </a:solidFill>
                          <a:latin typeface="Segoe UI"/>
                        </a:rPr>
                        <a:t>91.6%</a:t>
                      </a:r>
                    </a:p>
                  </a:txBody>
                  <a:tcPr marL="91440" marR="91440" marT="27432" marB="27432" anchor="ctr">
                    <a:solidFill>
                      <a:srgbClr val="FFFFFF"/>
                    </a:solidFill>
                  </a:tcPr>
                </a:tc>
                <a:tc>
                  <a:txBody>
                    <a:bodyPr wrap="square"/>
                    <a:lstStyle/>
                    <a:p>
                      <a:pPr algn="ctr"/>
                      <a:r>
                        <a:rPr sz="1200" b="1">
                          <a:solidFill>
                            <a:srgbClr val="22C55E"/>
                          </a:solidFill>
                          <a:latin typeface="Segoe UI"/>
                        </a:rPr>
                        <a:t>+68.2%</a:t>
                      </a:r>
                    </a:p>
                  </a:txBody>
                  <a:tcPr marL="91440" marR="91440" marT="27432" marB="27432" anchor="ctr">
                    <a:solidFill>
                      <a:srgbClr val="FFFFFF"/>
                    </a:solidFill>
                  </a:tcPr>
                </a:tc>
              </a:tr>
              <a:tr h="420624">
                <a:tc>
                  <a:txBody>
                    <a:bodyPr wrap="square"/>
                    <a:lstStyle/>
                    <a:p>
                      <a:pPr algn="l"/>
                      <a:r>
                        <a:rPr sz="1200" b="0">
                          <a:solidFill>
                            <a:srgbClr val="0F172A"/>
                          </a:solidFill>
                          <a:latin typeface="Segoe UI"/>
                        </a:rPr>
                        <a:t>Persistence baseline</a:t>
                      </a:r>
                    </a:p>
                  </a:txBody>
                  <a:tcPr marL="91440" marR="91440" marT="27432" marB="27432" anchor="ctr">
                    <a:solidFill>
                      <a:srgbClr val="F8FAFC"/>
                    </a:solidFill>
                  </a:tcPr>
                </a:tc>
                <a:tc>
                  <a:txBody>
                    <a:bodyPr wrap="square"/>
                    <a:lstStyle/>
                    <a:p>
                      <a:pPr algn="ctr"/>
                      <a:r>
                        <a:rPr sz="1200" b="1">
                          <a:solidFill>
                            <a:srgbClr val="64748B"/>
                          </a:solidFill>
                          <a:latin typeface="Segoe UI"/>
                        </a:rPr>
                        <a:t>—</a:t>
                      </a:r>
                    </a:p>
                  </a:txBody>
                  <a:tcPr marL="91440" marR="91440" marT="27432" marB="27432" anchor="ctr">
                    <a:solidFill>
                      <a:srgbClr val="F8FAFC"/>
                    </a:solidFill>
                  </a:tcPr>
                </a:tc>
                <a:tc>
                  <a:txBody>
                    <a:bodyPr wrap="square"/>
                    <a:lstStyle/>
                    <a:p>
                      <a:pPr algn="ctr"/>
                      <a:r>
                        <a:rPr sz="1200" b="0">
                          <a:solidFill>
                            <a:srgbClr val="0F172A"/>
                          </a:solidFill>
                          <a:latin typeface="Segoe UI"/>
                        </a:rPr>
                        <a:t>—</a:t>
                      </a:r>
                    </a:p>
                  </a:txBody>
                  <a:tcPr marL="91440" marR="91440" marT="27432" marB="27432" anchor="ctr">
                    <a:solidFill>
                      <a:srgbClr val="F8FAFC"/>
                    </a:solidFill>
                  </a:tcPr>
                </a:tc>
                <a:tc>
                  <a:txBody>
                    <a:bodyPr wrap="square"/>
                    <a:lstStyle/>
                    <a:p>
                      <a:pPr algn="ctr"/>
                      <a:r>
                        <a:rPr sz="1200" b="0">
                          <a:solidFill>
                            <a:srgbClr val="0F172A"/>
                          </a:solidFill>
                          <a:latin typeface="Segoe UI"/>
                        </a:rPr>
                        <a:t>—</a:t>
                      </a:r>
                    </a:p>
                  </a:txBody>
                  <a:tcPr marL="91440" marR="91440" marT="27432" marB="27432" anchor="ctr">
                    <a:solidFill>
                      <a:srgbClr val="F8FAFC"/>
                    </a:solidFill>
                  </a:tcPr>
                </a:tc>
                <a:tc>
                  <a:txBody>
                    <a:bodyPr wrap="square"/>
                    <a:lstStyle/>
                    <a:p>
                      <a:pPr algn="ctr"/>
                      <a:r>
                        <a:rPr sz="1200" b="1">
                          <a:solidFill>
                            <a:srgbClr val="64748B"/>
                          </a:solidFill>
                          <a:latin typeface="Segoe UI"/>
                        </a:rPr>
                        <a:t>0.341–0.359 m</a:t>
                      </a:r>
                    </a:p>
                  </a:txBody>
                  <a:tcPr marL="91440" marR="91440" marT="27432" marB="27432" anchor="ctr">
                    <a:solidFill>
                      <a:srgbClr val="F8FAFC"/>
                    </a:solidFill>
                  </a:tcPr>
                </a:tc>
                <a:tc>
                  <a:txBody>
                    <a:bodyPr wrap="square"/>
                    <a:lstStyle/>
                    <a:p>
                      <a:pPr algn="ctr"/>
                      <a:r>
                        <a:rPr sz="1200" b="0">
                          <a:solidFill>
                            <a:srgbClr val="0F172A"/>
                          </a:solidFill>
                          <a:latin typeface="Segoe UI"/>
                        </a:rPr>
                        <a:t>—</a:t>
                      </a:r>
                    </a:p>
                  </a:txBody>
                  <a:tcPr marL="91440" marR="91440" marT="27432" marB="27432" anchor="ctr">
                    <a:solidFill>
                      <a:srgbClr val="F8FAFC"/>
                    </a:solidFill>
                  </a:tcPr>
                </a:tc>
                <a:tc>
                  <a:txBody>
                    <a:bodyPr wrap="square"/>
                    <a:lstStyle/>
                    <a:p>
                      <a:pPr algn="ctr"/>
                      <a:r>
                        <a:rPr sz="1200" b="1">
                          <a:solidFill>
                            <a:srgbClr val="64748B"/>
                          </a:solidFill>
                          <a:latin typeface="Segoe UI"/>
                        </a:rPr>
                        <a:t>4.2%</a:t>
                      </a:r>
                    </a:p>
                  </a:txBody>
                  <a:tcPr marL="91440" marR="91440" marT="27432" marB="27432" anchor="ctr">
                    <a:solidFill>
                      <a:srgbClr val="F8FAFC"/>
                    </a:solidFill>
                  </a:tcPr>
                </a:tc>
                <a:tc>
                  <a:txBody>
                    <a:bodyPr wrap="square"/>
                    <a:lstStyle/>
                    <a:p>
                      <a:pPr algn="ctr"/>
                      <a:r>
                        <a:rPr sz="1200" b="0">
                          <a:solidFill>
                            <a:srgbClr val="0F172A"/>
                          </a:solidFill>
                          <a:latin typeface="Segoe UI"/>
                        </a:rPr>
                        <a:t>—</a:t>
                      </a:r>
                    </a:p>
                  </a:txBody>
                  <a:tcPr marL="91440" marR="91440" marT="27432" marB="27432" anchor="ctr">
                    <a:solidFill>
                      <a:srgbClr val="F8FAFC"/>
                    </a:solidFill>
                  </a:tcPr>
                </a:tc>
              </a:tr>
            </a:tbl>
          </a:graphicData>
        </a:graphic>
      </p:graphicFrame>
      <p:pic>
        <p:nvPicPr>
          <p:cNvPr id="7" name="Picture 6" descr="horizons.png"/>
          <p:cNvPicPr>
            <a:picLocks noChangeAspect="1"/>
          </p:cNvPicPr>
          <p:nvPr/>
        </p:nvPicPr>
        <p:blipFill>
          <a:blip r:embed="rId2"/>
          <a:stretch>
            <a:fillRect/>
          </a:stretch>
        </p:blipFill>
        <p:spPr>
          <a:xfrm>
            <a:off x="1785827" y="3127248"/>
            <a:ext cx="4237320" cy="2103120"/>
          </a:xfrm>
          <a:prstGeom prst="rect">
            <a:avLst/>
          </a:prstGeom>
        </p:spPr>
      </p:pic>
      <p:sp>
        <p:nvSpPr>
          <p:cNvPr id="8" name="Rounded Rectangle 7"/>
          <p:cNvSpPr/>
          <p:nvPr/>
        </p:nvSpPr>
        <p:spPr>
          <a:xfrm>
            <a:off x="7571231" y="3127248"/>
            <a:ext cx="4059936" cy="2103120"/>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7827264" y="3328416"/>
            <a:ext cx="3566160" cy="274320"/>
          </a:xfrm>
          <a:prstGeom prst="rect">
            <a:avLst/>
          </a:prstGeom>
          <a:noFill/>
        </p:spPr>
        <p:txBody>
          <a:bodyPr wrap="square" lIns="0" rIns="0" tIns="0" bIns="0" anchor="t">
            <a:spAutoFit/>
          </a:bodyPr>
          <a:lstStyle/>
          <a:p>
            <a:pPr algn="l">
              <a:lnSpc>
                <a:spcPct val="100000"/>
              </a:lnSpc>
              <a:spcAft>
                <a:spcPts val="400"/>
              </a:spcAft>
            </a:pPr>
            <a:r>
              <a:rPr sz="1250" b="1">
                <a:solidFill>
                  <a:srgbClr val="0369A1"/>
                </a:solidFill>
                <a:latin typeface="Segoe UI"/>
              </a:rPr>
              <a:t>Why error FALLS with lead time</a:t>
            </a:r>
          </a:p>
        </p:txBody>
      </p:sp>
      <p:sp>
        <p:nvSpPr>
          <p:cNvPr id="10" name="TextBox 9"/>
          <p:cNvSpPr txBox="1"/>
          <p:nvPr/>
        </p:nvSpPr>
        <p:spPr>
          <a:xfrm>
            <a:off x="7827264" y="3639311"/>
            <a:ext cx="3566160" cy="1600200"/>
          </a:xfrm>
          <a:prstGeom prst="rect">
            <a:avLst/>
          </a:prstGeom>
          <a:noFill/>
        </p:spPr>
        <p:txBody>
          <a:bodyPr wrap="square" lIns="0" rIns="0" tIns="0" bIns="0" anchor="t">
            <a:spAutoFit/>
          </a:bodyPr>
          <a:lstStyle/>
          <a:p>
            <a:pPr algn="l">
              <a:lnSpc>
                <a:spcPct val="112000"/>
              </a:lnSpc>
              <a:spcAft>
                <a:spcPts val="600"/>
              </a:spcAft>
            </a:pPr>
            <a:r>
              <a:rPr sz="1050" b="0">
                <a:solidFill>
                  <a:srgbClr val="64748B"/>
                </a:solidFill>
                <a:latin typeface="Segoe UI"/>
              </a:rPr>
              <a:t>The spread of the target grows with horizon (σ 0.21 m → 0.43 m) while the unpredictable part does not.
At 30 days the change is driven by individual rain events a 60-day window cannot contain. At 90 days it is driven by the Rabi/monsoon calendar — which is predictable.
Per-horizon R² therefore rises 0.65 → 0.94.</a:t>
            </a:r>
          </a:p>
        </p:txBody>
      </p:sp>
      <p:sp>
        <p:nvSpPr>
          <p:cNvPr id="11" name="TextBox 10"/>
          <p:cNvSpPr txBox="1"/>
          <p:nvPr/>
        </p:nvSpPr>
        <p:spPr>
          <a:xfrm>
            <a:off x="566928" y="6419088"/>
            <a:ext cx="8229600" cy="237744"/>
          </a:xfrm>
          <a:prstGeom prst="rect">
            <a:avLst/>
          </a:prstGeom>
          <a:noFill/>
        </p:spPr>
        <p:txBody>
          <a:bodyPr wrap="square" lIns="0" rIns="0" tIns="0" bIns="0" anchor="t">
            <a:spAutoFit/>
          </a:bodyPr>
          <a:lstStyle/>
          <a:p>
            <a:pPr algn="l">
              <a:lnSpc>
                <a:spcPct val="100000"/>
              </a:lnSpc>
              <a:spcAft>
                <a:spcPts val="400"/>
              </a:spcAft>
            </a:pPr>
            <a:r>
              <a:rPr sz="850" b="0">
                <a:solidFill>
                  <a:srgbClr val="94A3B8"/>
                </a:solidFill>
                <a:latin typeface="Segoe UI"/>
              </a:rPr>
              <a:t>AquaCast-Punjab  ·  Sankalp — Climate-Smart Agriculture, Water &amp; Rural Credit</a:t>
            </a:r>
          </a:p>
        </p:txBody>
      </p:sp>
      <p:sp>
        <p:nvSpPr>
          <p:cNvPr id="12" name="TextBox 11"/>
          <p:cNvSpPr txBox="1"/>
          <p:nvPr/>
        </p:nvSpPr>
        <p:spPr>
          <a:xfrm>
            <a:off x="10972800" y="6419088"/>
            <a:ext cx="685800" cy="237744"/>
          </a:xfrm>
          <a:prstGeom prst="rect">
            <a:avLst/>
          </a:prstGeom>
          <a:noFill/>
        </p:spPr>
        <p:txBody>
          <a:bodyPr wrap="square" lIns="0" rIns="0" tIns="0" bIns="0" anchor="t">
            <a:spAutoFit/>
          </a:bodyPr>
          <a:lstStyle/>
          <a:p>
            <a:pPr algn="r">
              <a:lnSpc>
                <a:spcPct val="100000"/>
              </a:lnSpc>
              <a:spcAft>
                <a:spcPts val="400"/>
              </a:spcAft>
            </a:pPr>
            <a:r>
              <a:rPr sz="850" b="1">
                <a:solidFill>
                  <a:srgbClr val="94A3B8"/>
                </a:solidFill>
                <a:latin typeface="Segoe U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11064240" cy="256032"/>
          </a:xfrm>
          <a:prstGeom prst="rect">
            <a:avLst/>
          </a:prstGeom>
          <a:noFill/>
        </p:spPr>
        <p:txBody>
          <a:bodyPr wrap="square" lIns="0" rIns="0" tIns="0" bIns="0" anchor="t">
            <a:spAutoFit/>
          </a:bodyPr>
          <a:lstStyle/>
          <a:p>
            <a:pPr algn="l">
              <a:lnSpc>
                <a:spcPct val="100000"/>
              </a:lnSpc>
              <a:spcAft>
                <a:spcPts val="400"/>
              </a:spcAft>
            </a:pPr>
            <a:r>
              <a:rPr sz="1050" b="1">
                <a:solidFill>
                  <a:srgbClr val="0369A1"/>
                </a:solidFill>
                <a:latin typeface="Segoe UI"/>
              </a:rPr>
              <a:t>MODEL BAKE-OFF</a:t>
            </a:r>
          </a:p>
        </p:txBody>
      </p:sp>
      <p:sp>
        <p:nvSpPr>
          <p:cNvPr id="4" name="TextBox 3"/>
          <p:cNvSpPr txBox="1"/>
          <p:nvPr/>
        </p:nvSpPr>
        <p:spPr>
          <a:xfrm>
            <a:off x="566928" y="640080"/>
            <a:ext cx="11064240" cy="658368"/>
          </a:xfrm>
          <a:prstGeom prst="rect">
            <a:avLst/>
          </a:prstGeom>
          <a:noFill/>
        </p:spPr>
        <p:txBody>
          <a:bodyPr wrap="square" lIns="0" rIns="0" tIns="0" bIns="0" anchor="t">
            <a:spAutoFit/>
          </a:bodyPr>
          <a:lstStyle/>
          <a:p>
            <a:pPr algn="l">
              <a:lnSpc>
                <a:spcPct val="100000"/>
              </a:lnSpc>
              <a:spcAft>
                <a:spcPts val="400"/>
              </a:spcAft>
            </a:pPr>
            <a:r>
              <a:rPr sz="2500" b="1">
                <a:solidFill>
                  <a:srgbClr val="0F172A"/>
                </a:solidFill>
                <a:latin typeface="Segoe UI"/>
              </a:rPr>
              <a:t>We trained the boring baselines too. The LSTM still wins.</a:t>
            </a:r>
          </a:p>
        </p:txBody>
      </p:sp>
      <p:sp>
        <p:nvSpPr>
          <p:cNvPr id="5" name="Rectangle 4"/>
          <p:cNvSpPr/>
          <p:nvPr/>
        </p:nvSpPr>
        <p:spPr>
          <a:xfrm>
            <a:off x="566928" y="1335024"/>
            <a:ext cx="658368"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6" name="Picture 5" descr="bakeoff.png"/>
          <p:cNvPicPr>
            <a:picLocks noChangeAspect="1"/>
          </p:cNvPicPr>
          <p:nvPr/>
        </p:nvPicPr>
        <p:blipFill>
          <a:blip r:embed="rId2"/>
          <a:stretch>
            <a:fillRect/>
          </a:stretch>
        </p:blipFill>
        <p:spPr>
          <a:xfrm>
            <a:off x="970841" y="1554480"/>
            <a:ext cx="6050172" cy="2606040"/>
          </a:xfrm>
          <a:prstGeom prst="rect">
            <a:avLst/>
          </a:prstGeom>
        </p:spPr>
      </p:pic>
      <p:graphicFrame>
        <p:nvGraphicFramePr>
          <p:cNvPr id="7" name="Table 6"/>
          <p:cNvGraphicFramePr>
            <a:graphicFrameLocks noGrp="1"/>
          </p:cNvGraphicFramePr>
          <p:nvPr/>
        </p:nvGraphicFramePr>
        <p:xfrm>
          <a:off x="7699248" y="1600200"/>
          <a:ext cx="4169664" cy="2286000"/>
        </p:xfrm>
        <a:graphic>
          <a:graphicData uri="http://schemas.openxmlformats.org/drawingml/2006/table">
            <a:tbl>
              <a:tblPr firstRow="1" bandRow="1">
                <a:tableStyleId>{5C22544A-7EE6-4342-B048-85BDC9FD1C3A}</a:tableStyleId>
              </a:tblPr>
              <a:tblGrid>
                <a:gridCol w="1737360"/>
                <a:gridCol w="658368"/>
                <a:gridCol w="603504"/>
                <a:gridCol w="566928"/>
                <a:gridCol w="603504"/>
              </a:tblGrid>
              <a:tr h="365760">
                <a:tc>
                  <a:txBody>
                    <a:bodyPr wrap="square"/>
                    <a:lstStyle/>
                    <a:p>
                      <a:pPr algn="l"/>
                      <a:r>
                        <a:rPr sz="1000" b="1">
                          <a:solidFill>
                            <a:srgbClr val="FFFFFF"/>
                          </a:solidFill>
                          <a:latin typeface="Segoe UI"/>
                        </a:rPr>
                        <a:t>Model</a:t>
                      </a:r>
                    </a:p>
                  </a:txBody>
                  <a:tcPr marL="91440" marR="91440" marT="27432" marB="27432" anchor="ctr">
                    <a:solidFill>
                      <a:srgbClr val="0B1E30"/>
                    </a:solidFill>
                  </a:tcPr>
                </a:tc>
                <a:tc>
                  <a:txBody>
                    <a:bodyPr wrap="square"/>
                    <a:lstStyle/>
                    <a:p>
                      <a:pPr algn="ctr"/>
                      <a:r>
                        <a:rPr sz="1000" b="1">
                          <a:solidFill>
                            <a:srgbClr val="FFFFFF"/>
                          </a:solidFill>
                          <a:latin typeface="Segoe UI"/>
                        </a:rPr>
                        <a:t>RMSE (m)</a:t>
                      </a:r>
                    </a:p>
                  </a:txBody>
                  <a:tcPr marL="91440" marR="91440" marT="27432" marB="27432" anchor="ctr">
                    <a:solidFill>
                      <a:srgbClr val="0B1E30"/>
                    </a:solidFill>
                  </a:tcPr>
                </a:tc>
                <a:tc>
                  <a:txBody>
                    <a:bodyPr wrap="square"/>
                    <a:lstStyle/>
                    <a:p>
                      <a:pPr algn="ctr"/>
                      <a:r>
                        <a:rPr sz="1000" b="1">
                          <a:solidFill>
                            <a:srgbClr val="FFFFFF"/>
                          </a:solidFill>
                          <a:latin typeface="Segoe UI"/>
                        </a:rPr>
                        <a:t>MAE (m)</a:t>
                      </a:r>
                    </a:p>
                  </a:txBody>
                  <a:tcPr marL="91440" marR="91440" marT="27432" marB="27432" anchor="ctr">
                    <a:solidFill>
                      <a:srgbClr val="0B1E30"/>
                    </a:solidFill>
                  </a:tcPr>
                </a:tc>
                <a:tc>
                  <a:txBody>
                    <a:bodyPr wrap="square"/>
                    <a:lstStyle/>
                    <a:p>
                      <a:pPr algn="ctr"/>
                      <a:r>
                        <a:rPr sz="1000" b="1">
                          <a:solidFill>
                            <a:srgbClr val="FFFFFF"/>
                          </a:solidFill>
                          <a:latin typeface="Segoe UI"/>
                        </a:rPr>
                        <a:t>Trend acc.</a:t>
                      </a:r>
                    </a:p>
                  </a:txBody>
                  <a:tcPr marL="91440" marR="91440" marT="27432" marB="27432" anchor="ctr">
                    <a:solidFill>
                      <a:srgbClr val="0B1E30"/>
                    </a:solidFill>
                  </a:tcPr>
                </a:tc>
                <a:tc>
                  <a:txBody>
                    <a:bodyPr wrap="square"/>
                    <a:lstStyle/>
                    <a:p>
                      <a:pPr algn="ctr"/>
                      <a:r>
                        <a:rPr sz="1000" b="1">
                          <a:solidFill>
                            <a:srgbClr val="FFFFFF"/>
                          </a:solidFill>
                          <a:latin typeface="Segoe UI"/>
                        </a:rPr>
                        <a:t>Params</a:t>
                      </a:r>
                    </a:p>
                  </a:txBody>
                  <a:tcPr marL="91440" marR="91440" marT="27432" marB="27432" anchor="ctr">
                    <a:solidFill>
                      <a:srgbClr val="0B1E30"/>
                    </a:solidFill>
                  </a:tcPr>
                </a:tc>
              </a:tr>
              <a:tr h="384048">
                <a:tc>
                  <a:txBody>
                    <a:bodyPr wrap="square"/>
                    <a:lstStyle/>
                    <a:p>
                      <a:pPr algn="l"/>
                      <a:r>
                        <a:rPr sz="1000" b="1">
                          <a:solidFill>
                            <a:srgbClr val="22C55E"/>
                          </a:solidFill>
                          <a:latin typeface="Segoe UI"/>
                        </a:rPr>
                        <a:t>LSTM — pooled 3 districts (shipped)</a:t>
                      </a:r>
                    </a:p>
                  </a:txBody>
                  <a:tcPr marL="91440" marR="91440" marT="27432" marB="27432" anchor="ctr">
                    <a:solidFill>
                      <a:srgbClr val="FFFFFF"/>
                    </a:solidFill>
                  </a:tcPr>
                </a:tc>
                <a:tc>
                  <a:txBody>
                    <a:bodyPr wrap="square"/>
                    <a:lstStyle/>
                    <a:p>
                      <a:pPr algn="ctr"/>
                      <a:r>
                        <a:rPr sz="1000" b="1">
                          <a:solidFill>
                            <a:srgbClr val="22C55E"/>
                          </a:solidFill>
                          <a:latin typeface="Segoe UI"/>
                        </a:rPr>
                        <a:t>0.1171</a:t>
                      </a:r>
                    </a:p>
                  </a:txBody>
                  <a:tcPr marL="91440" marR="91440" marT="27432" marB="27432" anchor="ctr">
                    <a:solidFill>
                      <a:srgbClr val="FFFFFF"/>
                    </a:solidFill>
                  </a:tcPr>
                </a:tc>
                <a:tc>
                  <a:txBody>
                    <a:bodyPr wrap="square"/>
                    <a:lstStyle/>
                    <a:p>
                      <a:pPr algn="ctr"/>
                      <a:r>
                        <a:rPr sz="1000" b="0">
                          <a:solidFill>
                            <a:srgbClr val="0F172A"/>
                          </a:solidFill>
                          <a:latin typeface="Segoe UI"/>
                        </a:rPr>
                        <a:t>0.0919</a:t>
                      </a:r>
                    </a:p>
                  </a:txBody>
                  <a:tcPr marL="91440" marR="91440" marT="27432" marB="27432" anchor="ctr">
                    <a:solidFill>
                      <a:srgbClr val="FFFFFF"/>
                    </a:solidFill>
                  </a:tcPr>
                </a:tc>
                <a:tc>
                  <a:txBody>
                    <a:bodyPr wrap="square"/>
                    <a:lstStyle/>
                    <a:p>
                      <a:pPr algn="ctr"/>
                      <a:r>
                        <a:rPr sz="1000" b="0">
                          <a:solidFill>
                            <a:srgbClr val="0F172A"/>
                          </a:solidFill>
                          <a:latin typeface="Segoe UI"/>
                        </a:rPr>
                        <a:t>91.7%</a:t>
                      </a:r>
                    </a:p>
                  </a:txBody>
                  <a:tcPr marL="91440" marR="91440" marT="27432" marB="27432" anchor="ctr">
                    <a:solidFill>
                      <a:srgbClr val="FFFFFF"/>
                    </a:solidFill>
                  </a:tcPr>
                </a:tc>
                <a:tc>
                  <a:txBody>
                    <a:bodyPr wrap="square"/>
                    <a:lstStyle/>
                    <a:p>
                      <a:pPr algn="ctr"/>
                      <a:r>
                        <a:rPr sz="1000" b="0">
                          <a:solidFill>
                            <a:srgbClr val="0F172A"/>
                          </a:solidFill>
                          <a:latin typeface="Segoe UI"/>
                        </a:rPr>
                        <a:t>52,547</a:t>
                      </a:r>
                    </a:p>
                  </a:txBody>
                  <a:tcPr marL="91440" marR="91440" marT="27432" marB="27432" anchor="ctr">
                    <a:solidFill>
                      <a:srgbClr val="FFFFFF"/>
                    </a:solidFill>
                  </a:tcPr>
                </a:tc>
              </a:tr>
              <a:tr h="384048">
                <a:tc>
                  <a:txBody>
                    <a:bodyPr wrap="square"/>
                    <a:lstStyle/>
                    <a:p>
                      <a:pPr algn="l"/>
                      <a:r>
                        <a:rPr sz="1000" b="0">
                          <a:solidFill>
                            <a:srgbClr val="0F172A"/>
                          </a:solidFill>
                          <a:latin typeface="Segoe UI"/>
                        </a:rPr>
                        <a:t>Linear probe (flatten window)</a:t>
                      </a:r>
                    </a:p>
                  </a:txBody>
                  <a:tcPr marL="91440" marR="91440" marT="27432" marB="27432" anchor="ctr">
                    <a:solidFill>
                      <a:srgbClr val="F8FAFC"/>
                    </a:solidFill>
                  </a:tcPr>
                </a:tc>
                <a:tc>
                  <a:txBody>
                    <a:bodyPr wrap="square"/>
                    <a:lstStyle/>
                    <a:p>
                      <a:pPr algn="ctr"/>
                      <a:r>
                        <a:rPr sz="1000" b="0">
                          <a:solidFill>
                            <a:srgbClr val="0F172A"/>
                          </a:solidFill>
                          <a:latin typeface="Segoe UI"/>
                        </a:rPr>
                        <a:t>0.1427</a:t>
                      </a:r>
                    </a:p>
                  </a:txBody>
                  <a:tcPr marL="91440" marR="91440" marT="27432" marB="27432" anchor="ctr">
                    <a:solidFill>
                      <a:srgbClr val="F8FAFC"/>
                    </a:solidFill>
                  </a:tcPr>
                </a:tc>
                <a:tc>
                  <a:txBody>
                    <a:bodyPr wrap="square"/>
                    <a:lstStyle/>
                    <a:p>
                      <a:pPr algn="ctr"/>
                      <a:r>
                        <a:rPr sz="1000" b="0">
                          <a:solidFill>
                            <a:srgbClr val="0F172A"/>
                          </a:solidFill>
                          <a:latin typeface="Segoe UI"/>
                        </a:rPr>
                        <a:t>0.1062</a:t>
                      </a:r>
                    </a:p>
                  </a:txBody>
                  <a:tcPr marL="91440" marR="91440" marT="27432" marB="27432" anchor="ctr">
                    <a:solidFill>
                      <a:srgbClr val="F8FAFC"/>
                    </a:solidFill>
                  </a:tcPr>
                </a:tc>
                <a:tc>
                  <a:txBody>
                    <a:bodyPr wrap="square"/>
                    <a:lstStyle/>
                    <a:p>
                      <a:pPr algn="ctr"/>
                      <a:r>
                        <a:rPr sz="1000" b="0">
                          <a:solidFill>
                            <a:srgbClr val="0F172A"/>
                          </a:solidFill>
                          <a:latin typeface="Segoe UI"/>
                        </a:rPr>
                        <a:t>93.4%</a:t>
                      </a:r>
                    </a:p>
                  </a:txBody>
                  <a:tcPr marL="91440" marR="91440" marT="27432" marB="27432" anchor="ctr">
                    <a:solidFill>
                      <a:srgbClr val="F8FAFC"/>
                    </a:solidFill>
                  </a:tcPr>
                </a:tc>
                <a:tc>
                  <a:txBody>
                    <a:bodyPr wrap="square"/>
                    <a:lstStyle/>
                    <a:p>
                      <a:pPr algn="ctr"/>
                      <a:r>
                        <a:rPr sz="1000" b="0">
                          <a:solidFill>
                            <a:srgbClr val="0F172A"/>
                          </a:solidFill>
                          <a:latin typeface="Segoe UI"/>
                        </a:rPr>
                        <a:t>1,443</a:t>
                      </a:r>
                    </a:p>
                  </a:txBody>
                  <a:tcPr marL="91440" marR="91440" marT="27432" marB="27432" anchor="ctr">
                    <a:solidFill>
                      <a:srgbClr val="F8FAFC"/>
                    </a:solidFill>
                  </a:tcPr>
                </a:tc>
              </a:tr>
              <a:tr h="384048">
                <a:tc>
                  <a:txBody>
                    <a:bodyPr wrap="square"/>
                    <a:lstStyle/>
                    <a:p>
                      <a:pPr algn="l"/>
                      <a:r>
                        <a:rPr sz="1000" b="0">
                          <a:solidFill>
                            <a:srgbClr val="0F172A"/>
                          </a:solidFill>
                          <a:latin typeface="Segoe UI"/>
                        </a:rPr>
                        <a:t>GRU (2-layer)</a:t>
                      </a:r>
                    </a:p>
                  </a:txBody>
                  <a:tcPr marL="91440" marR="91440" marT="27432" marB="27432" anchor="ctr">
                    <a:solidFill>
                      <a:srgbClr val="FFFFFF"/>
                    </a:solidFill>
                  </a:tcPr>
                </a:tc>
                <a:tc>
                  <a:txBody>
                    <a:bodyPr wrap="square"/>
                    <a:lstStyle/>
                    <a:p>
                      <a:pPr algn="ctr"/>
                      <a:r>
                        <a:rPr sz="1000" b="0">
                          <a:solidFill>
                            <a:srgbClr val="0F172A"/>
                          </a:solidFill>
                          <a:latin typeface="Segoe UI"/>
                        </a:rPr>
                        <a:t>0.1575</a:t>
                      </a:r>
                    </a:p>
                  </a:txBody>
                  <a:tcPr marL="91440" marR="91440" marT="27432" marB="27432" anchor="ctr">
                    <a:solidFill>
                      <a:srgbClr val="FFFFFF"/>
                    </a:solidFill>
                  </a:tcPr>
                </a:tc>
                <a:tc>
                  <a:txBody>
                    <a:bodyPr wrap="square"/>
                    <a:lstStyle/>
                    <a:p>
                      <a:pPr algn="ctr"/>
                      <a:r>
                        <a:rPr sz="1000" b="0">
                          <a:solidFill>
                            <a:srgbClr val="0F172A"/>
                          </a:solidFill>
                          <a:latin typeface="Segoe UI"/>
                        </a:rPr>
                        <a:t>0.1257</a:t>
                      </a:r>
                    </a:p>
                  </a:txBody>
                  <a:tcPr marL="91440" marR="91440" marT="27432" marB="27432" anchor="ctr">
                    <a:solidFill>
                      <a:srgbClr val="FFFFFF"/>
                    </a:solidFill>
                  </a:tcPr>
                </a:tc>
                <a:tc>
                  <a:txBody>
                    <a:bodyPr wrap="square"/>
                    <a:lstStyle/>
                    <a:p>
                      <a:pPr algn="ctr"/>
                      <a:r>
                        <a:rPr sz="1000" b="0">
                          <a:solidFill>
                            <a:srgbClr val="0F172A"/>
                          </a:solidFill>
                          <a:latin typeface="Segoe UI"/>
                        </a:rPr>
                        <a:t>92.8%</a:t>
                      </a:r>
                    </a:p>
                  </a:txBody>
                  <a:tcPr marL="91440" marR="91440" marT="27432" marB="27432" anchor="ctr">
                    <a:solidFill>
                      <a:srgbClr val="FFFFFF"/>
                    </a:solidFill>
                  </a:tcPr>
                </a:tc>
                <a:tc>
                  <a:txBody>
                    <a:bodyPr wrap="square"/>
                    <a:lstStyle/>
                    <a:p>
                      <a:pPr algn="ctr"/>
                      <a:r>
                        <a:rPr sz="1000" b="0">
                          <a:solidFill>
                            <a:srgbClr val="0F172A"/>
                          </a:solidFill>
                          <a:latin typeface="Segoe UI"/>
                        </a:rPr>
                        <a:t>39,363</a:t>
                      </a:r>
                    </a:p>
                  </a:txBody>
                  <a:tcPr marL="91440" marR="91440" marT="27432" marB="27432" anchor="ctr">
                    <a:solidFill>
                      <a:srgbClr val="FFFFFF"/>
                    </a:solidFill>
                  </a:tcPr>
                </a:tc>
              </a:tr>
              <a:tr h="384048">
                <a:tc>
                  <a:txBody>
                    <a:bodyPr wrap="square"/>
                    <a:lstStyle/>
                    <a:p>
                      <a:pPr algn="l"/>
                      <a:r>
                        <a:rPr sz="1000" b="0">
                          <a:solidFill>
                            <a:srgbClr val="0F172A"/>
                          </a:solidFill>
                          <a:latin typeface="Segoe UI"/>
                        </a:rPr>
                        <a:t>LSTM — Sangrur only</a:t>
                      </a:r>
                    </a:p>
                  </a:txBody>
                  <a:tcPr marL="91440" marR="91440" marT="27432" marB="27432" anchor="ctr">
                    <a:solidFill>
                      <a:srgbClr val="F8FAFC"/>
                    </a:solidFill>
                  </a:tcPr>
                </a:tc>
                <a:tc>
                  <a:txBody>
                    <a:bodyPr wrap="square"/>
                    <a:lstStyle/>
                    <a:p>
                      <a:pPr algn="ctr"/>
                      <a:r>
                        <a:rPr sz="1000" b="0">
                          <a:solidFill>
                            <a:srgbClr val="0F172A"/>
                          </a:solidFill>
                          <a:latin typeface="Segoe UI"/>
                        </a:rPr>
                        <a:t>0.1584</a:t>
                      </a:r>
                    </a:p>
                  </a:txBody>
                  <a:tcPr marL="91440" marR="91440" marT="27432" marB="27432" anchor="ctr">
                    <a:solidFill>
                      <a:srgbClr val="F8FAFC"/>
                    </a:solidFill>
                  </a:tcPr>
                </a:tc>
                <a:tc>
                  <a:txBody>
                    <a:bodyPr wrap="square"/>
                    <a:lstStyle/>
                    <a:p>
                      <a:pPr algn="ctr"/>
                      <a:r>
                        <a:rPr sz="1000" b="0">
                          <a:solidFill>
                            <a:srgbClr val="0F172A"/>
                          </a:solidFill>
                          <a:latin typeface="Segoe UI"/>
                        </a:rPr>
                        <a:t>0.1352</a:t>
                      </a:r>
                    </a:p>
                  </a:txBody>
                  <a:tcPr marL="91440" marR="91440" marT="27432" marB="27432" anchor="ctr">
                    <a:solidFill>
                      <a:srgbClr val="F8FAFC"/>
                    </a:solidFill>
                  </a:tcPr>
                </a:tc>
                <a:tc>
                  <a:txBody>
                    <a:bodyPr wrap="square"/>
                    <a:lstStyle/>
                    <a:p>
                      <a:pPr algn="ctr"/>
                      <a:r>
                        <a:rPr sz="1000" b="0">
                          <a:solidFill>
                            <a:srgbClr val="0F172A"/>
                          </a:solidFill>
                          <a:latin typeface="Segoe UI"/>
                        </a:rPr>
                        <a:t>87.7%</a:t>
                      </a:r>
                    </a:p>
                  </a:txBody>
                  <a:tcPr marL="91440" marR="91440" marT="27432" marB="27432" anchor="ctr">
                    <a:solidFill>
                      <a:srgbClr val="F8FAFC"/>
                    </a:solidFill>
                  </a:tcPr>
                </a:tc>
                <a:tc>
                  <a:txBody>
                    <a:bodyPr wrap="square"/>
                    <a:lstStyle/>
                    <a:p>
                      <a:pPr algn="ctr"/>
                      <a:r>
                        <a:rPr sz="1000" b="0">
                          <a:solidFill>
                            <a:srgbClr val="0F172A"/>
                          </a:solidFill>
                          <a:latin typeface="Segoe UI"/>
                        </a:rPr>
                        <a:t>52,547</a:t>
                      </a:r>
                    </a:p>
                  </a:txBody>
                  <a:tcPr marL="91440" marR="91440" marT="27432" marB="27432" anchor="ctr">
                    <a:solidFill>
                      <a:srgbClr val="F8FAFC"/>
                    </a:solidFill>
                  </a:tcPr>
                </a:tc>
              </a:tr>
              <a:tr h="384048">
                <a:tc>
                  <a:txBody>
                    <a:bodyPr wrap="square"/>
                    <a:lstStyle/>
                    <a:p>
                      <a:pPr algn="l"/>
                      <a:r>
                        <a:rPr sz="1000" b="0">
                          <a:solidFill>
                            <a:srgbClr val="0F172A"/>
                          </a:solidFill>
                          <a:latin typeface="Segoe UI"/>
                        </a:rPr>
                        <a:t>Persistence (naive)</a:t>
                      </a:r>
                    </a:p>
                  </a:txBody>
                  <a:tcPr marL="91440" marR="91440" marT="27432" marB="27432" anchor="ctr">
                    <a:solidFill>
                      <a:srgbClr val="FFFFFF"/>
                    </a:solidFill>
                  </a:tcPr>
                </a:tc>
                <a:tc>
                  <a:txBody>
                    <a:bodyPr wrap="square"/>
                    <a:lstStyle/>
                    <a:p>
                      <a:pPr algn="ctr"/>
                      <a:r>
                        <a:rPr sz="1000" b="0">
                          <a:solidFill>
                            <a:srgbClr val="0F172A"/>
                          </a:solidFill>
                          <a:latin typeface="Segoe UI"/>
                        </a:rPr>
                        <a:t>0.3591</a:t>
                      </a:r>
                    </a:p>
                  </a:txBody>
                  <a:tcPr marL="91440" marR="91440" marT="27432" marB="27432" anchor="ctr">
                    <a:solidFill>
                      <a:srgbClr val="FFFFFF"/>
                    </a:solidFill>
                  </a:tcPr>
                </a:tc>
                <a:tc>
                  <a:txBody>
                    <a:bodyPr wrap="square"/>
                    <a:lstStyle/>
                    <a:p>
                      <a:pPr algn="ctr"/>
                      <a:r>
                        <a:rPr sz="1000" b="0">
                          <a:solidFill>
                            <a:srgbClr val="0F172A"/>
                          </a:solidFill>
                          <a:latin typeface="Segoe UI"/>
                        </a:rPr>
                        <a:t>0.3020</a:t>
                      </a:r>
                    </a:p>
                  </a:txBody>
                  <a:tcPr marL="91440" marR="91440" marT="27432" marB="27432" anchor="ctr">
                    <a:solidFill>
                      <a:srgbClr val="FFFFFF"/>
                    </a:solidFill>
                  </a:tcPr>
                </a:tc>
                <a:tc>
                  <a:txBody>
                    <a:bodyPr wrap="square"/>
                    <a:lstStyle/>
                    <a:p>
                      <a:pPr algn="ctr"/>
                      <a:r>
                        <a:rPr sz="1000" b="0">
                          <a:solidFill>
                            <a:srgbClr val="0F172A"/>
                          </a:solidFill>
                          <a:latin typeface="Segoe UI"/>
                        </a:rPr>
                        <a:t>4.2%</a:t>
                      </a:r>
                    </a:p>
                  </a:txBody>
                  <a:tcPr marL="91440" marR="91440" marT="27432" marB="27432" anchor="ctr">
                    <a:solidFill>
                      <a:srgbClr val="FFFFFF"/>
                    </a:solidFill>
                  </a:tcPr>
                </a:tc>
                <a:tc>
                  <a:txBody>
                    <a:bodyPr wrap="square"/>
                    <a:lstStyle/>
                    <a:p>
                      <a:pPr algn="ctr"/>
                      <a:r>
                        <a:rPr sz="1000" b="0">
                          <a:solidFill>
                            <a:srgbClr val="0F172A"/>
                          </a:solidFill>
                          <a:latin typeface="Segoe UI"/>
                        </a:rPr>
                        <a:t>0</a:t>
                      </a:r>
                    </a:p>
                  </a:txBody>
                  <a:tcPr marL="91440" marR="91440" marT="27432" marB="27432" anchor="ctr">
                    <a:solidFill>
                      <a:srgbClr val="FFFFFF"/>
                    </a:solidFill>
                  </a:tcPr>
                </a:tc>
              </a:tr>
            </a:tbl>
          </a:graphicData>
        </a:graphic>
      </p:graphicFrame>
      <p:sp>
        <p:nvSpPr>
          <p:cNvPr id="8" name="TextBox 7"/>
          <p:cNvSpPr txBox="1"/>
          <p:nvPr/>
        </p:nvSpPr>
        <p:spPr>
          <a:xfrm>
            <a:off x="7699248" y="3950208"/>
            <a:ext cx="3931920" cy="822960"/>
          </a:xfrm>
          <a:prstGeom prst="rect">
            <a:avLst/>
          </a:prstGeom>
          <a:noFill/>
        </p:spPr>
        <p:txBody>
          <a:bodyPr wrap="square" lIns="0" rIns="0" tIns="0" bIns="0" anchor="t">
            <a:spAutoFit/>
          </a:bodyPr>
          <a:lstStyle/>
          <a:p>
            <a:pPr algn="l">
              <a:lnSpc>
                <a:spcPct val="115000"/>
              </a:lnSpc>
              <a:spcAft>
                <a:spcPts val="400"/>
              </a:spcAft>
            </a:pPr>
            <a:r>
              <a:rPr sz="1050" b="0">
                <a:solidFill>
                  <a:srgbClr val="64748B"/>
                </a:solidFill>
                <a:latin typeface="Segoe UI"/>
              </a:rPr>
              <a:t>Identical data, identical split, identical budget. The recurrent model beats the linear probe by 17.9% and a 2-layer GRU by 25.7%.</a:t>
            </a:r>
          </a:p>
        </p:txBody>
      </p:sp>
      <p:sp>
        <p:nvSpPr>
          <p:cNvPr id="9" name="Rounded Rectangle 8"/>
          <p:cNvSpPr/>
          <p:nvPr/>
        </p:nvSpPr>
        <p:spPr>
          <a:xfrm>
            <a:off x="566928" y="4389120"/>
            <a:ext cx="11064240" cy="960120"/>
          </a:xfrm>
          <a:prstGeom prst="roundRect">
            <a:avLst>
              <a:gd name="adj" fmla="val 6000"/>
            </a:avLst>
          </a:prstGeom>
          <a:solidFill>
            <a:srgbClr val="ECFE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566928" y="4389120"/>
            <a:ext cx="50292" cy="960120"/>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41248" y="4572000"/>
            <a:ext cx="10607040" cy="640080"/>
          </a:xfrm>
          <a:prstGeom prst="rect">
            <a:avLst/>
          </a:prstGeom>
          <a:noFill/>
        </p:spPr>
        <p:txBody>
          <a:bodyPr wrap="square" lIns="0" rIns="0" tIns="0" bIns="0" anchor="t">
            <a:spAutoFit/>
          </a:bodyPr>
          <a:lstStyle/>
          <a:p>
            <a:pPr algn="l">
              <a:lnSpc>
                <a:spcPct val="120000"/>
              </a:lnSpc>
              <a:spcAft>
                <a:spcPts val="400"/>
              </a:spcAft>
            </a:pPr>
            <a:r>
              <a:rPr sz="1200" b="0">
                <a:solidFill>
                  <a:srgbClr val="0F172A"/>
                </a:solidFill>
                <a:latin typeface="Segoe UI"/>
              </a:rPr>
              <a:t>The honest caveat: the LSTM only wins once the three districts are pooled. Train the identical architecture on Sangrur alone and it scores 0.158 m — worse than the linear probe. Pooling is not a footnote, it is the difference.</a:t>
            </a:r>
          </a:p>
        </p:txBody>
      </p:sp>
      <p:sp>
        <p:nvSpPr>
          <p:cNvPr id="12" name="TextBox 11"/>
          <p:cNvSpPr txBox="1"/>
          <p:nvPr/>
        </p:nvSpPr>
        <p:spPr>
          <a:xfrm>
            <a:off x="566928" y="6419088"/>
            <a:ext cx="8229600" cy="237744"/>
          </a:xfrm>
          <a:prstGeom prst="rect">
            <a:avLst/>
          </a:prstGeom>
          <a:noFill/>
        </p:spPr>
        <p:txBody>
          <a:bodyPr wrap="square" lIns="0" rIns="0" tIns="0" bIns="0" anchor="t">
            <a:spAutoFit/>
          </a:bodyPr>
          <a:lstStyle/>
          <a:p>
            <a:pPr algn="l">
              <a:lnSpc>
                <a:spcPct val="100000"/>
              </a:lnSpc>
              <a:spcAft>
                <a:spcPts val="400"/>
              </a:spcAft>
            </a:pPr>
            <a:r>
              <a:rPr sz="850" b="0">
                <a:solidFill>
                  <a:srgbClr val="94A3B8"/>
                </a:solidFill>
                <a:latin typeface="Segoe UI"/>
              </a:rPr>
              <a:t>AquaCast-Punjab  ·  Sankalp — Climate-Smart Agriculture, Water &amp; Rural Credit</a:t>
            </a:r>
          </a:p>
        </p:txBody>
      </p:sp>
      <p:sp>
        <p:nvSpPr>
          <p:cNvPr id="13" name="TextBox 12"/>
          <p:cNvSpPr txBox="1"/>
          <p:nvPr/>
        </p:nvSpPr>
        <p:spPr>
          <a:xfrm>
            <a:off x="10972800" y="6419088"/>
            <a:ext cx="685800" cy="237744"/>
          </a:xfrm>
          <a:prstGeom prst="rect">
            <a:avLst/>
          </a:prstGeom>
          <a:noFill/>
        </p:spPr>
        <p:txBody>
          <a:bodyPr wrap="square" lIns="0" rIns="0" tIns="0" bIns="0" anchor="t">
            <a:spAutoFit/>
          </a:bodyPr>
          <a:lstStyle/>
          <a:p>
            <a:pPr algn="r">
              <a:lnSpc>
                <a:spcPct val="100000"/>
              </a:lnSpc>
              <a:spcAft>
                <a:spcPts val="400"/>
              </a:spcAft>
            </a:pPr>
            <a:r>
              <a:rPr sz="850" b="1">
                <a:solidFill>
                  <a:srgbClr val="94A3B8"/>
                </a:solidFill>
                <a:latin typeface="Segoe U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11064240" cy="256032"/>
          </a:xfrm>
          <a:prstGeom prst="rect">
            <a:avLst/>
          </a:prstGeom>
          <a:noFill/>
        </p:spPr>
        <p:txBody>
          <a:bodyPr wrap="square" lIns="0" rIns="0" tIns="0" bIns="0" anchor="t">
            <a:spAutoFit/>
          </a:bodyPr>
          <a:lstStyle/>
          <a:p>
            <a:pPr algn="l">
              <a:lnSpc>
                <a:spcPct val="100000"/>
              </a:lnSpc>
              <a:spcAft>
                <a:spcPts val="400"/>
              </a:spcAft>
            </a:pPr>
            <a:r>
              <a:rPr sz="1050" b="1">
                <a:solidFill>
                  <a:srgbClr val="0369A1"/>
                </a:solidFill>
                <a:latin typeface="Segoe UI"/>
              </a:rPr>
              <a:t>EXPLAINABILITY</a:t>
            </a:r>
          </a:p>
        </p:txBody>
      </p:sp>
      <p:sp>
        <p:nvSpPr>
          <p:cNvPr id="4" name="TextBox 3"/>
          <p:cNvSpPr txBox="1"/>
          <p:nvPr/>
        </p:nvSpPr>
        <p:spPr>
          <a:xfrm>
            <a:off x="566928" y="640080"/>
            <a:ext cx="11064240" cy="658368"/>
          </a:xfrm>
          <a:prstGeom prst="rect">
            <a:avLst/>
          </a:prstGeom>
          <a:noFill/>
        </p:spPr>
        <p:txBody>
          <a:bodyPr wrap="square" lIns="0" rIns="0" tIns="0" bIns="0" anchor="t">
            <a:spAutoFit/>
          </a:bodyPr>
          <a:lstStyle/>
          <a:p>
            <a:pPr algn="l">
              <a:lnSpc>
                <a:spcPct val="100000"/>
              </a:lnSpc>
              <a:spcAft>
                <a:spcPts val="400"/>
              </a:spcAft>
            </a:pPr>
            <a:r>
              <a:rPr sz="2500" b="1">
                <a:solidFill>
                  <a:srgbClr val="0F172A"/>
                </a:solidFill>
                <a:latin typeface="Segoe UI"/>
              </a:rPr>
              <a:t>Open the black box: what the network actually uses</a:t>
            </a:r>
          </a:p>
        </p:txBody>
      </p:sp>
      <p:sp>
        <p:nvSpPr>
          <p:cNvPr id="5" name="Rectangle 4"/>
          <p:cNvSpPr/>
          <p:nvPr/>
        </p:nvSpPr>
        <p:spPr>
          <a:xfrm>
            <a:off x="566928" y="1335024"/>
            <a:ext cx="658368"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6" name="Picture 5" descr="importance.png"/>
          <p:cNvPicPr>
            <a:picLocks noChangeAspect="1"/>
          </p:cNvPicPr>
          <p:nvPr/>
        </p:nvPicPr>
        <p:blipFill>
          <a:blip r:embed="rId2"/>
          <a:stretch>
            <a:fillRect/>
          </a:stretch>
        </p:blipFill>
        <p:spPr>
          <a:xfrm>
            <a:off x="991353" y="1554480"/>
            <a:ext cx="6009148" cy="2606040"/>
          </a:xfrm>
          <a:prstGeom prst="rect">
            <a:avLst/>
          </a:prstGeom>
        </p:spPr>
      </p:pic>
      <p:sp>
        <p:nvSpPr>
          <p:cNvPr id="7" name="TextBox 6"/>
          <p:cNvSpPr txBox="1"/>
          <p:nvPr/>
        </p:nvSpPr>
        <p:spPr>
          <a:xfrm>
            <a:off x="7699248" y="1554480"/>
            <a:ext cx="3931920" cy="365760"/>
          </a:xfrm>
          <a:prstGeom prst="rect">
            <a:avLst/>
          </a:prstGeom>
          <a:noFill/>
        </p:spPr>
        <p:txBody>
          <a:bodyPr wrap="square" lIns="0" rIns="0" tIns="0" bIns="0" anchor="t">
            <a:spAutoFit/>
          </a:bodyPr>
          <a:lstStyle/>
          <a:p>
            <a:pPr algn="l">
              <a:lnSpc>
                <a:spcPct val="100000"/>
              </a:lnSpc>
              <a:spcAft>
                <a:spcPts val="400"/>
              </a:spcAft>
            </a:pPr>
            <a:r>
              <a:rPr sz="1350" b="1">
                <a:solidFill>
                  <a:srgbClr val="0F172A"/>
                </a:solidFill>
                <a:latin typeface="Segoe UI"/>
              </a:rPr>
              <a:t>Four interpretability views, all live</a:t>
            </a:r>
          </a:p>
        </p:txBody>
      </p:sp>
      <p:sp>
        <p:nvSpPr>
          <p:cNvPr id="8" name="Oval 7"/>
          <p:cNvSpPr/>
          <p:nvPr/>
        </p:nvSpPr>
        <p:spPr>
          <a:xfrm>
            <a:off x="7699248" y="2061972"/>
            <a:ext cx="77724" cy="77724"/>
          </a:xfrm>
          <a:prstGeom prst="ellipse">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7936992" y="1965960"/>
            <a:ext cx="3694176" cy="274320"/>
          </a:xfrm>
          <a:prstGeom prst="rect">
            <a:avLst/>
          </a:prstGeom>
          <a:noFill/>
        </p:spPr>
        <p:txBody>
          <a:bodyPr wrap="square" lIns="0" rIns="0" tIns="0" bIns="0" anchor="t">
            <a:spAutoFit/>
          </a:bodyPr>
          <a:lstStyle/>
          <a:p>
            <a:pPr algn="l">
              <a:lnSpc>
                <a:spcPct val="100000"/>
              </a:lnSpc>
              <a:spcAft>
                <a:spcPts val="400"/>
              </a:spcAft>
            </a:pPr>
            <a:r>
              <a:rPr sz="1150" b="1">
                <a:solidFill>
                  <a:srgbClr val="0F172A"/>
                </a:solidFill>
                <a:latin typeface="Segoe UI"/>
              </a:rPr>
              <a:t>Permutation importance</a:t>
            </a:r>
          </a:p>
        </p:txBody>
      </p:sp>
      <p:sp>
        <p:nvSpPr>
          <p:cNvPr id="10" name="TextBox 9"/>
          <p:cNvSpPr txBox="1"/>
          <p:nvPr/>
        </p:nvSpPr>
        <p:spPr>
          <a:xfrm>
            <a:off x="7936992" y="2208276"/>
            <a:ext cx="3694176" cy="548640"/>
          </a:xfrm>
          <a:prstGeom prst="rect">
            <a:avLst/>
          </a:prstGeom>
          <a:noFill/>
        </p:spPr>
        <p:txBody>
          <a:bodyPr wrap="square" lIns="0" rIns="0" tIns="0" bIns="0" anchor="t">
            <a:spAutoFit/>
          </a:bodyPr>
          <a:lstStyle/>
          <a:p>
            <a:pPr algn="l">
              <a:lnSpc>
                <a:spcPct val="98000"/>
              </a:lnSpc>
              <a:spcAft>
                <a:spcPts val="400"/>
              </a:spcAft>
            </a:pPr>
            <a:r>
              <a:rPr sz="1000" b="0">
                <a:solidFill>
                  <a:srgbClr val="64748B"/>
                </a:solidFill>
                <a:latin typeface="Segoe UI"/>
              </a:rPr>
              <a:t>shuffle each channel, measure the RMSE damage in metres. The calendar carries 72.1%.</a:t>
            </a:r>
          </a:p>
        </p:txBody>
      </p:sp>
      <p:sp>
        <p:nvSpPr>
          <p:cNvPr id="11" name="Oval 10"/>
          <p:cNvSpPr/>
          <p:nvPr/>
        </p:nvSpPr>
        <p:spPr>
          <a:xfrm>
            <a:off x="7699248" y="2702052"/>
            <a:ext cx="77724" cy="77724"/>
          </a:xfrm>
          <a:prstGeom prst="ellipse">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7936992" y="2606040"/>
            <a:ext cx="3694176" cy="274320"/>
          </a:xfrm>
          <a:prstGeom prst="rect">
            <a:avLst/>
          </a:prstGeom>
          <a:noFill/>
        </p:spPr>
        <p:txBody>
          <a:bodyPr wrap="square" lIns="0" rIns="0" tIns="0" bIns="0" anchor="t">
            <a:spAutoFit/>
          </a:bodyPr>
          <a:lstStyle/>
          <a:p>
            <a:pPr algn="l">
              <a:lnSpc>
                <a:spcPct val="100000"/>
              </a:lnSpc>
              <a:spcAft>
                <a:spcPts val="400"/>
              </a:spcAft>
            </a:pPr>
            <a:r>
              <a:rPr sz="1150" b="1">
                <a:solidFill>
                  <a:srgbClr val="0F172A"/>
                </a:solidFill>
                <a:latin typeface="Segoe UI"/>
              </a:rPr>
              <a:t>Live training curve</a:t>
            </a:r>
          </a:p>
        </p:txBody>
      </p:sp>
      <p:sp>
        <p:nvSpPr>
          <p:cNvPr id="13" name="TextBox 12"/>
          <p:cNvSpPr txBox="1"/>
          <p:nvPr/>
        </p:nvSpPr>
        <p:spPr>
          <a:xfrm>
            <a:off x="7936992" y="2848356"/>
            <a:ext cx="3694176" cy="548640"/>
          </a:xfrm>
          <a:prstGeom prst="rect">
            <a:avLst/>
          </a:prstGeom>
          <a:noFill/>
        </p:spPr>
        <p:txBody>
          <a:bodyPr wrap="square" lIns="0" rIns="0" tIns="0" bIns="0" anchor="t">
            <a:spAutoFit/>
          </a:bodyPr>
          <a:lstStyle/>
          <a:p>
            <a:pPr algn="l">
              <a:lnSpc>
                <a:spcPct val="98000"/>
              </a:lnSpc>
              <a:spcAft>
                <a:spcPts val="400"/>
              </a:spcAft>
            </a:pPr>
            <a:r>
              <a:rPr sz="1000" b="0">
                <a:solidFill>
                  <a:srgbClr val="64748B"/>
                </a:solidFill>
                <a:latin typeface="Segoe UI"/>
              </a:rPr>
              <a:t>train vs validation RMSE, epoch by epoch, from the shipped history.</a:t>
            </a:r>
          </a:p>
        </p:txBody>
      </p:sp>
      <p:sp>
        <p:nvSpPr>
          <p:cNvPr id="14" name="Oval 13"/>
          <p:cNvSpPr/>
          <p:nvPr/>
        </p:nvSpPr>
        <p:spPr>
          <a:xfrm>
            <a:off x="7699248" y="3342132"/>
            <a:ext cx="77724" cy="77724"/>
          </a:xfrm>
          <a:prstGeom prst="ellipse">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7936992" y="3246120"/>
            <a:ext cx="3694176" cy="274320"/>
          </a:xfrm>
          <a:prstGeom prst="rect">
            <a:avLst/>
          </a:prstGeom>
          <a:noFill/>
        </p:spPr>
        <p:txBody>
          <a:bodyPr wrap="square" lIns="0" rIns="0" tIns="0" bIns="0" anchor="t">
            <a:spAutoFit/>
          </a:bodyPr>
          <a:lstStyle/>
          <a:p>
            <a:pPr algn="l">
              <a:lnSpc>
                <a:spcPct val="100000"/>
              </a:lnSpc>
              <a:spcAft>
                <a:spcPts val="400"/>
              </a:spcAft>
            </a:pPr>
            <a:r>
              <a:rPr sz="1150" b="1">
                <a:solidFill>
                  <a:srgbClr val="0F172A"/>
                </a:solidFill>
                <a:latin typeface="Segoe UI"/>
              </a:rPr>
              <a:t>MC-dropout bands</a:t>
            </a:r>
          </a:p>
        </p:txBody>
      </p:sp>
      <p:sp>
        <p:nvSpPr>
          <p:cNvPr id="16" name="TextBox 15"/>
          <p:cNvSpPr txBox="1"/>
          <p:nvPr/>
        </p:nvSpPr>
        <p:spPr>
          <a:xfrm>
            <a:off x="7936992" y="3488436"/>
            <a:ext cx="3694176" cy="548640"/>
          </a:xfrm>
          <a:prstGeom prst="rect">
            <a:avLst/>
          </a:prstGeom>
          <a:noFill/>
        </p:spPr>
        <p:txBody>
          <a:bodyPr wrap="square" lIns="0" rIns="0" tIns="0" bIns="0" anchor="t">
            <a:spAutoFit/>
          </a:bodyPr>
          <a:lstStyle/>
          <a:p>
            <a:pPr algn="l">
              <a:lnSpc>
                <a:spcPct val="98000"/>
              </a:lnSpc>
              <a:spcAft>
                <a:spcPts val="400"/>
              </a:spcAft>
            </a:pPr>
            <a:r>
              <a:rPr sz="1000" b="0">
                <a:solidFill>
                  <a:srgbClr val="64748B"/>
                </a:solidFill>
                <a:latin typeface="Segoe UI"/>
              </a:rPr>
              <a:t>60 stochastic forward passes — a real epistemic σ, not a ±5% fan chart.</a:t>
            </a:r>
          </a:p>
        </p:txBody>
      </p:sp>
      <p:sp>
        <p:nvSpPr>
          <p:cNvPr id="17" name="Oval 16"/>
          <p:cNvSpPr/>
          <p:nvPr/>
        </p:nvSpPr>
        <p:spPr>
          <a:xfrm>
            <a:off x="7699248" y="3982212"/>
            <a:ext cx="77724" cy="77724"/>
          </a:xfrm>
          <a:prstGeom prst="ellipse">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7936992" y="3886200"/>
            <a:ext cx="3694176" cy="274320"/>
          </a:xfrm>
          <a:prstGeom prst="rect">
            <a:avLst/>
          </a:prstGeom>
          <a:noFill/>
        </p:spPr>
        <p:txBody>
          <a:bodyPr wrap="square" lIns="0" rIns="0" tIns="0" bIns="0" anchor="t">
            <a:spAutoFit/>
          </a:bodyPr>
          <a:lstStyle/>
          <a:p>
            <a:pPr algn="l">
              <a:lnSpc>
                <a:spcPct val="100000"/>
              </a:lnSpc>
              <a:spcAft>
                <a:spcPts val="400"/>
              </a:spcAft>
            </a:pPr>
            <a:r>
              <a:rPr sz="1150" b="1">
                <a:solidFill>
                  <a:srgbClr val="0F172A"/>
                </a:solidFill>
                <a:latin typeface="Segoe UI"/>
              </a:rPr>
              <a:t>Gradient saliency</a:t>
            </a:r>
          </a:p>
        </p:txBody>
      </p:sp>
      <p:sp>
        <p:nvSpPr>
          <p:cNvPr id="19" name="TextBox 18"/>
          <p:cNvSpPr txBox="1"/>
          <p:nvPr/>
        </p:nvSpPr>
        <p:spPr>
          <a:xfrm>
            <a:off x="7936992" y="4128516"/>
            <a:ext cx="3694176" cy="548640"/>
          </a:xfrm>
          <a:prstGeom prst="rect">
            <a:avLst/>
          </a:prstGeom>
          <a:noFill/>
        </p:spPr>
        <p:txBody>
          <a:bodyPr wrap="square" lIns="0" rIns="0" tIns="0" bIns="0" anchor="t">
            <a:spAutoFit/>
          </a:bodyPr>
          <a:lstStyle/>
          <a:p>
            <a:pPr algn="l">
              <a:lnSpc>
                <a:spcPct val="98000"/>
              </a:lnSpc>
              <a:spcAft>
                <a:spcPts val="400"/>
              </a:spcAft>
            </a:pPr>
            <a:r>
              <a:rPr sz="1000" b="0">
                <a:solidFill>
                  <a:srgbClr val="64748B"/>
                </a:solidFill>
                <a:latin typeface="Segoe UI"/>
              </a:rPr>
              <a:t>input-gradient attribution over the 60-day window.</a:t>
            </a:r>
          </a:p>
        </p:txBody>
      </p:sp>
      <p:sp>
        <p:nvSpPr>
          <p:cNvPr id="20" name="TextBox 19"/>
          <p:cNvSpPr txBox="1"/>
          <p:nvPr/>
        </p:nvSpPr>
        <p:spPr>
          <a:xfrm>
            <a:off x="566928" y="4434840"/>
            <a:ext cx="6858000" cy="868680"/>
          </a:xfrm>
          <a:prstGeom prst="rect">
            <a:avLst/>
          </a:prstGeom>
          <a:noFill/>
        </p:spPr>
        <p:txBody>
          <a:bodyPr wrap="square" lIns="0" rIns="0" tIns="0" bIns="0" anchor="t">
            <a:spAutoFit/>
          </a:bodyPr>
          <a:lstStyle/>
          <a:p>
            <a:pPr algn="l">
              <a:lnSpc>
                <a:spcPct val="120000"/>
              </a:lnSpc>
              <a:spcAft>
                <a:spcPts val="400"/>
              </a:spcAft>
            </a:pPr>
            <a:r>
              <a:rPr sz="1100" b="0">
                <a:solidFill>
                  <a:srgbClr val="0F172A"/>
                </a:solidFill>
                <a:latin typeface="Segoe UI"/>
              </a:rPr>
              <a:t>Read it honestly: doy_sin dominates at 46.0%. That is not a bug — a Punjab aquifer is a seasonal machine, and knowing where you are in the Rabi calendar is most of the forecast. Weather moves the residual.</a:t>
            </a:r>
          </a:p>
        </p:txBody>
      </p:sp>
      <p:sp>
        <p:nvSpPr>
          <p:cNvPr id="21" name="TextBox 20"/>
          <p:cNvSpPr txBox="1"/>
          <p:nvPr/>
        </p:nvSpPr>
        <p:spPr>
          <a:xfrm>
            <a:off x="566928" y="6419088"/>
            <a:ext cx="8229600" cy="237744"/>
          </a:xfrm>
          <a:prstGeom prst="rect">
            <a:avLst/>
          </a:prstGeom>
          <a:noFill/>
        </p:spPr>
        <p:txBody>
          <a:bodyPr wrap="square" lIns="0" rIns="0" tIns="0" bIns="0" anchor="t">
            <a:spAutoFit/>
          </a:bodyPr>
          <a:lstStyle/>
          <a:p>
            <a:pPr algn="l">
              <a:lnSpc>
                <a:spcPct val="100000"/>
              </a:lnSpc>
              <a:spcAft>
                <a:spcPts val="400"/>
              </a:spcAft>
            </a:pPr>
            <a:r>
              <a:rPr sz="850" b="0">
                <a:solidFill>
                  <a:srgbClr val="94A3B8"/>
                </a:solidFill>
                <a:latin typeface="Segoe UI"/>
              </a:rPr>
              <a:t>AquaCast-Punjab  ·  Sankalp — Climate-Smart Agriculture, Water &amp; Rural Credit</a:t>
            </a:r>
          </a:p>
        </p:txBody>
      </p:sp>
      <p:sp>
        <p:nvSpPr>
          <p:cNvPr id="22" name="TextBox 21"/>
          <p:cNvSpPr txBox="1"/>
          <p:nvPr/>
        </p:nvSpPr>
        <p:spPr>
          <a:xfrm>
            <a:off x="10972800" y="6419088"/>
            <a:ext cx="685800" cy="237744"/>
          </a:xfrm>
          <a:prstGeom prst="rect">
            <a:avLst/>
          </a:prstGeom>
          <a:noFill/>
        </p:spPr>
        <p:txBody>
          <a:bodyPr wrap="square" lIns="0" rIns="0" tIns="0" bIns="0" anchor="t">
            <a:spAutoFit/>
          </a:bodyPr>
          <a:lstStyle/>
          <a:p>
            <a:pPr algn="r">
              <a:lnSpc>
                <a:spcPct val="100000"/>
              </a:lnSpc>
              <a:spcAft>
                <a:spcPts val="400"/>
              </a:spcAft>
            </a:pPr>
            <a:r>
              <a:rPr sz="850" b="1">
                <a:solidFill>
                  <a:srgbClr val="94A3B8"/>
                </a:solidFill>
                <a:latin typeface="Segoe U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11064240" cy="256032"/>
          </a:xfrm>
          <a:prstGeom prst="rect">
            <a:avLst/>
          </a:prstGeom>
          <a:noFill/>
        </p:spPr>
        <p:txBody>
          <a:bodyPr wrap="square" lIns="0" rIns="0" tIns="0" bIns="0" anchor="t">
            <a:spAutoFit/>
          </a:bodyPr>
          <a:lstStyle/>
          <a:p>
            <a:pPr algn="l">
              <a:lnSpc>
                <a:spcPct val="100000"/>
              </a:lnSpc>
              <a:spcAft>
                <a:spcPts val="400"/>
              </a:spcAft>
            </a:pPr>
            <a:r>
              <a:rPr sz="1050" b="1">
                <a:solidFill>
                  <a:srgbClr val="0369A1"/>
                </a:solidFill>
                <a:latin typeface="Segoe UI"/>
              </a:rPr>
              <a:t>ENGINEERING HONESTY</a:t>
            </a:r>
          </a:p>
        </p:txBody>
      </p:sp>
      <p:sp>
        <p:nvSpPr>
          <p:cNvPr id="4" name="TextBox 3"/>
          <p:cNvSpPr txBox="1"/>
          <p:nvPr/>
        </p:nvSpPr>
        <p:spPr>
          <a:xfrm>
            <a:off x="566928" y="640080"/>
            <a:ext cx="11064240" cy="658368"/>
          </a:xfrm>
          <a:prstGeom prst="rect">
            <a:avLst/>
          </a:prstGeom>
          <a:noFill/>
        </p:spPr>
        <p:txBody>
          <a:bodyPr wrap="square" lIns="0" rIns="0" tIns="0" bIns="0" anchor="t">
            <a:spAutoFit/>
          </a:bodyPr>
          <a:lstStyle/>
          <a:p>
            <a:pPr algn="l">
              <a:lnSpc>
                <a:spcPct val="100000"/>
              </a:lnSpc>
              <a:spcAft>
                <a:spcPts val="400"/>
              </a:spcAft>
            </a:pPr>
            <a:r>
              <a:rPr sz="2500" b="1">
                <a:solidFill>
                  <a:srgbClr val="0F172A"/>
                </a:solidFill>
                <a:latin typeface="Segoe UI"/>
              </a:rPr>
              <a:t>We audited our own evaluation. It was wrong twice.</a:t>
            </a:r>
          </a:p>
        </p:txBody>
      </p:sp>
      <p:sp>
        <p:nvSpPr>
          <p:cNvPr id="5" name="Rectangle 4"/>
          <p:cNvSpPr/>
          <p:nvPr/>
        </p:nvSpPr>
        <p:spPr>
          <a:xfrm>
            <a:off x="566928" y="1335024"/>
            <a:ext cx="658368"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6" name="Picture 5" descr="self_audit.png"/>
          <p:cNvPicPr>
            <a:picLocks noChangeAspect="1"/>
          </p:cNvPicPr>
          <p:nvPr/>
        </p:nvPicPr>
        <p:blipFill>
          <a:blip r:embed="rId2"/>
          <a:stretch>
            <a:fillRect/>
          </a:stretch>
        </p:blipFill>
        <p:spPr>
          <a:xfrm>
            <a:off x="566928" y="1614320"/>
            <a:ext cx="5852160" cy="2486359"/>
          </a:xfrm>
          <a:prstGeom prst="rect">
            <a:avLst/>
          </a:prstGeom>
        </p:spPr>
      </p:pic>
      <p:sp>
        <p:nvSpPr>
          <p:cNvPr id="7" name="Rounded Rectangle 6"/>
          <p:cNvSpPr/>
          <p:nvPr/>
        </p:nvSpPr>
        <p:spPr>
          <a:xfrm>
            <a:off x="6675120" y="1554480"/>
            <a:ext cx="4956048" cy="1481328"/>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6675120" y="1554480"/>
            <a:ext cx="50292" cy="1481328"/>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931152" y="1737360"/>
            <a:ext cx="4480560" cy="274320"/>
          </a:xfrm>
          <a:prstGeom prst="rect">
            <a:avLst/>
          </a:prstGeom>
          <a:noFill/>
        </p:spPr>
        <p:txBody>
          <a:bodyPr wrap="square" lIns="0" rIns="0" tIns="0" bIns="0" anchor="t">
            <a:spAutoFit/>
          </a:bodyPr>
          <a:lstStyle/>
          <a:p>
            <a:pPr algn="l">
              <a:lnSpc>
                <a:spcPct val="100000"/>
              </a:lnSpc>
              <a:spcAft>
                <a:spcPts val="400"/>
              </a:spcAft>
            </a:pPr>
            <a:r>
              <a:rPr sz="1300" b="1">
                <a:solidFill>
                  <a:srgbClr val="0F172A"/>
                </a:solidFill>
                <a:latin typeface="Segoe UI"/>
              </a:rPr>
              <a:t>Stale forecast window</a:t>
            </a:r>
          </a:p>
        </p:txBody>
      </p:sp>
      <p:sp>
        <p:nvSpPr>
          <p:cNvPr id="10" name="TextBox 9"/>
          <p:cNvSpPr txBox="1"/>
          <p:nvPr/>
        </p:nvSpPr>
        <p:spPr>
          <a:xfrm>
            <a:off x="6931152" y="2066544"/>
            <a:ext cx="4480560" cy="914400"/>
          </a:xfrm>
          <a:prstGeom prst="rect">
            <a:avLst/>
          </a:prstGeom>
          <a:noFill/>
        </p:spPr>
        <p:txBody>
          <a:bodyPr wrap="square" lIns="0" rIns="0" tIns="0" bIns="0" anchor="t">
            <a:spAutoFit/>
          </a:bodyPr>
          <a:lstStyle/>
          <a:p>
            <a:pPr algn="l">
              <a:lnSpc>
                <a:spcPct val="114000"/>
              </a:lnSpc>
              <a:spcAft>
                <a:spcPts val="400"/>
              </a:spcAft>
            </a:pPr>
            <a:r>
              <a:rPr sz="1050" b="0">
                <a:solidFill>
                  <a:srgbClr val="64748B"/>
                </a:solidFill>
                <a:latin typeface="Segoe UI"/>
              </a:rPr>
              <a:t>build_sequences stops 90 days short of the record because every training window needs a realised target — so its last row forecast from 90 days BEFORE today. The dashboard's live forecast read -0.01 m. With live_window() it reads -0.43 m, which is what October→December has done in every year of the record.</a:t>
            </a:r>
          </a:p>
        </p:txBody>
      </p:sp>
      <p:sp>
        <p:nvSpPr>
          <p:cNvPr id="11" name="Rounded Rectangle 10"/>
          <p:cNvSpPr/>
          <p:nvPr/>
        </p:nvSpPr>
        <p:spPr>
          <a:xfrm>
            <a:off x="6675120" y="3182112"/>
            <a:ext cx="4956048" cy="1481328"/>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6675120" y="3182112"/>
            <a:ext cx="50292" cy="1481328"/>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931152" y="3364992"/>
            <a:ext cx="4480560" cy="274320"/>
          </a:xfrm>
          <a:prstGeom prst="rect">
            <a:avLst/>
          </a:prstGeom>
          <a:noFill/>
        </p:spPr>
        <p:txBody>
          <a:bodyPr wrap="square" lIns="0" rIns="0" tIns="0" bIns="0" anchor="t">
            <a:spAutoFit/>
          </a:bodyPr>
          <a:lstStyle/>
          <a:p>
            <a:pPr algn="l">
              <a:lnSpc>
                <a:spcPct val="100000"/>
              </a:lnSpc>
              <a:spcAft>
                <a:spcPts val="400"/>
              </a:spcAft>
            </a:pPr>
            <a:r>
              <a:rPr sz="1300" b="1">
                <a:solidFill>
                  <a:srgbClr val="0F172A"/>
                </a:solidFill>
                <a:latin typeface="Segoe UI"/>
              </a:rPr>
              <a:t>Trend-prior mismatch</a:t>
            </a:r>
          </a:p>
        </p:txBody>
      </p:sp>
      <p:sp>
        <p:nvSpPr>
          <p:cNvPr id="14" name="TextBox 13"/>
          <p:cNvSpPr txBox="1"/>
          <p:nvPr/>
        </p:nvSpPr>
        <p:spPr>
          <a:xfrm>
            <a:off x="6931152" y="3694176"/>
            <a:ext cx="4480560" cy="914400"/>
          </a:xfrm>
          <a:prstGeom prst="rect">
            <a:avLst/>
          </a:prstGeom>
          <a:noFill/>
        </p:spPr>
        <p:txBody>
          <a:bodyPr wrap="square" lIns="0" rIns="0" tIns="0" bIns="0" anchor="t">
            <a:spAutoFit/>
          </a:bodyPr>
          <a:lstStyle/>
          <a:p>
            <a:pPr algn="l">
              <a:lnSpc>
                <a:spcPct val="114000"/>
              </a:lnSpc>
              <a:spcAft>
                <a:spcPts val="400"/>
              </a:spcAft>
            </a:pPr>
            <a:r>
              <a:rPr sz="1050" b="0">
                <a:solidFill>
                  <a:srgbClr val="64748B"/>
                </a:solidFill>
                <a:latin typeface="Segoe UI"/>
              </a:rPr>
              <a:t>predict() re-adds the depletion prior (rate × horizon), but the ground truth it was scored against did not. That faked a +0.19 m bias and published an RMSE of 0.21 m where the true figure was 0.117 m. R² went 0.789 → 0.935; skill 38.2% → 67.4%.</a:t>
            </a:r>
          </a:p>
        </p:txBody>
      </p:sp>
      <p:sp>
        <p:nvSpPr>
          <p:cNvPr id="15" name="Rounded Rectangle 14"/>
          <p:cNvSpPr/>
          <p:nvPr/>
        </p:nvSpPr>
        <p:spPr>
          <a:xfrm>
            <a:off x="566928" y="4498848"/>
            <a:ext cx="5852160" cy="868680"/>
          </a:xfrm>
          <a:prstGeom prst="roundRect">
            <a:avLst>
              <a:gd name="adj" fmla="val 6000"/>
            </a:avLst>
          </a:prstGeom>
          <a:solidFill>
            <a:srgbClr val="F0FDF4"/>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566928" y="4498848"/>
            <a:ext cx="50292" cy="868680"/>
          </a:xfrm>
          <a:prstGeom prst="rect">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41248" y="4681728"/>
            <a:ext cx="5394960" cy="566928"/>
          </a:xfrm>
          <a:prstGeom prst="rect">
            <a:avLst/>
          </a:prstGeom>
          <a:noFill/>
        </p:spPr>
        <p:txBody>
          <a:bodyPr wrap="square" lIns="0" rIns="0" tIns="0" bIns="0" anchor="t">
            <a:spAutoFit/>
          </a:bodyPr>
          <a:lstStyle/>
          <a:p>
            <a:pPr algn="l">
              <a:lnSpc>
                <a:spcPct val="120000"/>
              </a:lnSpc>
              <a:spcAft>
                <a:spcPts val="400"/>
              </a:spcAft>
            </a:pPr>
            <a:r>
              <a:rPr sz="1150" b="0">
                <a:solidFill>
                  <a:srgbClr val="0F172A"/>
                </a:solidFill>
                <a:latin typeface="Segoe UI"/>
              </a:rPr>
              <a:t>Both are now regression-tested in tests/smoke_test.py — 24 assertions that fail if either comes back.</a:t>
            </a:r>
          </a:p>
        </p:txBody>
      </p:sp>
      <p:sp>
        <p:nvSpPr>
          <p:cNvPr id="18" name="TextBox 17"/>
          <p:cNvSpPr txBox="1"/>
          <p:nvPr/>
        </p:nvSpPr>
        <p:spPr>
          <a:xfrm>
            <a:off x="566928" y="6419088"/>
            <a:ext cx="8229600" cy="237744"/>
          </a:xfrm>
          <a:prstGeom prst="rect">
            <a:avLst/>
          </a:prstGeom>
          <a:noFill/>
        </p:spPr>
        <p:txBody>
          <a:bodyPr wrap="square" lIns="0" rIns="0" tIns="0" bIns="0" anchor="t">
            <a:spAutoFit/>
          </a:bodyPr>
          <a:lstStyle/>
          <a:p>
            <a:pPr algn="l">
              <a:lnSpc>
                <a:spcPct val="100000"/>
              </a:lnSpc>
              <a:spcAft>
                <a:spcPts val="400"/>
              </a:spcAft>
            </a:pPr>
            <a:r>
              <a:rPr sz="850" b="0">
                <a:solidFill>
                  <a:srgbClr val="94A3B8"/>
                </a:solidFill>
                <a:latin typeface="Segoe UI"/>
              </a:rPr>
              <a:t>AquaCast-Punjab  ·  Sankalp — Climate-Smart Agriculture, Water &amp; Rural Credit</a:t>
            </a:r>
          </a:p>
        </p:txBody>
      </p:sp>
      <p:sp>
        <p:nvSpPr>
          <p:cNvPr id="19" name="TextBox 18"/>
          <p:cNvSpPr txBox="1"/>
          <p:nvPr/>
        </p:nvSpPr>
        <p:spPr>
          <a:xfrm>
            <a:off x="10972800" y="6419088"/>
            <a:ext cx="685800" cy="237744"/>
          </a:xfrm>
          <a:prstGeom prst="rect">
            <a:avLst/>
          </a:prstGeom>
          <a:noFill/>
        </p:spPr>
        <p:txBody>
          <a:bodyPr wrap="square" lIns="0" rIns="0" tIns="0" bIns="0" anchor="t">
            <a:spAutoFit/>
          </a:bodyPr>
          <a:lstStyle/>
          <a:p>
            <a:pPr algn="r">
              <a:lnSpc>
                <a:spcPct val="100000"/>
              </a:lnSpc>
              <a:spcAft>
                <a:spcPts val="400"/>
              </a:spcAft>
            </a:pPr>
            <a:r>
              <a:rPr sz="850" b="1">
                <a:solidFill>
                  <a:srgbClr val="94A3B8"/>
                </a:solidFill>
                <a:latin typeface="Segoe U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E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395728"/>
            <a:ext cx="12191695" cy="1920240"/>
          </a:xfrm>
          <a:prstGeom prst="rect">
            <a:avLst/>
          </a:prstGeom>
          <a:solidFill>
            <a:srgbClr val="13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2395728"/>
            <a:ext cx="82296" cy="1920240"/>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2670048"/>
            <a:ext cx="10607040" cy="457200"/>
          </a:xfrm>
          <a:prstGeom prst="rect">
            <a:avLst/>
          </a:prstGeom>
          <a:noFill/>
        </p:spPr>
        <p:txBody>
          <a:bodyPr wrap="square" lIns="0" rIns="0" tIns="0" bIns="0" anchor="t">
            <a:spAutoFit/>
          </a:bodyPr>
          <a:lstStyle/>
          <a:p>
            <a:pPr algn="l">
              <a:lnSpc>
                <a:spcPct val="100000"/>
              </a:lnSpc>
              <a:spcAft>
                <a:spcPts val="400"/>
              </a:spcAft>
            </a:pPr>
            <a:r>
              <a:rPr sz="1500" b="1">
                <a:solidFill>
                  <a:srgbClr val="0EA5E9"/>
                </a:solidFill>
                <a:latin typeface="Segoe UI"/>
              </a:rPr>
              <a:t>03</a:t>
            </a:r>
          </a:p>
        </p:txBody>
      </p:sp>
      <p:sp>
        <p:nvSpPr>
          <p:cNvPr id="6" name="TextBox 5"/>
          <p:cNvSpPr txBox="1"/>
          <p:nvPr/>
        </p:nvSpPr>
        <p:spPr>
          <a:xfrm>
            <a:off x="777240" y="2999232"/>
            <a:ext cx="10607040" cy="731520"/>
          </a:xfrm>
          <a:prstGeom prst="rect">
            <a:avLst/>
          </a:prstGeom>
          <a:noFill/>
        </p:spPr>
        <p:txBody>
          <a:bodyPr wrap="square" lIns="0" rIns="0" tIns="0" bIns="0" anchor="t">
            <a:spAutoFit/>
          </a:bodyPr>
          <a:lstStyle/>
          <a:p>
            <a:pPr algn="l">
              <a:lnSpc>
                <a:spcPct val="100000"/>
              </a:lnSpc>
              <a:spcAft>
                <a:spcPts val="400"/>
              </a:spcAft>
            </a:pPr>
            <a:r>
              <a:rPr sz="3400" b="1">
                <a:solidFill>
                  <a:srgbClr val="FFFFFF"/>
                </a:solidFill>
                <a:latin typeface="Segoe UI"/>
              </a:rPr>
              <a:t>The wow features</a:t>
            </a:r>
          </a:p>
        </p:txBody>
      </p:sp>
      <p:sp>
        <p:nvSpPr>
          <p:cNvPr id="7" name="TextBox 6"/>
          <p:cNvSpPr txBox="1"/>
          <p:nvPr/>
        </p:nvSpPr>
        <p:spPr>
          <a:xfrm>
            <a:off x="777240" y="3675887"/>
            <a:ext cx="10607040" cy="457200"/>
          </a:xfrm>
          <a:prstGeom prst="rect">
            <a:avLst/>
          </a:prstGeom>
          <a:noFill/>
        </p:spPr>
        <p:txBody>
          <a:bodyPr wrap="square" lIns="0" rIns="0" tIns="0" bIns="0" anchor="t">
            <a:spAutoFit/>
          </a:bodyPr>
          <a:lstStyle/>
          <a:p>
            <a:pPr algn="l">
              <a:lnSpc>
                <a:spcPct val="100000"/>
              </a:lnSpc>
              <a:spcAft>
                <a:spcPts val="400"/>
              </a:spcAft>
            </a:pPr>
            <a:r>
              <a:rPr sz="1300" b="0">
                <a:solidFill>
                  <a:srgbClr val="9FBAD3"/>
                </a:solidFill>
                <a:latin typeface="Segoe UI"/>
              </a:rPr>
              <a:t>Four things no other team's prototype will have</a:t>
            </a:r>
          </a:p>
        </p:txBody>
      </p:sp>
      <p:sp>
        <p:nvSpPr>
          <p:cNvPr id="8" name="TextBox 7"/>
          <p:cNvSpPr txBox="1"/>
          <p:nvPr/>
        </p:nvSpPr>
        <p:spPr>
          <a:xfrm>
            <a:off x="566928" y="6419088"/>
            <a:ext cx="8229600" cy="237744"/>
          </a:xfrm>
          <a:prstGeom prst="rect">
            <a:avLst/>
          </a:prstGeom>
          <a:noFill/>
        </p:spPr>
        <p:txBody>
          <a:bodyPr wrap="square" lIns="0" rIns="0" tIns="0" bIns="0" anchor="t">
            <a:spAutoFit/>
          </a:bodyPr>
          <a:lstStyle/>
          <a:p>
            <a:pPr algn="l">
              <a:lnSpc>
                <a:spcPct val="100000"/>
              </a:lnSpc>
              <a:spcAft>
                <a:spcPts val="400"/>
              </a:spcAft>
            </a:pPr>
            <a:r>
              <a:rPr sz="850" b="0">
                <a:solidFill>
                  <a:srgbClr val="5A7A99"/>
                </a:solidFill>
                <a:latin typeface="Segoe UI"/>
              </a:rPr>
              <a:t>AquaCast-Punjab  ·  Sankalp — Climate-Smart Agriculture, Water &amp; Rural Credit</a:t>
            </a:r>
          </a:p>
        </p:txBody>
      </p:sp>
      <p:sp>
        <p:nvSpPr>
          <p:cNvPr id="9" name="TextBox 8"/>
          <p:cNvSpPr txBox="1"/>
          <p:nvPr/>
        </p:nvSpPr>
        <p:spPr>
          <a:xfrm>
            <a:off x="10972800" y="6419088"/>
            <a:ext cx="685800" cy="237744"/>
          </a:xfrm>
          <a:prstGeom prst="rect">
            <a:avLst/>
          </a:prstGeom>
          <a:noFill/>
        </p:spPr>
        <p:txBody>
          <a:bodyPr wrap="square" lIns="0" rIns="0" tIns="0" bIns="0" anchor="t">
            <a:spAutoFit/>
          </a:bodyPr>
          <a:lstStyle/>
          <a:p>
            <a:pPr algn="r">
              <a:lnSpc>
                <a:spcPct val="100000"/>
              </a:lnSpc>
              <a:spcAft>
                <a:spcPts val="400"/>
              </a:spcAft>
            </a:pPr>
            <a:r>
              <a:rPr sz="850" b="1">
                <a:solidFill>
                  <a:srgbClr val="5A7A99"/>
                </a:solidFill>
                <a:latin typeface="Segoe U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11064240" cy="256032"/>
          </a:xfrm>
          <a:prstGeom prst="rect">
            <a:avLst/>
          </a:prstGeom>
          <a:noFill/>
        </p:spPr>
        <p:txBody>
          <a:bodyPr wrap="square" lIns="0" rIns="0" tIns="0" bIns="0" anchor="t">
            <a:spAutoFit/>
          </a:bodyPr>
          <a:lstStyle/>
          <a:p>
            <a:pPr algn="l">
              <a:lnSpc>
                <a:spcPct val="100000"/>
              </a:lnSpc>
              <a:spcAft>
                <a:spcPts val="400"/>
              </a:spcAft>
            </a:pPr>
            <a:r>
              <a:rPr sz="1050" b="1">
                <a:solidFill>
                  <a:srgbClr val="0369A1"/>
                </a:solidFill>
                <a:latin typeface="Segoe UI"/>
              </a:rPr>
              <a:t>WOW FEATURE</a:t>
            </a:r>
          </a:p>
        </p:txBody>
      </p:sp>
      <p:sp>
        <p:nvSpPr>
          <p:cNvPr id="4" name="TextBox 3"/>
          <p:cNvSpPr txBox="1"/>
          <p:nvPr/>
        </p:nvSpPr>
        <p:spPr>
          <a:xfrm>
            <a:off x="566928" y="640080"/>
            <a:ext cx="11064240" cy="658368"/>
          </a:xfrm>
          <a:prstGeom prst="rect">
            <a:avLst/>
          </a:prstGeom>
          <a:noFill/>
        </p:spPr>
        <p:txBody>
          <a:bodyPr wrap="square" lIns="0" rIns="0" tIns="0" bIns="0" anchor="t">
            <a:spAutoFit/>
          </a:bodyPr>
          <a:lstStyle/>
          <a:p>
            <a:pPr algn="l">
              <a:lnSpc>
                <a:spcPct val="100000"/>
              </a:lnSpc>
              <a:spcAft>
                <a:spcPts val="400"/>
              </a:spcAft>
            </a:pPr>
            <a:r>
              <a:rPr sz="2500" b="1">
                <a:solidFill>
                  <a:srgbClr val="0F172A"/>
                </a:solidFill>
                <a:latin typeface="Segoe UI"/>
              </a:rPr>
              <a:t>WOW 01 · The Digital Twin — policy levers in under 0.2 seconds</a:t>
            </a:r>
          </a:p>
        </p:txBody>
      </p:sp>
      <p:sp>
        <p:nvSpPr>
          <p:cNvPr id="5" name="Rectangle 4"/>
          <p:cNvSpPr/>
          <p:nvPr/>
        </p:nvSpPr>
        <p:spPr>
          <a:xfrm>
            <a:off x="566928" y="1335024"/>
            <a:ext cx="658368"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6" name="Picture 5" descr="digital_twin.png"/>
          <p:cNvPicPr>
            <a:picLocks noChangeAspect="1"/>
          </p:cNvPicPr>
          <p:nvPr/>
        </p:nvPicPr>
        <p:blipFill>
          <a:blip r:embed="rId2"/>
          <a:stretch>
            <a:fillRect/>
          </a:stretch>
        </p:blipFill>
        <p:spPr>
          <a:xfrm>
            <a:off x="1544535" y="1554480"/>
            <a:ext cx="4811345" cy="2194560"/>
          </a:xfrm>
          <a:prstGeom prst="rect">
            <a:avLst/>
          </a:prstGeom>
        </p:spPr>
      </p:pic>
      <p:sp>
        <p:nvSpPr>
          <p:cNvPr id="7" name="TextBox 6"/>
          <p:cNvSpPr txBox="1"/>
          <p:nvPr/>
        </p:nvSpPr>
        <p:spPr>
          <a:xfrm>
            <a:off x="7607808" y="1554480"/>
            <a:ext cx="4023360" cy="365760"/>
          </a:xfrm>
          <a:prstGeom prst="rect">
            <a:avLst/>
          </a:prstGeom>
          <a:noFill/>
        </p:spPr>
        <p:txBody>
          <a:bodyPr wrap="square" lIns="0" rIns="0" tIns="0" bIns="0" anchor="t">
            <a:spAutoFit/>
          </a:bodyPr>
          <a:lstStyle/>
          <a:p>
            <a:pPr algn="l">
              <a:lnSpc>
                <a:spcPct val="100000"/>
              </a:lnSpc>
              <a:spcAft>
                <a:spcPts val="400"/>
              </a:spcAft>
            </a:pPr>
            <a:r>
              <a:rPr sz="1350" b="1">
                <a:solidFill>
                  <a:srgbClr val="0F172A"/>
                </a:solidFill>
                <a:latin typeface="Segoe UI"/>
              </a:rPr>
              <a:t>Six levers, instantly re-solved</a:t>
            </a:r>
          </a:p>
        </p:txBody>
      </p:sp>
      <p:sp>
        <p:nvSpPr>
          <p:cNvPr id="8" name="Oval 7"/>
          <p:cNvSpPr/>
          <p:nvPr/>
        </p:nvSpPr>
        <p:spPr>
          <a:xfrm>
            <a:off x="7607808" y="2061972"/>
            <a:ext cx="77724" cy="77724"/>
          </a:xfrm>
          <a:prstGeom prst="ellipse">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7845552" y="1965960"/>
            <a:ext cx="3785616" cy="274320"/>
          </a:xfrm>
          <a:prstGeom prst="rect">
            <a:avLst/>
          </a:prstGeom>
          <a:noFill/>
        </p:spPr>
        <p:txBody>
          <a:bodyPr wrap="square" lIns="0" rIns="0" tIns="0" bIns="0" anchor="t">
            <a:spAutoFit/>
          </a:bodyPr>
          <a:lstStyle/>
          <a:p>
            <a:pPr algn="l">
              <a:lnSpc>
                <a:spcPct val="100000"/>
              </a:lnSpc>
              <a:spcAft>
                <a:spcPts val="400"/>
              </a:spcAft>
            </a:pPr>
            <a:r>
              <a:rPr sz="1150" b="1">
                <a:solidFill>
                  <a:srgbClr val="0F172A"/>
                </a:solidFill>
                <a:latin typeface="Segoe UI"/>
              </a:rPr>
              <a:t>Micro-irrigation adoption</a:t>
            </a:r>
          </a:p>
        </p:txBody>
      </p:sp>
      <p:sp>
        <p:nvSpPr>
          <p:cNvPr id="10" name="TextBox 9"/>
          <p:cNvSpPr txBox="1"/>
          <p:nvPr/>
        </p:nvSpPr>
        <p:spPr>
          <a:xfrm>
            <a:off x="7845552" y="2208276"/>
            <a:ext cx="3785616" cy="548640"/>
          </a:xfrm>
          <a:prstGeom prst="rect">
            <a:avLst/>
          </a:prstGeom>
          <a:noFill/>
        </p:spPr>
        <p:txBody>
          <a:bodyPr wrap="square" lIns="0" rIns="0" tIns="0" bIns="0" anchor="t">
            <a:spAutoFit/>
          </a:bodyPr>
          <a:lstStyle/>
          <a:p>
            <a:pPr algn="l">
              <a:lnSpc>
                <a:spcPct val="98000"/>
              </a:lnSpc>
              <a:spcAft>
                <a:spcPts val="400"/>
              </a:spcAft>
            </a:pPr>
            <a:r>
              <a:rPr sz="1000" b="0">
                <a:solidFill>
                  <a:srgbClr val="64748B"/>
                </a:solidFill>
                <a:latin typeface="Segoe UI"/>
              </a:rPr>
              <a:t>0–80%, changes application efficiency</a:t>
            </a:r>
          </a:p>
        </p:txBody>
      </p:sp>
      <p:sp>
        <p:nvSpPr>
          <p:cNvPr id="11" name="Oval 10"/>
          <p:cNvSpPr/>
          <p:nvPr/>
        </p:nvSpPr>
        <p:spPr>
          <a:xfrm>
            <a:off x="7607808" y="2665475"/>
            <a:ext cx="77724" cy="77724"/>
          </a:xfrm>
          <a:prstGeom prst="ellipse">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7845552" y="2569463"/>
            <a:ext cx="3785616" cy="274320"/>
          </a:xfrm>
          <a:prstGeom prst="rect">
            <a:avLst/>
          </a:prstGeom>
          <a:noFill/>
        </p:spPr>
        <p:txBody>
          <a:bodyPr wrap="square" lIns="0" rIns="0" tIns="0" bIns="0" anchor="t">
            <a:spAutoFit/>
          </a:bodyPr>
          <a:lstStyle/>
          <a:p>
            <a:pPr algn="l">
              <a:lnSpc>
                <a:spcPct val="100000"/>
              </a:lnSpc>
              <a:spcAft>
                <a:spcPts val="400"/>
              </a:spcAft>
            </a:pPr>
            <a:r>
              <a:rPr sz="1150" b="1">
                <a:solidFill>
                  <a:srgbClr val="0F172A"/>
                </a:solidFill>
                <a:latin typeface="Segoe UI"/>
              </a:rPr>
              <a:t>Monsoon anomaly</a:t>
            </a:r>
          </a:p>
        </p:txBody>
      </p:sp>
      <p:sp>
        <p:nvSpPr>
          <p:cNvPr id="13" name="TextBox 12"/>
          <p:cNvSpPr txBox="1"/>
          <p:nvPr/>
        </p:nvSpPr>
        <p:spPr>
          <a:xfrm>
            <a:off x="7845552" y="2811779"/>
            <a:ext cx="3785616" cy="548640"/>
          </a:xfrm>
          <a:prstGeom prst="rect">
            <a:avLst/>
          </a:prstGeom>
          <a:noFill/>
        </p:spPr>
        <p:txBody>
          <a:bodyPr wrap="square" lIns="0" rIns="0" tIns="0" bIns="0" anchor="t">
            <a:spAutoFit/>
          </a:bodyPr>
          <a:lstStyle/>
          <a:p>
            <a:pPr algn="l">
              <a:lnSpc>
                <a:spcPct val="98000"/>
              </a:lnSpc>
              <a:spcAft>
                <a:spcPts val="400"/>
              </a:spcAft>
            </a:pPr>
            <a:r>
              <a:rPr sz="1000" b="0">
                <a:solidFill>
                  <a:srgbClr val="64748B"/>
                </a:solidFill>
                <a:latin typeface="Segoe UI"/>
              </a:rPr>
              <a:t>±30% on monsoon recharge</a:t>
            </a:r>
          </a:p>
        </p:txBody>
      </p:sp>
      <p:sp>
        <p:nvSpPr>
          <p:cNvPr id="14" name="Oval 13"/>
          <p:cNvSpPr/>
          <p:nvPr/>
        </p:nvSpPr>
        <p:spPr>
          <a:xfrm>
            <a:off x="7607808" y="3268978"/>
            <a:ext cx="77724" cy="77724"/>
          </a:xfrm>
          <a:prstGeom prst="ellipse">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7845552" y="3172966"/>
            <a:ext cx="3785616" cy="274320"/>
          </a:xfrm>
          <a:prstGeom prst="rect">
            <a:avLst/>
          </a:prstGeom>
          <a:noFill/>
        </p:spPr>
        <p:txBody>
          <a:bodyPr wrap="square" lIns="0" rIns="0" tIns="0" bIns="0" anchor="t">
            <a:spAutoFit/>
          </a:bodyPr>
          <a:lstStyle/>
          <a:p>
            <a:pPr algn="l">
              <a:lnSpc>
                <a:spcPct val="100000"/>
              </a:lnSpc>
              <a:spcAft>
                <a:spcPts val="400"/>
              </a:spcAft>
            </a:pPr>
            <a:r>
              <a:rPr sz="1150" b="1">
                <a:solidFill>
                  <a:srgbClr val="0F172A"/>
                </a:solidFill>
                <a:latin typeface="Segoe UI"/>
              </a:rPr>
              <a:t>Paddy transplant shift</a:t>
            </a:r>
          </a:p>
        </p:txBody>
      </p:sp>
      <p:sp>
        <p:nvSpPr>
          <p:cNvPr id="16" name="TextBox 15"/>
          <p:cNvSpPr txBox="1"/>
          <p:nvPr/>
        </p:nvSpPr>
        <p:spPr>
          <a:xfrm>
            <a:off x="7845552" y="3415282"/>
            <a:ext cx="3785616" cy="548640"/>
          </a:xfrm>
          <a:prstGeom prst="rect">
            <a:avLst/>
          </a:prstGeom>
          <a:noFill/>
        </p:spPr>
        <p:txBody>
          <a:bodyPr wrap="square" lIns="0" rIns="0" tIns="0" bIns="0" anchor="t">
            <a:spAutoFit/>
          </a:bodyPr>
          <a:lstStyle/>
          <a:p>
            <a:pPr algn="l">
              <a:lnSpc>
                <a:spcPct val="98000"/>
              </a:lnSpc>
              <a:spcAft>
                <a:spcPts val="400"/>
              </a:spcAft>
            </a:pPr>
            <a:r>
              <a:rPr sz="1000" b="0">
                <a:solidFill>
                  <a:srgbClr val="64748B"/>
                </a:solidFill>
                <a:latin typeface="Segoe UI"/>
              </a:rPr>
              <a:t>0–30 days later, off the pre-monsoon trough</a:t>
            </a:r>
          </a:p>
        </p:txBody>
      </p:sp>
      <p:sp>
        <p:nvSpPr>
          <p:cNvPr id="17" name="Oval 16"/>
          <p:cNvSpPr/>
          <p:nvPr/>
        </p:nvSpPr>
        <p:spPr>
          <a:xfrm>
            <a:off x="7607808" y="3872481"/>
            <a:ext cx="77724" cy="77724"/>
          </a:xfrm>
          <a:prstGeom prst="ellipse">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7845552" y="3776469"/>
            <a:ext cx="3785616" cy="274320"/>
          </a:xfrm>
          <a:prstGeom prst="rect">
            <a:avLst/>
          </a:prstGeom>
          <a:noFill/>
        </p:spPr>
        <p:txBody>
          <a:bodyPr wrap="square" lIns="0" rIns="0" tIns="0" bIns="0" anchor="t">
            <a:spAutoFit/>
          </a:bodyPr>
          <a:lstStyle/>
          <a:p>
            <a:pPr algn="l">
              <a:lnSpc>
                <a:spcPct val="100000"/>
              </a:lnSpc>
              <a:spcAft>
                <a:spcPts val="400"/>
              </a:spcAft>
            </a:pPr>
            <a:r>
              <a:rPr sz="1150" b="1">
                <a:solidFill>
                  <a:srgbClr val="0F172A"/>
                </a:solidFill>
                <a:latin typeface="Segoe UI"/>
              </a:rPr>
              <a:t>Canal availability</a:t>
            </a:r>
          </a:p>
        </p:txBody>
      </p:sp>
      <p:sp>
        <p:nvSpPr>
          <p:cNvPr id="19" name="TextBox 18"/>
          <p:cNvSpPr txBox="1"/>
          <p:nvPr/>
        </p:nvSpPr>
        <p:spPr>
          <a:xfrm>
            <a:off x="7845552" y="4018785"/>
            <a:ext cx="3785616" cy="548640"/>
          </a:xfrm>
          <a:prstGeom prst="rect">
            <a:avLst/>
          </a:prstGeom>
          <a:noFill/>
        </p:spPr>
        <p:txBody>
          <a:bodyPr wrap="square" lIns="0" rIns="0" tIns="0" bIns="0" anchor="t">
            <a:spAutoFit/>
          </a:bodyPr>
          <a:lstStyle/>
          <a:p>
            <a:pPr algn="l">
              <a:lnSpc>
                <a:spcPct val="98000"/>
              </a:lnSpc>
              <a:spcAft>
                <a:spcPts val="400"/>
              </a:spcAft>
            </a:pPr>
            <a:r>
              <a:rPr sz="1000" b="0">
                <a:solidFill>
                  <a:srgbClr val="64748B"/>
                </a:solidFill>
                <a:latin typeface="Segoe UI"/>
              </a:rPr>
              <a:t>0–100% of the commanded supply</a:t>
            </a:r>
          </a:p>
        </p:txBody>
      </p:sp>
      <p:sp>
        <p:nvSpPr>
          <p:cNvPr id="20" name="Oval 19"/>
          <p:cNvSpPr/>
          <p:nvPr/>
        </p:nvSpPr>
        <p:spPr>
          <a:xfrm>
            <a:off x="7607808" y="4475984"/>
            <a:ext cx="77724" cy="77724"/>
          </a:xfrm>
          <a:prstGeom prst="ellipse">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7845552" y="4379972"/>
            <a:ext cx="3785616" cy="274320"/>
          </a:xfrm>
          <a:prstGeom prst="rect">
            <a:avLst/>
          </a:prstGeom>
          <a:noFill/>
        </p:spPr>
        <p:txBody>
          <a:bodyPr wrap="square" lIns="0" rIns="0" tIns="0" bIns="0" anchor="t">
            <a:spAutoFit/>
          </a:bodyPr>
          <a:lstStyle/>
          <a:p>
            <a:pPr algn="l">
              <a:lnSpc>
                <a:spcPct val="100000"/>
              </a:lnSpc>
              <a:spcAft>
                <a:spcPts val="400"/>
              </a:spcAft>
            </a:pPr>
            <a:r>
              <a:rPr sz="1150" b="1">
                <a:solidFill>
                  <a:srgbClr val="0F172A"/>
                </a:solidFill>
                <a:latin typeface="Segoe UI"/>
              </a:rPr>
              <a:t>Horizon</a:t>
            </a:r>
          </a:p>
        </p:txBody>
      </p:sp>
      <p:sp>
        <p:nvSpPr>
          <p:cNvPr id="22" name="TextBox 21"/>
          <p:cNvSpPr txBox="1"/>
          <p:nvPr/>
        </p:nvSpPr>
        <p:spPr>
          <a:xfrm>
            <a:off x="7845552" y="4622288"/>
            <a:ext cx="3785616" cy="548640"/>
          </a:xfrm>
          <a:prstGeom prst="rect">
            <a:avLst/>
          </a:prstGeom>
          <a:noFill/>
        </p:spPr>
        <p:txBody>
          <a:bodyPr wrap="square" lIns="0" rIns="0" tIns="0" bIns="0" anchor="t">
            <a:spAutoFit/>
          </a:bodyPr>
          <a:lstStyle/>
          <a:p>
            <a:pPr algn="l">
              <a:lnSpc>
                <a:spcPct val="98000"/>
              </a:lnSpc>
              <a:spcAft>
                <a:spcPts val="400"/>
              </a:spcAft>
            </a:pPr>
            <a:r>
              <a:rPr sz="1000" b="0">
                <a:solidFill>
                  <a:srgbClr val="64748B"/>
                </a:solidFill>
                <a:latin typeface="Segoe UI"/>
              </a:rPr>
              <a:t>90 / 180 / 365 / 730 days</a:t>
            </a:r>
          </a:p>
        </p:txBody>
      </p:sp>
      <p:graphicFrame>
        <p:nvGraphicFramePr>
          <p:cNvPr id="23" name="Table 22"/>
          <p:cNvGraphicFramePr>
            <a:graphicFrameLocks noGrp="1"/>
          </p:cNvGraphicFramePr>
          <p:nvPr/>
        </p:nvGraphicFramePr>
        <p:xfrm>
          <a:off x="566928" y="3858768"/>
          <a:ext cx="6766560" cy="1499616"/>
        </p:xfrm>
        <a:graphic>
          <a:graphicData uri="http://schemas.openxmlformats.org/drawingml/2006/table">
            <a:tbl>
              <a:tblPr firstRow="1" bandRow="1">
                <a:tableStyleId>{5C22544A-7EE6-4342-B048-85BDC9FD1C3A}</a:tableStyleId>
              </a:tblPr>
              <a:tblGrid>
                <a:gridCol w="3931920"/>
                <a:gridCol w="1280160"/>
                <a:gridCol w="1554480"/>
              </a:tblGrid>
              <a:tr h="402336">
                <a:tc>
                  <a:txBody>
                    <a:bodyPr wrap="square"/>
                    <a:lstStyle/>
                    <a:p>
                      <a:pPr algn="l"/>
                      <a:r>
                        <a:rPr sz="1100" b="1">
                          <a:solidFill>
                            <a:srgbClr val="FFFFFF"/>
                          </a:solidFill>
                          <a:latin typeface="Segoe UI"/>
                        </a:rPr>
                        <a:t>Scenario (365 days)</a:t>
                      </a:r>
                    </a:p>
                  </a:txBody>
                  <a:tcPr marL="91440" marR="91440" marT="27432" marB="27432" anchor="ctr">
                    <a:solidFill>
                      <a:srgbClr val="0B1E30"/>
                    </a:solidFill>
                  </a:tcPr>
                </a:tc>
                <a:tc>
                  <a:txBody>
                    <a:bodyPr wrap="square"/>
                    <a:lstStyle/>
                    <a:p>
                      <a:pPr algn="ctr"/>
                      <a:r>
                        <a:rPr sz="1100" b="1">
                          <a:solidFill>
                            <a:srgbClr val="FFFFFF"/>
                          </a:solidFill>
                          <a:latin typeface="Segoe UI"/>
                        </a:rPr>
                        <a:t>End level</a:t>
                      </a:r>
                    </a:p>
                  </a:txBody>
                  <a:tcPr marL="91440" marR="91440" marT="27432" marB="27432" anchor="ctr">
                    <a:solidFill>
                      <a:srgbClr val="0B1E30"/>
                    </a:solidFill>
                  </a:tcPr>
                </a:tc>
                <a:tc>
                  <a:txBody>
                    <a:bodyPr wrap="square"/>
                    <a:lstStyle/>
                    <a:p>
                      <a:pPr algn="ctr"/>
                      <a:r>
                        <a:rPr sz="1100" b="1">
                          <a:solidFill>
                            <a:srgbClr val="FFFFFF"/>
                          </a:solidFill>
                          <a:latin typeface="Segoe UI"/>
                        </a:rPr>
                        <a:t>Water saved</a:t>
                      </a:r>
                    </a:p>
                  </a:txBody>
                  <a:tcPr marL="91440" marR="91440" marT="27432" marB="27432" anchor="ctr">
                    <a:solidFill>
                      <a:srgbClr val="0B1E30"/>
                    </a:solidFill>
                  </a:tcPr>
                </a:tc>
              </a:tr>
              <a:tr h="365760">
                <a:tc>
                  <a:txBody>
                    <a:bodyPr wrap="square"/>
                    <a:lstStyle/>
                    <a:p>
                      <a:pPr algn="l"/>
                      <a:r>
                        <a:rPr sz="1100" b="0">
                          <a:solidFill>
                            <a:srgbClr val="0F172A"/>
                          </a:solidFill>
                          <a:latin typeface="Segoe UI"/>
                        </a:rPr>
                        <a:t>Standard Flood Irrigation</a:t>
                      </a:r>
                    </a:p>
                  </a:txBody>
                  <a:tcPr marL="91440" marR="91440" marT="27432" marB="27432" anchor="ctr">
                    <a:solidFill>
                      <a:srgbClr val="FFFFFF"/>
                    </a:solidFill>
                  </a:tcPr>
                </a:tc>
                <a:tc>
                  <a:txBody>
                    <a:bodyPr wrap="square"/>
                    <a:lstStyle/>
                    <a:p>
                      <a:pPr algn="ctr"/>
                      <a:r>
                        <a:rPr sz="1100" b="0">
                          <a:solidFill>
                            <a:srgbClr val="0F172A"/>
                          </a:solidFill>
                          <a:latin typeface="Segoe UI"/>
                        </a:rPr>
                        <a:t>36.51 m</a:t>
                      </a:r>
                    </a:p>
                  </a:txBody>
                  <a:tcPr marL="91440" marR="91440" marT="27432" marB="27432" anchor="ctr">
                    <a:solidFill>
                      <a:srgbClr val="FFFFFF"/>
                    </a:solidFill>
                  </a:tcPr>
                </a:tc>
                <a:tc>
                  <a:txBody>
                    <a:bodyPr wrap="square"/>
                    <a:lstStyle/>
                    <a:p>
                      <a:pPr algn="ctr"/>
                      <a:r>
                        <a:rPr sz="1100" b="0">
                          <a:solidFill>
                            <a:srgbClr val="0F172A"/>
                          </a:solidFill>
                          <a:latin typeface="Segoe UI"/>
                        </a:rPr>
                        <a:t>—</a:t>
                      </a:r>
                    </a:p>
                  </a:txBody>
                  <a:tcPr marL="91440" marR="91440" marT="27432" marB="27432" anchor="ctr">
                    <a:solidFill>
                      <a:srgbClr val="FFFFFF"/>
                    </a:solidFill>
                  </a:tcPr>
                </a:tc>
              </a:tr>
              <a:tr h="365760">
                <a:tc>
                  <a:txBody>
                    <a:bodyPr wrap="square"/>
                    <a:lstStyle/>
                    <a:p>
                      <a:pPr algn="l"/>
                      <a:r>
                        <a:rPr sz="1100" b="0">
                          <a:solidFill>
                            <a:srgbClr val="0F172A"/>
                          </a:solidFill>
                          <a:latin typeface="Segoe UI"/>
                        </a:rPr>
                        <a:t>Drip 40% + 15-day paddy shift</a:t>
                      </a:r>
                    </a:p>
                  </a:txBody>
                  <a:tcPr marL="91440" marR="91440" marT="27432" marB="27432" anchor="ctr">
                    <a:solidFill>
                      <a:srgbClr val="F8FAFC"/>
                    </a:solidFill>
                  </a:tcPr>
                </a:tc>
                <a:tc>
                  <a:txBody>
                    <a:bodyPr wrap="square"/>
                    <a:lstStyle/>
                    <a:p>
                      <a:pPr algn="ctr"/>
                      <a:r>
                        <a:rPr sz="1100" b="0">
                          <a:solidFill>
                            <a:srgbClr val="0F172A"/>
                          </a:solidFill>
                          <a:latin typeface="Segoe UI"/>
                        </a:rPr>
                        <a:t>36.37 m</a:t>
                      </a:r>
                    </a:p>
                  </a:txBody>
                  <a:tcPr marL="91440" marR="91440" marT="27432" marB="27432" anchor="ctr">
                    <a:solidFill>
                      <a:srgbClr val="F8FAFC"/>
                    </a:solidFill>
                  </a:tcPr>
                </a:tc>
                <a:tc>
                  <a:txBody>
                    <a:bodyPr wrap="square"/>
                    <a:lstStyle/>
                    <a:p>
                      <a:pPr algn="ctr"/>
                      <a:r>
                        <a:rPr sz="1100" b="0">
                          <a:solidFill>
                            <a:srgbClr val="0F172A"/>
                          </a:solidFill>
                          <a:latin typeface="Segoe UI"/>
                        </a:rPr>
                        <a:t>+0.14 m</a:t>
                      </a:r>
                    </a:p>
                  </a:txBody>
                  <a:tcPr marL="91440" marR="91440" marT="27432" marB="27432" anchor="ctr">
                    <a:solidFill>
                      <a:srgbClr val="F8FAFC"/>
                    </a:solidFill>
                  </a:tcPr>
                </a:tc>
              </a:tr>
              <a:tr h="365760">
                <a:tc>
                  <a:txBody>
                    <a:bodyPr wrap="square"/>
                    <a:lstStyle/>
                    <a:p>
                      <a:pPr algn="l"/>
                      <a:r>
                        <a:rPr sz="1100" b="0">
                          <a:solidFill>
                            <a:srgbClr val="0F172A"/>
                          </a:solidFill>
                          <a:latin typeface="Segoe UI"/>
                        </a:rPr>
                        <a:t>Micro-Drip Shift (40%)</a:t>
                      </a:r>
                    </a:p>
                  </a:txBody>
                  <a:tcPr marL="91440" marR="91440" marT="27432" marB="27432" anchor="ctr">
                    <a:solidFill>
                      <a:srgbClr val="FFFFFF"/>
                    </a:solidFill>
                  </a:tcPr>
                </a:tc>
                <a:tc>
                  <a:txBody>
                    <a:bodyPr wrap="square"/>
                    <a:lstStyle/>
                    <a:p>
                      <a:pPr algn="ctr"/>
                      <a:r>
                        <a:rPr sz="1100" b="0">
                          <a:solidFill>
                            <a:srgbClr val="0F172A"/>
                          </a:solidFill>
                          <a:latin typeface="Segoe UI"/>
                        </a:rPr>
                        <a:t>36.39 m</a:t>
                      </a:r>
                    </a:p>
                  </a:txBody>
                  <a:tcPr marL="91440" marR="91440" marT="27432" marB="27432" anchor="ctr">
                    <a:solidFill>
                      <a:srgbClr val="FFFFFF"/>
                    </a:solidFill>
                  </a:tcPr>
                </a:tc>
                <a:tc>
                  <a:txBody>
                    <a:bodyPr wrap="square"/>
                    <a:lstStyle/>
                    <a:p>
                      <a:pPr algn="ctr"/>
                      <a:r>
                        <a:rPr sz="1100" b="0">
                          <a:solidFill>
                            <a:srgbClr val="0F172A"/>
                          </a:solidFill>
                          <a:latin typeface="Segoe UI"/>
                        </a:rPr>
                        <a:t>+0.12 m</a:t>
                      </a:r>
                    </a:p>
                  </a:txBody>
                  <a:tcPr marL="91440" marR="91440" marT="27432" marB="27432" anchor="ctr">
                    <a:solidFill>
                      <a:srgbClr val="FFFFFF"/>
                    </a:solidFill>
                  </a:tcPr>
                </a:tc>
              </a:tr>
            </a:tbl>
          </a:graphicData>
        </a:graphic>
      </p:graphicFrame>
      <p:sp>
        <p:nvSpPr>
          <p:cNvPr id="24" name="Rounded Rectangle 23"/>
          <p:cNvSpPr/>
          <p:nvPr/>
        </p:nvSpPr>
        <p:spPr>
          <a:xfrm>
            <a:off x="7607808" y="3858768"/>
            <a:ext cx="4023360" cy="1389888"/>
          </a:xfrm>
          <a:prstGeom prst="roundRect">
            <a:avLst>
              <a:gd name="adj" fmla="val 6000"/>
            </a:avLst>
          </a:prstGeom>
          <a:solidFill>
            <a:srgbClr val="FFFBE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7607808" y="3858768"/>
            <a:ext cx="50292" cy="13898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7863840" y="4059936"/>
            <a:ext cx="3566160" cy="1024128"/>
          </a:xfrm>
          <a:prstGeom prst="rect">
            <a:avLst/>
          </a:prstGeom>
          <a:noFill/>
        </p:spPr>
        <p:txBody>
          <a:bodyPr wrap="square" lIns="0" rIns="0" tIns="0" bIns="0" anchor="t">
            <a:spAutoFit/>
          </a:bodyPr>
          <a:lstStyle/>
          <a:p>
            <a:pPr algn="l">
              <a:lnSpc>
                <a:spcPct val="116000"/>
              </a:lnSpc>
              <a:spcAft>
                <a:spcPts val="400"/>
              </a:spcAft>
            </a:pPr>
            <a:r>
              <a:rPr sz="1050" b="0">
                <a:solidFill>
                  <a:srgbClr val="0F172A"/>
                </a:solidFill>
                <a:latin typeface="Segoe UI"/>
              </a:rPr>
              <a:t>The honest finding: the levers help far less than intuition says. Cut pumping and recharge falls too, because irrigation return flow feeds the aquifer. We surface that instead of hiding it — it is the most policy-relevant thing in the model.</a:t>
            </a:r>
          </a:p>
        </p:txBody>
      </p:sp>
      <p:sp>
        <p:nvSpPr>
          <p:cNvPr id="27" name="TextBox 26"/>
          <p:cNvSpPr txBox="1"/>
          <p:nvPr/>
        </p:nvSpPr>
        <p:spPr>
          <a:xfrm>
            <a:off x="566928" y="6419088"/>
            <a:ext cx="8229600" cy="237744"/>
          </a:xfrm>
          <a:prstGeom prst="rect">
            <a:avLst/>
          </a:prstGeom>
          <a:noFill/>
        </p:spPr>
        <p:txBody>
          <a:bodyPr wrap="square" lIns="0" rIns="0" tIns="0" bIns="0" anchor="t">
            <a:spAutoFit/>
          </a:bodyPr>
          <a:lstStyle/>
          <a:p>
            <a:pPr algn="l">
              <a:lnSpc>
                <a:spcPct val="100000"/>
              </a:lnSpc>
              <a:spcAft>
                <a:spcPts val="400"/>
              </a:spcAft>
            </a:pPr>
            <a:r>
              <a:rPr sz="850" b="0">
                <a:solidFill>
                  <a:srgbClr val="94A3B8"/>
                </a:solidFill>
                <a:latin typeface="Segoe UI"/>
              </a:rPr>
              <a:t>AquaCast-Punjab  ·  Sankalp — Climate-Smart Agriculture, Water &amp; Rural Credit</a:t>
            </a:r>
          </a:p>
        </p:txBody>
      </p:sp>
      <p:sp>
        <p:nvSpPr>
          <p:cNvPr id="28" name="TextBox 27"/>
          <p:cNvSpPr txBox="1"/>
          <p:nvPr/>
        </p:nvSpPr>
        <p:spPr>
          <a:xfrm>
            <a:off x="10972800" y="6419088"/>
            <a:ext cx="685800" cy="237744"/>
          </a:xfrm>
          <a:prstGeom prst="rect">
            <a:avLst/>
          </a:prstGeom>
          <a:noFill/>
        </p:spPr>
        <p:txBody>
          <a:bodyPr wrap="square" lIns="0" rIns="0" tIns="0" bIns="0" anchor="t">
            <a:spAutoFit/>
          </a:bodyPr>
          <a:lstStyle/>
          <a:p>
            <a:pPr algn="r">
              <a:lnSpc>
                <a:spcPct val="100000"/>
              </a:lnSpc>
              <a:spcAft>
                <a:spcPts val="400"/>
              </a:spcAft>
            </a:pPr>
            <a:r>
              <a:rPr sz="850" b="1">
                <a:solidFill>
                  <a:srgbClr val="94A3B8"/>
                </a:solidFill>
                <a:latin typeface="Segoe U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11064240" cy="256032"/>
          </a:xfrm>
          <a:prstGeom prst="rect">
            <a:avLst/>
          </a:prstGeom>
          <a:noFill/>
        </p:spPr>
        <p:txBody>
          <a:bodyPr wrap="square" lIns="0" rIns="0" tIns="0" bIns="0" anchor="t">
            <a:spAutoFit/>
          </a:bodyPr>
          <a:lstStyle/>
          <a:p>
            <a:pPr algn="l">
              <a:lnSpc>
                <a:spcPct val="100000"/>
              </a:lnSpc>
              <a:spcAft>
                <a:spcPts val="400"/>
              </a:spcAft>
            </a:pPr>
            <a:r>
              <a:rPr sz="1050" b="1">
                <a:solidFill>
                  <a:srgbClr val="0369A1"/>
                </a:solidFill>
                <a:latin typeface="Segoe UI"/>
              </a:rPr>
              <a:t>WOW FEATURE</a:t>
            </a:r>
          </a:p>
        </p:txBody>
      </p:sp>
      <p:sp>
        <p:nvSpPr>
          <p:cNvPr id="4" name="TextBox 3"/>
          <p:cNvSpPr txBox="1"/>
          <p:nvPr/>
        </p:nvSpPr>
        <p:spPr>
          <a:xfrm>
            <a:off x="566928" y="640080"/>
            <a:ext cx="11064240" cy="658368"/>
          </a:xfrm>
          <a:prstGeom prst="rect">
            <a:avLst/>
          </a:prstGeom>
          <a:noFill/>
        </p:spPr>
        <p:txBody>
          <a:bodyPr wrap="square" lIns="0" rIns="0" tIns="0" bIns="0" anchor="t">
            <a:spAutoFit/>
          </a:bodyPr>
          <a:lstStyle/>
          <a:p>
            <a:pPr algn="l">
              <a:lnSpc>
                <a:spcPct val="100000"/>
              </a:lnSpc>
              <a:spcAft>
                <a:spcPts val="400"/>
              </a:spcAft>
            </a:pPr>
            <a:r>
              <a:rPr sz="2500" b="1">
                <a:solidFill>
                  <a:srgbClr val="0F172A"/>
                </a:solidFill>
                <a:latin typeface="Segoe UI"/>
              </a:rPr>
              <a:t>WOW 02 · One district forecast, 122 individual wells</a:t>
            </a:r>
          </a:p>
        </p:txBody>
      </p:sp>
      <p:sp>
        <p:nvSpPr>
          <p:cNvPr id="5" name="Rectangle 4"/>
          <p:cNvSpPr/>
          <p:nvPr/>
        </p:nvSpPr>
        <p:spPr>
          <a:xfrm>
            <a:off x="566928" y="1335024"/>
            <a:ext cx="658368"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6" name="Picture 5" descr="well_map.png"/>
          <p:cNvPicPr>
            <a:picLocks noChangeAspect="1"/>
          </p:cNvPicPr>
          <p:nvPr/>
        </p:nvPicPr>
        <p:blipFill>
          <a:blip r:embed="rId2"/>
          <a:stretch>
            <a:fillRect/>
          </a:stretch>
        </p:blipFill>
        <p:spPr>
          <a:xfrm>
            <a:off x="1374969" y="1554480"/>
            <a:ext cx="2544437" cy="2651760"/>
          </a:xfrm>
          <a:prstGeom prst="rect">
            <a:avLst/>
          </a:prstGeom>
        </p:spPr>
      </p:pic>
      <p:pic>
        <p:nvPicPr>
          <p:cNvPr id="7" name="Picture 6" descr="block_risk.png"/>
          <p:cNvPicPr>
            <a:picLocks noChangeAspect="1"/>
          </p:cNvPicPr>
          <p:nvPr/>
        </p:nvPicPr>
        <p:blipFill>
          <a:blip r:embed="rId3"/>
          <a:stretch>
            <a:fillRect/>
          </a:stretch>
        </p:blipFill>
        <p:spPr>
          <a:xfrm>
            <a:off x="5424941" y="1554480"/>
            <a:ext cx="5737333" cy="2651760"/>
          </a:xfrm>
          <a:prstGeom prst="rect">
            <a:avLst/>
          </a:prstGeom>
        </p:spPr>
      </p:pic>
      <p:graphicFrame>
        <p:nvGraphicFramePr>
          <p:cNvPr id="8" name="Table 7"/>
          <p:cNvGraphicFramePr>
            <a:graphicFrameLocks noGrp="1"/>
          </p:cNvGraphicFramePr>
          <p:nvPr/>
        </p:nvGraphicFramePr>
        <p:xfrm>
          <a:off x="566928" y="4407408"/>
          <a:ext cx="4160520" cy="2057400"/>
        </p:xfrm>
        <a:graphic>
          <a:graphicData uri="http://schemas.openxmlformats.org/drawingml/2006/table">
            <a:tbl>
              <a:tblPr firstRow="1" bandRow="1">
                <a:tableStyleId>{5C22544A-7EE6-4342-B048-85BDC9FD1C3A}</a:tableStyleId>
              </a:tblPr>
              <a:tblGrid>
                <a:gridCol w="2148840"/>
                <a:gridCol w="1051560"/>
                <a:gridCol w="960120"/>
              </a:tblGrid>
              <a:tr h="329184">
                <a:tc>
                  <a:txBody>
                    <a:bodyPr wrap="square"/>
                    <a:lstStyle/>
                    <a:p>
                      <a:pPr algn="l"/>
                      <a:r>
                        <a:rPr sz="1050" b="1">
                          <a:solidFill>
                            <a:srgbClr val="FFFFFF"/>
                          </a:solidFill>
                          <a:latin typeface="Segoe UI"/>
                        </a:rPr>
                        <a:t>Block</a:t>
                      </a:r>
                    </a:p>
                  </a:txBody>
                  <a:tcPr marL="91440" marR="91440" marT="27432" marB="27432" anchor="ctr">
                    <a:solidFill>
                      <a:srgbClr val="0B1E30"/>
                    </a:solidFill>
                  </a:tcPr>
                </a:tc>
                <a:tc>
                  <a:txBody>
                    <a:bodyPr wrap="square"/>
                    <a:lstStyle/>
                    <a:p>
                      <a:pPr algn="ctr"/>
                      <a:r>
                        <a:rPr sz="1050" b="1">
                          <a:solidFill>
                            <a:srgbClr val="FFFFFF"/>
                          </a:solidFill>
                          <a:latin typeface="Segoe UI"/>
                        </a:rPr>
                        <a:t>Mean risk</a:t>
                      </a:r>
                    </a:p>
                  </a:txBody>
                  <a:tcPr marL="91440" marR="91440" marT="27432" marB="27432" anchor="ctr">
                    <a:solidFill>
                      <a:srgbClr val="0B1E30"/>
                    </a:solidFill>
                  </a:tcPr>
                </a:tc>
                <a:tc>
                  <a:txBody>
                    <a:bodyPr wrap="square"/>
                    <a:lstStyle/>
                    <a:p>
                      <a:pPr algn="ctr"/>
                      <a:r>
                        <a:rPr sz="1050" b="1">
                          <a:solidFill>
                            <a:srgbClr val="FFFFFF"/>
                          </a:solidFill>
                          <a:latin typeface="Segoe UI"/>
                        </a:rPr>
                        <a:t>Wells</a:t>
                      </a:r>
                    </a:p>
                  </a:txBody>
                  <a:tcPr marL="91440" marR="91440" marT="27432" marB="27432" anchor="ctr">
                    <a:solidFill>
                      <a:srgbClr val="0B1E30"/>
                    </a:solidFill>
                  </a:tcPr>
                </a:tc>
              </a:tr>
              <a:tr h="288036">
                <a:tc>
                  <a:txBody>
                    <a:bodyPr wrap="square"/>
                    <a:lstStyle/>
                    <a:p>
                      <a:pPr algn="l"/>
                      <a:r>
                        <a:rPr sz="1050" b="0">
                          <a:solidFill>
                            <a:srgbClr val="0F172A"/>
                          </a:solidFill>
                          <a:latin typeface="Segoe UI"/>
                        </a:rPr>
                        <a:t>ANDANA</a:t>
                      </a:r>
                    </a:p>
                  </a:txBody>
                  <a:tcPr marL="91440" marR="91440" marT="27432" marB="27432" anchor="ctr">
                    <a:solidFill>
                      <a:srgbClr val="FFFFFF"/>
                    </a:solidFill>
                  </a:tcPr>
                </a:tc>
                <a:tc>
                  <a:txBody>
                    <a:bodyPr wrap="square"/>
                    <a:lstStyle/>
                    <a:p>
                      <a:pPr algn="ctr"/>
                      <a:r>
                        <a:rPr sz="1050" b="1">
                          <a:solidFill>
                            <a:srgbClr val="EF4444"/>
                          </a:solidFill>
                          <a:latin typeface="Segoe UI"/>
                        </a:rPr>
                        <a:t>51.5%</a:t>
                      </a:r>
                    </a:p>
                  </a:txBody>
                  <a:tcPr marL="91440" marR="91440" marT="27432" marB="27432" anchor="ctr">
                    <a:solidFill>
                      <a:srgbClr val="FFFFFF"/>
                    </a:solidFill>
                  </a:tcPr>
                </a:tc>
                <a:tc>
                  <a:txBody>
                    <a:bodyPr wrap="square"/>
                    <a:lstStyle/>
                    <a:p>
                      <a:pPr algn="ctr"/>
                      <a:r>
                        <a:rPr sz="1050" b="0">
                          <a:solidFill>
                            <a:srgbClr val="0F172A"/>
                          </a:solidFill>
                          <a:latin typeface="Segoe UI"/>
                        </a:rPr>
                        <a:t>2</a:t>
                      </a:r>
                    </a:p>
                  </a:txBody>
                  <a:tcPr marL="91440" marR="91440" marT="27432" marB="27432" anchor="ctr">
                    <a:solidFill>
                      <a:srgbClr val="FFFFFF"/>
                    </a:solidFill>
                  </a:tcPr>
                </a:tc>
              </a:tr>
              <a:tr h="288036">
                <a:tc>
                  <a:txBody>
                    <a:bodyPr wrap="square"/>
                    <a:lstStyle/>
                    <a:p>
                      <a:pPr algn="l"/>
                      <a:r>
                        <a:rPr sz="1050" b="0">
                          <a:solidFill>
                            <a:srgbClr val="0F172A"/>
                          </a:solidFill>
                          <a:latin typeface="Segoe UI"/>
                        </a:rPr>
                        <a:t>MOONAK</a:t>
                      </a:r>
                    </a:p>
                  </a:txBody>
                  <a:tcPr marL="91440" marR="91440" marT="27432" marB="27432" anchor="ctr">
                    <a:solidFill>
                      <a:srgbClr val="F8FAFC"/>
                    </a:solidFill>
                  </a:tcPr>
                </a:tc>
                <a:tc>
                  <a:txBody>
                    <a:bodyPr wrap="square"/>
                    <a:lstStyle/>
                    <a:p>
                      <a:pPr algn="ctr"/>
                      <a:r>
                        <a:rPr sz="1050" b="1">
                          <a:solidFill>
                            <a:srgbClr val="F59E0B"/>
                          </a:solidFill>
                          <a:latin typeface="Segoe UI"/>
                        </a:rPr>
                        <a:t>41.9%</a:t>
                      </a:r>
                    </a:p>
                  </a:txBody>
                  <a:tcPr marL="91440" marR="91440" marT="27432" marB="27432" anchor="ctr">
                    <a:solidFill>
                      <a:srgbClr val="F8FAFC"/>
                    </a:solidFill>
                  </a:tcPr>
                </a:tc>
                <a:tc>
                  <a:txBody>
                    <a:bodyPr wrap="square"/>
                    <a:lstStyle/>
                    <a:p>
                      <a:pPr algn="ctr"/>
                      <a:r>
                        <a:rPr sz="1050" b="0">
                          <a:solidFill>
                            <a:srgbClr val="0F172A"/>
                          </a:solidFill>
                          <a:latin typeface="Segoe UI"/>
                        </a:rPr>
                        <a:t>9</a:t>
                      </a:r>
                    </a:p>
                  </a:txBody>
                  <a:tcPr marL="91440" marR="91440" marT="27432" marB="27432" anchor="ctr">
                    <a:solidFill>
                      <a:srgbClr val="F8FAFC"/>
                    </a:solidFill>
                  </a:tcPr>
                </a:tc>
              </a:tr>
              <a:tr h="288036">
                <a:tc>
                  <a:txBody>
                    <a:bodyPr wrap="square"/>
                    <a:lstStyle/>
                    <a:p>
                      <a:pPr algn="l"/>
                      <a:r>
                        <a:rPr sz="1050" b="0">
                          <a:solidFill>
                            <a:srgbClr val="0F172A"/>
                          </a:solidFill>
                          <a:latin typeface="Segoe UI"/>
                        </a:rPr>
                        <a:t>SUNAM</a:t>
                      </a:r>
                    </a:p>
                  </a:txBody>
                  <a:tcPr marL="91440" marR="91440" marT="27432" marB="27432" anchor="ctr">
                    <a:solidFill>
                      <a:srgbClr val="FFFFFF"/>
                    </a:solidFill>
                  </a:tcPr>
                </a:tc>
                <a:tc>
                  <a:txBody>
                    <a:bodyPr wrap="square"/>
                    <a:lstStyle/>
                    <a:p>
                      <a:pPr algn="ctr"/>
                      <a:r>
                        <a:rPr sz="1050" b="1">
                          <a:solidFill>
                            <a:srgbClr val="F59E0B"/>
                          </a:solidFill>
                          <a:latin typeface="Segoe UI"/>
                        </a:rPr>
                        <a:t>22.7%</a:t>
                      </a:r>
                    </a:p>
                  </a:txBody>
                  <a:tcPr marL="91440" marR="91440" marT="27432" marB="27432" anchor="ctr">
                    <a:solidFill>
                      <a:srgbClr val="FFFFFF"/>
                    </a:solidFill>
                  </a:tcPr>
                </a:tc>
                <a:tc>
                  <a:txBody>
                    <a:bodyPr wrap="square"/>
                    <a:lstStyle/>
                    <a:p>
                      <a:pPr algn="ctr"/>
                      <a:r>
                        <a:rPr sz="1050" b="0">
                          <a:solidFill>
                            <a:srgbClr val="0F172A"/>
                          </a:solidFill>
                          <a:latin typeface="Segoe UI"/>
                        </a:rPr>
                        <a:t>9</a:t>
                      </a:r>
                    </a:p>
                  </a:txBody>
                  <a:tcPr marL="91440" marR="91440" marT="27432" marB="27432" anchor="ctr">
                    <a:solidFill>
                      <a:srgbClr val="FFFFFF"/>
                    </a:solidFill>
                  </a:tcPr>
                </a:tc>
              </a:tr>
              <a:tr h="288036">
                <a:tc>
                  <a:txBody>
                    <a:bodyPr wrap="square"/>
                    <a:lstStyle/>
                    <a:p>
                      <a:pPr algn="l"/>
                      <a:r>
                        <a:rPr sz="1050" b="0">
                          <a:solidFill>
                            <a:srgbClr val="0F172A"/>
                          </a:solidFill>
                          <a:latin typeface="Segoe UI"/>
                        </a:rPr>
                        <a:t>SANGRUR</a:t>
                      </a:r>
                    </a:p>
                  </a:txBody>
                  <a:tcPr marL="91440" marR="91440" marT="27432" marB="27432" anchor="ctr">
                    <a:solidFill>
                      <a:srgbClr val="F8FAFC"/>
                    </a:solidFill>
                  </a:tcPr>
                </a:tc>
                <a:tc>
                  <a:txBody>
                    <a:bodyPr wrap="square"/>
                    <a:lstStyle/>
                    <a:p>
                      <a:pPr algn="ctr"/>
                      <a:r>
                        <a:rPr sz="1050" b="0">
                          <a:solidFill>
                            <a:srgbClr val="0F172A"/>
                          </a:solidFill>
                          <a:latin typeface="Segoe UI"/>
                        </a:rPr>
                        <a:t>16.5%</a:t>
                      </a:r>
                    </a:p>
                  </a:txBody>
                  <a:tcPr marL="91440" marR="91440" marT="27432" marB="27432" anchor="ctr">
                    <a:solidFill>
                      <a:srgbClr val="F8FAFC"/>
                    </a:solidFill>
                  </a:tcPr>
                </a:tc>
                <a:tc>
                  <a:txBody>
                    <a:bodyPr wrap="square"/>
                    <a:lstStyle/>
                    <a:p>
                      <a:pPr algn="ctr"/>
                      <a:r>
                        <a:rPr sz="1050" b="0">
                          <a:solidFill>
                            <a:srgbClr val="0F172A"/>
                          </a:solidFill>
                          <a:latin typeface="Segoe UI"/>
                        </a:rPr>
                        <a:t>16</a:t>
                      </a:r>
                    </a:p>
                  </a:txBody>
                  <a:tcPr marL="91440" marR="91440" marT="27432" marB="27432" anchor="ctr">
                    <a:solidFill>
                      <a:srgbClr val="F8FAFC"/>
                    </a:solidFill>
                  </a:tcPr>
                </a:tc>
              </a:tr>
              <a:tr h="288036">
                <a:tc>
                  <a:txBody>
                    <a:bodyPr wrap="square"/>
                    <a:lstStyle/>
                    <a:p>
                      <a:pPr algn="l"/>
                      <a:r>
                        <a:rPr sz="1050" b="0">
                          <a:solidFill>
                            <a:srgbClr val="0F172A"/>
                          </a:solidFill>
                          <a:latin typeface="Segoe UI"/>
                        </a:rPr>
                        <a:t>DHURI</a:t>
                      </a:r>
                    </a:p>
                  </a:txBody>
                  <a:tcPr marL="91440" marR="91440" marT="27432" marB="27432" anchor="ctr">
                    <a:solidFill>
                      <a:srgbClr val="FFFFFF"/>
                    </a:solidFill>
                  </a:tcPr>
                </a:tc>
                <a:tc>
                  <a:txBody>
                    <a:bodyPr wrap="square"/>
                    <a:lstStyle/>
                    <a:p>
                      <a:pPr algn="ctr"/>
                      <a:r>
                        <a:rPr sz="1050" b="0">
                          <a:solidFill>
                            <a:srgbClr val="0F172A"/>
                          </a:solidFill>
                          <a:latin typeface="Segoe UI"/>
                        </a:rPr>
                        <a:t>12.5%</a:t>
                      </a:r>
                    </a:p>
                  </a:txBody>
                  <a:tcPr marL="91440" marR="91440" marT="27432" marB="27432" anchor="ctr">
                    <a:solidFill>
                      <a:srgbClr val="FFFFFF"/>
                    </a:solidFill>
                  </a:tcPr>
                </a:tc>
                <a:tc>
                  <a:txBody>
                    <a:bodyPr wrap="square"/>
                    <a:lstStyle/>
                    <a:p>
                      <a:pPr algn="ctr"/>
                      <a:r>
                        <a:rPr sz="1050" b="0">
                          <a:solidFill>
                            <a:srgbClr val="0F172A"/>
                          </a:solidFill>
                          <a:latin typeface="Segoe UI"/>
                        </a:rPr>
                        <a:t>17</a:t>
                      </a:r>
                    </a:p>
                  </a:txBody>
                  <a:tcPr marL="91440" marR="91440" marT="27432" marB="27432" anchor="ctr">
                    <a:solidFill>
                      <a:srgbClr val="FFFFFF"/>
                    </a:solidFill>
                  </a:tcPr>
                </a:tc>
              </a:tr>
              <a:tr h="288036">
                <a:tc>
                  <a:txBody>
                    <a:bodyPr wrap="square"/>
                    <a:lstStyle/>
                    <a:p>
                      <a:pPr algn="l"/>
                      <a:r>
                        <a:rPr sz="1050" b="0">
                          <a:solidFill>
                            <a:srgbClr val="0F172A"/>
                          </a:solidFill>
                          <a:latin typeface="Segoe UI"/>
                        </a:rPr>
                        <a:t>BARNALA</a:t>
                      </a:r>
                    </a:p>
                  </a:txBody>
                  <a:tcPr marL="91440" marR="91440" marT="27432" marB="27432" anchor="ctr">
                    <a:solidFill>
                      <a:srgbClr val="F8FAFC"/>
                    </a:solidFill>
                  </a:tcPr>
                </a:tc>
                <a:tc>
                  <a:txBody>
                    <a:bodyPr wrap="square"/>
                    <a:lstStyle/>
                    <a:p>
                      <a:pPr algn="ctr"/>
                      <a:r>
                        <a:rPr sz="1050" b="0">
                          <a:solidFill>
                            <a:srgbClr val="0F172A"/>
                          </a:solidFill>
                          <a:latin typeface="Segoe UI"/>
                        </a:rPr>
                        <a:t>10.8%</a:t>
                      </a:r>
                    </a:p>
                  </a:txBody>
                  <a:tcPr marL="91440" marR="91440" marT="27432" marB="27432" anchor="ctr">
                    <a:solidFill>
                      <a:srgbClr val="F8FAFC"/>
                    </a:solidFill>
                  </a:tcPr>
                </a:tc>
                <a:tc>
                  <a:txBody>
                    <a:bodyPr wrap="square"/>
                    <a:lstStyle/>
                    <a:p>
                      <a:pPr algn="ctr"/>
                      <a:r>
                        <a:rPr sz="1050" b="0">
                          <a:solidFill>
                            <a:srgbClr val="0F172A"/>
                          </a:solidFill>
                          <a:latin typeface="Segoe UI"/>
                        </a:rPr>
                        <a:t>3</a:t>
                      </a:r>
                    </a:p>
                  </a:txBody>
                  <a:tcPr marL="91440" marR="91440" marT="27432" marB="27432" anchor="ctr">
                    <a:solidFill>
                      <a:srgbClr val="F8FAFC"/>
                    </a:solidFill>
                  </a:tcPr>
                </a:tc>
              </a:tr>
            </a:tbl>
          </a:graphicData>
        </a:graphic>
      </p:graphicFrame>
      <p:sp>
        <p:nvSpPr>
          <p:cNvPr id="9" name="TextBox 8"/>
          <p:cNvSpPr txBox="1"/>
          <p:nvPr/>
        </p:nvSpPr>
        <p:spPr>
          <a:xfrm>
            <a:off x="4956048" y="4407408"/>
            <a:ext cx="6675120" cy="1051560"/>
          </a:xfrm>
          <a:prstGeom prst="rect">
            <a:avLst/>
          </a:prstGeom>
          <a:noFill/>
        </p:spPr>
        <p:txBody>
          <a:bodyPr wrap="square" lIns="0" rIns="0" tIns="0" bIns="0" anchor="t">
            <a:spAutoFit/>
          </a:bodyPr>
          <a:lstStyle/>
          <a:p>
            <a:pPr algn="l">
              <a:lnSpc>
                <a:spcPct val="122000"/>
              </a:lnSpc>
              <a:spcAft>
                <a:spcPts val="400"/>
              </a:spcAft>
            </a:pPr>
            <a:r>
              <a:rPr sz="1150" b="0">
                <a:solidFill>
                  <a:srgbClr val="0F172A"/>
                </a:solidFill>
                <a:latin typeface="Segoe UI"/>
              </a:rPr>
              <a:t>Each of the 122 real CGWB wells keeps its own lithology offset, derived from the wells that have in-situ readings and IDW-interpolated to the rest. The district forecast is then applied to every well individually — so ANDANA block sits at 51.5% pump-failure risk while PAKHOWAL sits at 0.0%, in the same district, on the same day. 12 wells are above 50%.</a:t>
            </a:r>
          </a:p>
        </p:txBody>
      </p:sp>
      <p:sp>
        <p:nvSpPr>
          <p:cNvPr id="10" name="TextBox 9"/>
          <p:cNvSpPr txBox="1"/>
          <p:nvPr/>
        </p:nvSpPr>
        <p:spPr>
          <a:xfrm>
            <a:off x="566928" y="6419088"/>
            <a:ext cx="8229600" cy="237744"/>
          </a:xfrm>
          <a:prstGeom prst="rect">
            <a:avLst/>
          </a:prstGeom>
          <a:noFill/>
        </p:spPr>
        <p:txBody>
          <a:bodyPr wrap="square" lIns="0" rIns="0" tIns="0" bIns="0" anchor="t">
            <a:spAutoFit/>
          </a:bodyPr>
          <a:lstStyle/>
          <a:p>
            <a:pPr algn="l">
              <a:lnSpc>
                <a:spcPct val="100000"/>
              </a:lnSpc>
              <a:spcAft>
                <a:spcPts val="400"/>
              </a:spcAft>
            </a:pPr>
            <a:r>
              <a:rPr sz="850" b="0">
                <a:solidFill>
                  <a:srgbClr val="94A3B8"/>
                </a:solidFill>
                <a:latin typeface="Segoe UI"/>
              </a:rPr>
              <a:t>AquaCast-Punjab  ·  Sankalp — Climate-Smart Agriculture, Water &amp; Rural Credit</a:t>
            </a:r>
          </a:p>
        </p:txBody>
      </p:sp>
      <p:sp>
        <p:nvSpPr>
          <p:cNvPr id="11" name="TextBox 10"/>
          <p:cNvSpPr txBox="1"/>
          <p:nvPr/>
        </p:nvSpPr>
        <p:spPr>
          <a:xfrm>
            <a:off x="10972800" y="6419088"/>
            <a:ext cx="685800" cy="237744"/>
          </a:xfrm>
          <a:prstGeom prst="rect">
            <a:avLst/>
          </a:prstGeom>
          <a:noFill/>
        </p:spPr>
        <p:txBody>
          <a:bodyPr wrap="square" lIns="0" rIns="0" tIns="0" bIns="0" anchor="t">
            <a:spAutoFit/>
          </a:bodyPr>
          <a:lstStyle/>
          <a:p>
            <a:pPr algn="r">
              <a:lnSpc>
                <a:spcPct val="100000"/>
              </a:lnSpc>
              <a:spcAft>
                <a:spcPts val="400"/>
              </a:spcAft>
            </a:pPr>
            <a:r>
              <a:rPr sz="850" b="1">
                <a:solidFill>
                  <a:srgbClr val="94A3B8"/>
                </a:solidFill>
                <a:latin typeface="Segoe U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11064240" cy="256032"/>
          </a:xfrm>
          <a:prstGeom prst="rect">
            <a:avLst/>
          </a:prstGeom>
          <a:noFill/>
        </p:spPr>
        <p:txBody>
          <a:bodyPr wrap="square" lIns="0" rIns="0" tIns="0" bIns="0" anchor="t">
            <a:spAutoFit/>
          </a:bodyPr>
          <a:lstStyle/>
          <a:p>
            <a:pPr algn="l">
              <a:lnSpc>
                <a:spcPct val="100000"/>
              </a:lnSpc>
              <a:spcAft>
                <a:spcPts val="400"/>
              </a:spcAft>
            </a:pPr>
            <a:r>
              <a:rPr sz="1050" b="1">
                <a:solidFill>
                  <a:srgbClr val="0369A1"/>
                </a:solidFill>
                <a:latin typeface="Segoe UI"/>
              </a:rPr>
              <a:t>WOW FEATURE</a:t>
            </a:r>
          </a:p>
        </p:txBody>
      </p:sp>
      <p:sp>
        <p:nvSpPr>
          <p:cNvPr id="4" name="TextBox 3"/>
          <p:cNvSpPr txBox="1"/>
          <p:nvPr/>
        </p:nvSpPr>
        <p:spPr>
          <a:xfrm>
            <a:off x="566928" y="640080"/>
            <a:ext cx="11064240" cy="658368"/>
          </a:xfrm>
          <a:prstGeom prst="rect">
            <a:avLst/>
          </a:prstGeom>
          <a:noFill/>
        </p:spPr>
        <p:txBody>
          <a:bodyPr wrap="square" lIns="0" rIns="0" tIns="0" bIns="0" anchor="t">
            <a:spAutoFit/>
          </a:bodyPr>
          <a:lstStyle/>
          <a:p>
            <a:pPr algn="l">
              <a:lnSpc>
                <a:spcPct val="100000"/>
              </a:lnSpc>
              <a:spcAft>
                <a:spcPts val="400"/>
              </a:spcAft>
            </a:pPr>
            <a:r>
              <a:rPr sz="2500" b="1">
                <a:solidFill>
                  <a:srgbClr val="0F172A"/>
                </a:solidFill>
                <a:latin typeface="Segoe UI"/>
              </a:rPr>
              <a:t>WOW 03 · The advisory a farmer can actually act on — in Punjabi</a:t>
            </a:r>
          </a:p>
        </p:txBody>
      </p:sp>
      <p:sp>
        <p:nvSpPr>
          <p:cNvPr id="5" name="Rectangle 4"/>
          <p:cNvSpPr/>
          <p:nvPr/>
        </p:nvSpPr>
        <p:spPr>
          <a:xfrm>
            <a:off x="566928" y="1335024"/>
            <a:ext cx="658368"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ounded Rectangle 5"/>
          <p:cNvSpPr/>
          <p:nvPr/>
        </p:nvSpPr>
        <p:spPr>
          <a:xfrm>
            <a:off x="566928" y="1554480"/>
            <a:ext cx="4160520" cy="3931920"/>
          </a:xfrm>
          <a:prstGeom prst="roundRect">
            <a:avLst>
              <a:gd name="adj" fmla="val 6000"/>
            </a:avLst>
          </a:prstGeom>
          <a:solidFill>
            <a:srgbClr val="F1F5F9"/>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unded Rectangle 6"/>
          <p:cNvSpPr/>
          <p:nvPr/>
        </p:nvSpPr>
        <p:spPr>
          <a:xfrm>
            <a:off x="566928" y="1554480"/>
            <a:ext cx="4160520" cy="384048"/>
          </a:xfrm>
          <a:prstGeom prst="roundRect">
            <a:avLst>
              <a:gd name="adj" fmla="val 30000"/>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566928" y="1810512"/>
            <a:ext cx="4160520" cy="146304"/>
          </a:xfrm>
          <a:prstGeom prst="rect">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768096" y="1618488"/>
            <a:ext cx="3794760" cy="274320"/>
          </a:xfrm>
          <a:prstGeom prst="rect">
            <a:avLst/>
          </a:prstGeom>
          <a:noFill/>
        </p:spPr>
        <p:txBody>
          <a:bodyPr wrap="square" lIns="0" rIns="0" tIns="0" bIns="0" anchor="t">
            <a:spAutoFit/>
          </a:bodyPr>
          <a:lstStyle/>
          <a:p>
            <a:pPr algn="l">
              <a:lnSpc>
                <a:spcPct val="100000"/>
              </a:lnSpc>
              <a:spcAft>
                <a:spcPts val="400"/>
              </a:spcAft>
            </a:pPr>
            <a:r>
              <a:rPr sz="1150" b="1">
                <a:solidFill>
                  <a:srgbClr val="FFFFFF"/>
                </a:solidFill>
                <a:latin typeface="Segoe UI"/>
              </a:rPr>
              <a:t>WhatsApp · English</a:t>
            </a:r>
          </a:p>
        </p:txBody>
      </p:sp>
      <p:sp>
        <p:nvSpPr>
          <p:cNvPr id="10" name="TextBox 9"/>
          <p:cNvSpPr txBox="1"/>
          <p:nvPr/>
        </p:nvSpPr>
        <p:spPr>
          <a:xfrm>
            <a:off x="768096" y="2084832"/>
            <a:ext cx="3758184" cy="3200400"/>
          </a:xfrm>
          <a:prstGeom prst="rect">
            <a:avLst/>
          </a:prstGeom>
          <a:noFill/>
        </p:spPr>
        <p:txBody>
          <a:bodyPr wrap="square">
            <a:spAutoFit/>
          </a:bodyPr>
          <a:lstStyle/>
          <a:p>
            <a:pPr>
              <a:lnSpc>
                <a:spcPct val="115000"/>
              </a:lnSpc>
            </a:pPr>
            <a:r>
              <a:rPr sz="950" b="1">
                <a:solidFill>
                  <a:srgbClr val="0F172A"/>
                </a:solidFill>
                <a:latin typeface="Consolas"/>
              </a:rPr>
              <a:t>*AquaCast Alert — Sangrur*</a:t>
            </a:r>
          </a:p>
          <a:p>
            <a:pPr>
              <a:lnSpc>
                <a:spcPct val="115000"/>
              </a:lnSpc>
            </a:pPr>
            <a:r>
              <a:rPr sz="950" b="0">
                <a:solidFill>
                  <a:srgbClr val="64748B"/>
                </a:solidFill>
                <a:latin typeface="Consolas"/>
              </a:rPr>
              <a:t>📅 02 Oct 2026 → 31 Dec 2026 (+90 d)</a:t>
            </a:r>
          </a:p>
          <a:p>
            <a:pPr>
              <a:lnSpc>
                <a:spcPct val="115000"/>
              </a:lnSpc>
            </a:pPr>
            <a:r>
              <a:rPr sz="950" b="0">
                <a:solidFill>
                  <a:srgbClr val="94A3B8"/>
                </a:solidFill>
                <a:latin typeface="Consolas"/>
              </a:rPr>
              <a:t>━━━━━━━━━━━━━━━</a:t>
            </a:r>
          </a:p>
          <a:p>
            <a:pPr>
              <a:lnSpc>
                <a:spcPct val="115000"/>
              </a:lnSpc>
            </a:pPr>
            <a:r>
              <a:rPr sz="950" b="0">
                <a:solidFill>
                  <a:srgbClr val="0F172A"/>
                </a:solidFill>
                <a:latin typeface="Consolas"/>
              </a:rPr>
              <a:t>💧 Water table: *36.0 → 35.6* m bgl</a:t>
            </a:r>
          </a:p>
          <a:p>
            <a:pPr>
              <a:lnSpc>
                <a:spcPct val="115000"/>
              </a:lnSpc>
            </a:pPr>
            <a:r>
              <a:rPr sz="950" b="0">
                <a:solidFill>
                  <a:srgbClr val="0F172A"/>
                </a:solidFill>
                <a:latin typeface="Consolas"/>
              </a:rPr>
              <a:t>🔴 Aquifer zone: *OVER-EXPLOITED*</a:t>
            </a:r>
          </a:p>
          <a:p>
            <a:pPr>
              <a:lnSpc>
                <a:spcPct val="115000"/>
              </a:lnSpc>
            </a:pPr>
            <a:r>
              <a:rPr sz="950" b="0">
                <a:solidFill>
                  <a:srgbClr val="0F172A"/>
                </a:solidFill>
                <a:latin typeface="Consolas"/>
              </a:rPr>
              <a:t>🚰 Pump quota: *1.7 h/week/acre*</a:t>
            </a:r>
          </a:p>
          <a:p>
            <a:pPr>
              <a:lnSpc>
                <a:spcPct val="115000"/>
              </a:lnSpc>
            </a:pPr>
            <a:r>
              <a:rPr sz="950" b="0">
                <a:solidFill>
                  <a:srgbClr val="64748B"/>
                </a:solidFill>
                <a:latin typeface="Consolas"/>
              </a:rPr>
              <a:t>   (~10 h run, every 40 days)</a:t>
            </a:r>
          </a:p>
          <a:p>
            <a:pPr>
              <a:lnSpc>
                <a:spcPct val="115000"/>
              </a:lnSpc>
            </a:pPr>
            <a:r>
              <a:rPr sz="950" b="0">
                <a:solidFill>
                  <a:srgbClr val="64748B"/>
                </a:solidFill>
                <a:latin typeface="Consolas"/>
              </a:rPr>
              <a:t>   pump delivery at this depth: 25 m³/h</a:t>
            </a:r>
          </a:p>
          <a:p>
            <a:pPr>
              <a:lnSpc>
                <a:spcPct val="115000"/>
              </a:lnSpc>
            </a:pPr>
            <a:r>
              <a:rPr sz="950" b="0">
                <a:solidFill>
                  <a:srgbClr val="0F172A"/>
                </a:solidFill>
                <a:latin typeface="Consolas"/>
              </a:rPr>
              <a:t>⚠️ Pump failure risk: *0%*</a:t>
            </a:r>
          </a:p>
          <a:p>
            <a:pPr>
              <a:lnSpc>
                <a:spcPct val="115000"/>
              </a:lnSpc>
            </a:pPr>
            <a:r>
              <a:rPr sz="950" b="0">
                <a:solidFill>
                  <a:srgbClr val="0F172A"/>
                </a:solidFill>
                <a:latin typeface="Consolas"/>
              </a:rPr>
              <a:t>🌾 Tillering / canopy development</a:t>
            </a:r>
          </a:p>
          <a:p>
            <a:pPr>
              <a:lnSpc>
                <a:spcPct val="115000"/>
              </a:lnSpc>
            </a:pPr>
            <a:r>
              <a:rPr sz="950" b="0">
                <a:solidFill>
                  <a:srgbClr val="0F172A"/>
                </a:solidFill>
                <a:latin typeface="Consolas"/>
              </a:rPr>
              <a:t>🏦 Loan risk: 62/100 (High)</a:t>
            </a:r>
          </a:p>
          <a:p>
            <a:pPr>
              <a:lnSpc>
                <a:spcPct val="115000"/>
              </a:lnSpc>
            </a:pPr>
            <a:r>
              <a:rPr sz="950" b="0">
                <a:solidFill>
                  <a:srgbClr val="94A3B8"/>
                </a:solidFill>
                <a:latin typeface="Consolas"/>
              </a:rPr>
              <a:t>━━━━━━━━━━━━━━━</a:t>
            </a:r>
          </a:p>
          <a:p>
            <a:pPr>
              <a:lnSpc>
                <a:spcPct val="115000"/>
              </a:lnSpc>
            </a:pPr>
            <a:r>
              <a:rPr sz="950" b="0">
                <a:solidFill>
                  <a:srgbClr val="0F172A"/>
                </a:solidFill>
                <a:latin typeface="Consolas"/>
              </a:rPr>
              <a:t>⛔ Cut pumping — aquifer below safe threshold.</a:t>
            </a:r>
          </a:p>
          <a:p>
            <a:pPr>
              <a:lnSpc>
                <a:spcPct val="115000"/>
              </a:lnSpc>
            </a:pPr>
            <a:r>
              <a:rPr sz="950" b="0">
                <a:solidFill>
                  <a:srgbClr val="0F172A"/>
                </a:solidFill>
                <a:latin typeface="Consolas"/>
              </a:rPr>
              <a:t>💧 Shift to drip / sprinkler to cut draft 40%.</a:t>
            </a:r>
          </a:p>
        </p:txBody>
      </p:sp>
      <p:sp>
        <p:nvSpPr>
          <p:cNvPr id="11" name="Rounded Rectangle 10"/>
          <p:cNvSpPr/>
          <p:nvPr/>
        </p:nvSpPr>
        <p:spPr>
          <a:xfrm>
            <a:off x="4956048" y="1554480"/>
            <a:ext cx="4160520" cy="3931920"/>
          </a:xfrm>
          <a:prstGeom prst="roundRect">
            <a:avLst>
              <a:gd name="adj" fmla="val 6000"/>
            </a:avLst>
          </a:prstGeom>
          <a:solidFill>
            <a:srgbClr val="F1F5F9"/>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4956048" y="1554480"/>
            <a:ext cx="4160520" cy="384048"/>
          </a:xfrm>
          <a:prstGeom prst="roundRect">
            <a:avLst>
              <a:gd name="adj" fmla="val 30000"/>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4956048" y="1810512"/>
            <a:ext cx="4160520" cy="146304"/>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5157216" y="1618488"/>
            <a:ext cx="3794760" cy="274320"/>
          </a:xfrm>
          <a:prstGeom prst="rect">
            <a:avLst/>
          </a:prstGeom>
          <a:noFill/>
        </p:spPr>
        <p:txBody>
          <a:bodyPr wrap="square" lIns="0" rIns="0" tIns="0" bIns="0" anchor="t">
            <a:spAutoFit/>
          </a:bodyPr>
          <a:lstStyle/>
          <a:p>
            <a:pPr algn="l">
              <a:lnSpc>
                <a:spcPct val="100000"/>
              </a:lnSpc>
              <a:spcAft>
                <a:spcPts val="400"/>
              </a:spcAft>
            </a:pPr>
            <a:r>
              <a:rPr sz="1150" b="1">
                <a:solidFill>
                  <a:srgbClr val="FFFFFF"/>
                </a:solidFill>
                <a:latin typeface="Segoe UI"/>
              </a:rPr>
              <a:t>WhatsApp · ਪੰਜਾਬੀ</a:t>
            </a:r>
          </a:p>
        </p:txBody>
      </p:sp>
      <p:sp>
        <p:nvSpPr>
          <p:cNvPr id="15" name="TextBox 14"/>
          <p:cNvSpPr txBox="1"/>
          <p:nvPr/>
        </p:nvSpPr>
        <p:spPr>
          <a:xfrm>
            <a:off x="5157216" y="2084832"/>
            <a:ext cx="3758184" cy="3200400"/>
          </a:xfrm>
          <a:prstGeom prst="rect">
            <a:avLst/>
          </a:prstGeom>
          <a:noFill/>
        </p:spPr>
        <p:txBody>
          <a:bodyPr wrap="square">
            <a:spAutoFit/>
          </a:bodyPr>
          <a:lstStyle/>
          <a:p>
            <a:pPr>
              <a:lnSpc>
                <a:spcPct val="115000"/>
              </a:lnSpc>
            </a:pPr>
            <a:r>
              <a:rPr sz="950" b="1">
                <a:solidFill>
                  <a:srgbClr val="0F172A"/>
                </a:solidFill>
                <a:latin typeface="Nirmala UI"/>
              </a:rPr>
              <a:t>*ਐਕੁਆਕਾਸਟ ਚੇਤਾਵਨੀ — Sangrur*</a:t>
            </a:r>
          </a:p>
          <a:p>
            <a:pPr>
              <a:lnSpc>
                <a:spcPct val="115000"/>
              </a:lnSpc>
            </a:pPr>
            <a:r>
              <a:rPr sz="950" b="0">
                <a:solidFill>
                  <a:srgbClr val="64748B"/>
                </a:solidFill>
                <a:latin typeface="Nirmala UI"/>
              </a:rPr>
              <a:t>📅 02 ਅਕਤੂ 2026 → 31 ਦਸੰ 2026 (+90 ਦਿਨ)</a:t>
            </a:r>
          </a:p>
          <a:p>
            <a:pPr>
              <a:lnSpc>
                <a:spcPct val="115000"/>
              </a:lnSpc>
            </a:pPr>
            <a:r>
              <a:rPr sz="950" b="0">
                <a:solidFill>
                  <a:srgbClr val="94A3B8"/>
                </a:solidFill>
                <a:latin typeface="Consolas"/>
              </a:rPr>
              <a:t>━━━━━━━━━━━━━━━</a:t>
            </a:r>
          </a:p>
          <a:p>
            <a:pPr>
              <a:lnSpc>
                <a:spcPct val="115000"/>
              </a:lnSpc>
            </a:pPr>
            <a:r>
              <a:rPr sz="950" b="0">
                <a:solidFill>
                  <a:srgbClr val="0F172A"/>
                </a:solidFill>
                <a:latin typeface="Nirmala UI"/>
              </a:rPr>
              <a:t>💧 ਪਾਣੀ ਦਾ ਪੱਧਰ: *36.0 → 35.6* ਮੀਟਰ ਹੇਠਾਂ</a:t>
            </a:r>
          </a:p>
          <a:p>
            <a:pPr>
              <a:lnSpc>
                <a:spcPct val="115000"/>
              </a:lnSpc>
            </a:pPr>
            <a:r>
              <a:rPr sz="950" b="0">
                <a:solidFill>
                  <a:srgbClr val="0F172A"/>
                </a:solidFill>
                <a:latin typeface="Nirmala UI"/>
              </a:rPr>
              <a:t>🔴 ਧਰਤੀ ਹੇਠਲੇ ਪਾਣੀ ਦੀ ਹਾਲਤ: *ਵੱਧ-ਖਿੱਚ*</a:t>
            </a:r>
          </a:p>
          <a:p>
            <a:pPr>
              <a:lnSpc>
                <a:spcPct val="115000"/>
              </a:lnSpc>
            </a:pPr>
            <a:r>
              <a:rPr sz="950" b="0">
                <a:solidFill>
                  <a:srgbClr val="0F172A"/>
                </a:solidFill>
                <a:latin typeface="Nirmala UI"/>
              </a:rPr>
              <a:t>🚰 ਟਿਊਬਵੈੱਲ ਸਮਾਂ: *1.7 ਘੰਟੇ / ਹਫ਼ਤਾ / ਏਕੜ*</a:t>
            </a:r>
          </a:p>
          <a:p>
            <a:pPr>
              <a:lnSpc>
                <a:spcPct val="115000"/>
              </a:lnSpc>
            </a:pPr>
            <a:r>
              <a:rPr sz="950" b="0">
                <a:solidFill>
                  <a:srgbClr val="64748B"/>
                </a:solidFill>
                <a:latin typeface="Nirmala UI"/>
              </a:rPr>
              <a:t>   (~10 ਘੰਟੇ, ਹਰ 40 ਦਿਨਾਂ ਬਾਅਦ)</a:t>
            </a:r>
          </a:p>
          <a:p>
            <a:pPr>
              <a:lnSpc>
                <a:spcPct val="115000"/>
              </a:lnSpc>
            </a:pPr>
            <a:r>
              <a:rPr sz="950" b="0">
                <a:solidFill>
                  <a:srgbClr val="64748B"/>
                </a:solidFill>
                <a:latin typeface="Nirmala UI"/>
              </a:rPr>
              <a:t>   ਇਸ ਡੂੰਘਾਈ ਤੇ ਪੰਪ ਡਿਲੀਵਰੀ: 25 ਮੀ³/ਘੰਟਾ</a:t>
            </a:r>
          </a:p>
          <a:p>
            <a:pPr>
              <a:lnSpc>
                <a:spcPct val="115000"/>
              </a:lnSpc>
            </a:pPr>
            <a:r>
              <a:rPr sz="950" b="0">
                <a:solidFill>
                  <a:srgbClr val="0F172A"/>
                </a:solidFill>
                <a:latin typeface="Nirmala UI"/>
              </a:rPr>
              <a:t>⚠️ ਪੰਪ ਖ਼ਰਾਬ ਹੋਣ ਦਾ ਖ਼ਤਰਾ: *0%*</a:t>
            </a:r>
          </a:p>
          <a:p>
            <a:pPr>
              <a:lnSpc>
                <a:spcPct val="115000"/>
              </a:lnSpc>
            </a:pPr>
            <a:r>
              <a:rPr sz="950" b="0">
                <a:solidFill>
                  <a:srgbClr val="0F172A"/>
                </a:solidFill>
                <a:latin typeface="Nirmala UI"/>
              </a:rPr>
              <a:t>🌾 ਕੱਲੀਆਂ ਨਿਕਲਣਾ</a:t>
            </a:r>
          </a:p>
          <a:p>
            <a:pPr>
              <a:lnSpc>
                <a:spcPct val="115000"/>
              </a:lnSpc>
            </a:pPr>
            <a:r>
              <a:rPr sz="950" b="0">
                <a:solidFill>
                  <a:srgbClr val="0F172A"/>
                </a:solidFill>
                <a:latin typeface="Nirmala UI"/>
              </a:rPr>
              <a:t>🏦 ਕਰਜ਼ੇ ਦਾ ਖ਼ਤਰਾ: 62/100 (ਉੱਚਾ)</a:t>
            </a:r>
          </a:p>
          <a:p>
            <a:pPr>
              <a:lnSpc>
                <a:spcPct val="115000"/>
              </a:lnSpc>
            </a:pPr>
            <a:r>
              <a:rPr sz="950" b="0">
                <a:solidFill>
                  <a:srgbClr val="94A3B8"/>
                </a:solidFill>
                <a:latin typeface="Consolas"/>
              </a:rPr>
              <a:t>━━━━━━━━━━━━━━━</a:t>
            </a:r>
          </a:p>
          <a:p>
            <a:pPr>
              <a:lnSpc>
                <a:spcPct val="115000"/>
              </a:lnSpc>
            </a:pPr>
            <a:r>
              <a:rPr sz="950" b="0">
                <a:solidFill>
                  <a:srgbClr val="0F172A"/>
                </a:solidFill>
                <a:latin typeface="Nirmala UI"/>
              </a:rPr>
              <a:t>⛔ ਪੰਪਿੰਗ ਘਟਾਓ — ਪਾਣੀ ਸੁਰੱਖਿਅਤ ਪੱਧਰ ਤੋਂ ਹੇਠਾਂ ਹੈ।</a:t>
            </a:r>
          </a:p>
          <a:p>
            <a:pPr>
              <a:lnSpc>
                <a:spcPct val="115000"/>
              </a:lnSpc>
            </a:pPr>
            <a:r>
              <a:rPr sz="950" b="0">
                <a:solidFill>
                  <a:srgbClr val="0F172A"/>
                </a:solidFill>
                <a:latin typeface="Nirmala UI"/>
              </a:rPr>
              <a:t>💧 ਤੁਪਕਾ / ਛਿੜਕਾਅ ਸਿੰਚਾਈ ਅਪਣਾਓ।</a:t>
            </a:r>
          </a:p>
        </p:txBody>
      </p:sp>
      <p:sp>
        <p:nvSpPr>
          <p:cNvPr id="16" name="TextBox 15"/>
          <p:cNvSpPr txBox="1"/>
          <p:nvPr/>
        </p:nvSpPr>
        <p:spPr>
          <a:xfrm>
            <a:off x="9345168" y="1554480"/>
            <a:ext cx="2286000" cy="320040"/>
          </a:xfrm>
          <a:prstGeom prst="rect">
            <a:avLst/>
          </a:prstGeom>
          <a:noFill/>
        </p:spPr>
        <p:txBody>
          <a:bodyPr wrap="square" lIns="0" rIns="0" tIns="0" bIns="0" anchor="t">
            <a:spAutoFit/>
          </a:bodyPr>
          <a:lstStyle/>
          <a:p>
            <a:pPr algn="l">
              <a:lnSpc>
                <a:spcPct val="100000"/>
              </a:lnSpc>
              <a:spcAft>
                <a:spcPts val="400"/>
              </a:spcAft>
            </a:pPr>
            <a:r>
              <a:rPr sz="1300" b="1">
                <a:solidFill>
                  <a:srgbClr val="0F172A"/>
                </a:solidFill>
                <a:latin typeface="Segoe UI"/>
              </a:rPr>
              <a:t>Also shipped</a:t>
            </a:r>
          </a:p>
        </p:txBody>
      </p:sp>
      <p:sp>
        <p:nvSpPr>
          <p:cNvPr id="17" name="Oval 16"/>
          <p:cNvSpPr/>
          <p:nvPr/>
        </p:nvSpPr>
        <p:spPr>
          <a:xfrm>
            <a:off x="9345168" y="2025396"/>
            <a:ext cx="77724" cy="77724"/>
          </a:xfrm>
          <a:prstGeom prst="ellipse">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9582912" y="1929384"/>
            <a:ext cx="2048256" cy="274320"/>
          </a:xfrm>
          <a:prstGeom prst="rect">
            <a:avLst/>
          </a:prstGeom>
          <a:noFill/>
        </p:spPr>
        <p:txBody>
          <a:bodyPr wrap="square" lIns="0" rIns="0" tIns="0" bIns="0" anchor="t">
            <a:spAutoFit/>
          </a:bodyPr>
          <a:lstStyle/>
          <a:p>
            <a:pPr algn="l">
              <a:lnSpc>
                <a:spcPct val="100000"/>
              </a:lnSpc>
              <a:spcAft>
                <a:spcPts val="400"/>
              </a:spcAft>
            </a:pPr>
            <a:r>
              <a:rPr sz="1100" b="1">
                <a:solidFill>
                  <a:srgbClr val="0F172A"/>
                </a:solidFill>
                <a:latin typeface="Segoe UI"/>
              </a:rPr>
              <a:t>SMS fallback</a:t>
            </a:r>
          </a:p>
        </p:txBody>
      </p:sp>
      <p:sp>
        <p:nvSpPr>
          <p:cNvPr id="19" name="TextBox 18"/>
          <p:cNvSpPr txBox="1"/>
          <p:nvPr/>
        </p:nvSpPr>
        <p:spPr>
          <a:xfrm>
            <a:off x="9582912" y="2171700"/>
            <a:ext cx="2048256" cy="548640"/>
          </a:xfrm>
          <a:prstGeom prst="rect">
            <a:avLst/>
          </a:prstGeom>
          <a:noFill/>
        </p:spPr>
        <p:txBody>
          <a:bodyPr wrap="square" lIns="0" rIns="0" tIns="0" bIns="0" anchor="t">
            <a:spAutoFit/>
          </a:bodyPr>
          <a:lstStyle/>
          <a:p>
            <a:pPr algn="l">
              <a:lnSpc>
                <a:spcPct val="98000"/>
              </a:lnSpc>
              <a:spcAft>
                <a:spcPts val="400"/>
              </a:spcAft>
            </a:pPr>
            <a:r>
              <a:rPr sz="950" b="0">
                <a:solidFill>
                  <a:srgbClr val="64748B"/>
                </a:solidFill>
                <a:latin typeface="Segoe UI"/>
              </a:rPr>
              <a:t>160-char version for feature phones</a:t>
            </a:r>
          </a:p>
        </p:txBody>
      </p:sp>
      <p:sp>
        <p:nvSpPr>
          <p:cNvPr id="20" name="Oval 19"/>
          <p:cNvSpPr/>
          <p:nvPr/>
        </p:nvSpPr>
        <p:spPr>
          <a:xfrm>
            <a:off x="9345168" y="2610612"/>
            <a:ext cx="77724" cy="77724"/>
          </a:xfrm>
          <a:prstGeom prst="ellipse">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9582912" y="2514600"/>
            <a:ext cx="2048256" cy="274320"/>
          </a:xfrm>
          <a:prstGeom prst="rect">
            <a:avLst/>
          </a:prstGeom>
          <a:noFill/>
        </p:spPr>
        <p:txBody>
          <a:bodyPr wrap="square" lIns="0" rIns="0" tIns="0" bIns="0" anchor="t">
            <a:spAutoFit/>
          </a:bodyPr>
          <a:lstStyle/>
          <a:p>
            <a:pPr algn="l">
              <a:lnSpc>
                <a:spcPct val="100000"/>
              </a:lnSpc>
              <a:spcAft>
                <a:spcPts val="400"/>
              </a:spcAft>
            </a:pPr>
            <a:r>
              <a:rPr sz="1100" b="1">
                <a:solidFill>
                  <a:srgbClr val="0F172A"/>
                </a:solidFill>
                <a:latin typeface="Segoe UI"/>
              </a:rPr>
              <a:t>HTML → PDF</a:t>
            </a:r>
          </a:p>
        </p:txBody>
      </p:sp>
      <p:sp>
        <p:nvSpPr>
          <p:cNvPr id="22" name="TextBox 21"/>
          <p:cNvSpPr txBox="1"/>
          <p:nvPr/>
        </p:nvSpPr>
        <p:spPr>
          <a:xfrm>
            <a:off x="9582912" y="2756916"/>
            <a:ext cx="2048256" cy="548640"/>
          </a:xfrm>
          <a:prstGeom prst="rect">
            <a:avLst/>
          </a:prstGeom>
          <a:noFill/>
        </p:spPr>
        <p:txBody>
          <a:bodyPr wrap="square" lIns="0" rIns="0" tIns="0" bIns="0" anchor="t">
            <a:spAutoFit/>
          </a:bodyPr>
          <a:lstStyle/>
          <a:p>
            <a:pPr algn="l">
              <a:lnSpc>
                <a:spcPct val="98000"/>
              </a:lnSpc>
              <a:spcAft>
                <a:spcPts val="400"/>
              </a:spcAft>
            </a:pPr>
            <a:r>
              <a:rPr sz="950" b="0">
                <a:solidFill>
                  <a:srgbClr val="64748B"/>
                </a:solidFill>
                <a:latin typeface="Segoe UI"/>
              </a:rPr>
              <a:t>printable district advisory</a:t>
            </a:r>
          </a:p>
        </p:txBody>
      </p:sp>
      <p:sp>
        <p:nvSpPr>
          <p:cNvPr id="23" name="Oval 22"/>
          <p:cNvSpPr/>
          <p:nvPr/>
        </p:nvSpPr>
        <p:spPr>
          <a:xfrm>
            <a:off x="9345168" y="3195828"/>
            <a:ext cx="77724" cy="77724"/>
          </a:xfrm>
          <a:prstGeom prst="ellipse">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9582912" y="3099816"/>
            <a:ext cx="2048256" cy="274320"/>
          </a:xfrm>
          <a:prstGeom prst="rect">
            <a:avLst/>
          </a:prstGeom>
          <a:noFill/>
        </p:spPr>
        <p:txBody>
          <a:bodyPr wrap="square" lIns="0" rIns="0" tIns="0" bIns="0" anchor="t">
            <a:spAutoFit/>
          </a:bodyPr>
          <a:lstStyle/>
          <a:p>
            <a:pPr algn="l">
              <a:lnSpc>
                <a:spcPct val="100000"/>
              </a:lnSpc>
              <a:spcAft>
                <a:spcPts val="400"/>
              </a:spcAft>
            </a:pPr>
            <a:r>
              <a:rPr sz="1100" b="1">
                <a:solidFill>
                  <a:srgbClr val="0F172A"/>
                </a:solidFill>
                <a:latin typeface="Segoe UI"/>
              </a:rPr>
              <a:t>CSV / JSON export</a:t>
            </a:r>
          </a:p>
        </p:txBody>
      </p:sp>
      <p:sp>
        <p:nvSpPr>
          <p:cNvPr id="25" name="TextBox 24"/>
          <p:cNvSpPr txBox="1"/>
          <p:nvPr/>
        </p:nvSpPr>
        <p:spPr>
          <a:xfrm>
            <a:off x="9582912" y="3342132"/>
            <a:ext cx="2048256" cy="548640"/>
          </a:xfrm>
          <a:prstGeom prst="rect">
            <a:avLst/>
          </a:prstGeom>
          <a:noFill/>
        </p:spPr>
        <p:txBody>
          <a:bodyPr wrap="square" lIns="0" rIns="0" tIns="0" bIns="0" anchor="t">
            <a:spAutoFit/>
          </a:bodyPr>
          <a:lstStyle/>
          <a:p>
            <a:pPr algn="l">
              <a:lnSpc>
                <a:spcPct val="98000"/>
              </a:lnSpc>
              <a:spcAft>
                <a:spcPts val="400"/>
              </a:spcAft>
            </a:pPr>
            <a:r>
              <a:rPr sz="950" b="0">
                <a:solidFill>
                  <a:srgbClr val="64748B"/>
                </a:solidFill>
                <a:latin typeface="Segoe UI"/>
              </a:rPr>
              <a:t>for the bank's own pipeline</a:t>
            </a:r>
          </a:p>
        </p:txBody>
      </p:sp>
      <p:sp>
        <p:nvSpPr>
          <p:cNvPr id="26" name="Rounded Rectangle 25"/>
          <p:cNvSpPr/>
          <p:nvPr/>
        </p:nvSpPr>
        <p:spPr>
          <a:xfrm>
            <a:off x="9345168" y="3428999"/>
            <a:ext cx="2286000" cy="2029968"/>
          </a:xfrm>
          <a:prstGeom prst="roundRect">
            <a:avLst>
              <a:gd name="adj" fmla="val 6000"/>
            </a:avLst>
          </a:prstGeom>
          <a:solidFill>
            <a:srgbClr val="ECFE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9345168" y="3428999"/>
            <a:ext cx="50292" cy="2029968"/>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9582912" y="3611880"/>
            <a:ext cx="1920240" cy="1737360"/>
          </a:xfrm>
          <a:prstGeom prst="rect">
            <a:avLst/>
          </a:prstGeom>
          <a:noFill/>
        </p:spPr>
        <p:txBody>
          <a:bodyPr wrap="square" lIns="0" rIns="0" tIns="0" bIns="0" anchor="t">
            <a:spAutoFit/>
          </a:bodyPr>
          <a:lstStyle/>
          <a:p>
            <a:pPr algn="l">
              <a:lnSpc>
                <a:spcPct val="116000"/>
              </a:lnSpc>
              <a:spcAft>
                <a:spcPts val="600"/>
              </a:spcAft>
            </a:pPr>
            <a:r>
              <a:rPr sz="1000" b="0">
                <a:solidFill>
                  <a:srgbClr val="0F172A"/>
                </a:solidFill>
                <a:latin typeface="Segoe UI"/>
              </a:rPr>
              <a:t>The quota is in farmer units, not mm/week.
"Run the pump 10 hours, then wait 40 days."
Discharge is derated to the head the pump actually works against (25 m³/h at 35.6 m — not the free-delivery nameplate). Deeper water means more hours and more power for the same crop.</a:t>
            </a:r>
          </a:p>
        </p:txBody>
      </p:sp>
      <p:sp>
        <p:nvSpPr>
          <p:cNvPr id="29" name="TextBox 28"/>
          <p:cNvSpPr txBox="1"/>
          <p:nvPr/>
        </p:nvSpPr>
        <p:spPr>
          <a:xfrm>
            <a:off x="566928" y="6419088"/>
            <a:ext cx="8229600" cy="237744"/>
          </a:xfrm>
          <a:prstGeom prst="rect">
            <a:avLst/>
          </a:prstGeom>
          <a:noFill/>
        </p:spPr>
        <p:txBody>
          <a:bodyPr wrap="square" lIns="0" rIns="0" tIns="0" bIns="0" anchor="t">
            <a:spAutoFit/>
          </a:bodyPr>
          <a:lstStyle/>
          <a:p>
            <a:pPr algn="l">
              <a:lnSpc>
                <a:spcPct val="100000"/>
              </a:lnSpc>
              <a:spcAft>
                <a:spcPts val="400"/>
              </a:spcAft>
            </a:pPr>
            <a:r>
              <a:rPr sz="850" b="0">
                <a:solidFill>
                  <a:srgbClr val="94A3B8"/>
                </a:solidFill>
                <a:latin typeface="Segoe UI"/>
              </a:rPr>
              <a:t>AquaCast-Punjab  ·  Sankalp — Climate-Smart Agriculture, Water &amp; Rural Credit</a:t>
            </a:r>
          </a:p>
        </p:txBody>
      </p:sp>
      <p:sp>
        <p:nvSpPr>
          <p:cNvPr id="30" name="TextBox 29"/>
          <p:cNvSpPr txBox="1"/>
          <p:nvPr/>
        </p:nvSpPr>
        <p:spPr>
          <a:xfrm>
            <a:off x="10972800" y="6419088"/>
            <a:ext cx="685800" cy="237744"/>
          </a:xfrm>
          <a:prstGeom prst="rect">
            <a:avLst/>
          </a:prstGeom>
          <a:noFill/>
        </p:spPr>
        <p:txBody>
          <a:bodyPr wrap="square" lIns="0" rIns="0" tIns="0" bIns="0" anchor="t">
            <a:spAutoFit/>
          </a:bodyPr>
          <a:lstStyle/>
          <a:p>
            <a:pPr algn="r">
              <a:lnSpc>
                <a:spcPct val="100000"/>
              </a:lnSpc>
              <a:spcAft>
                <a:spcPts val="400"/>
              </a:spcAft>
            </a:pPr>
            <a:r>
              <a:rPr sz="850" b="1">
                <a:solidFill>
                  <a:srgbClr val="94A3B8"/>
                </a:solidFill>
                <a:latin typeface="Segoe U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11064240" cy="256032"/>
          </a:xfrm>
          <a:prstGeom prst="rect">
            <a:avLst/>
          </a:prstGeom>
          <a:noFill/>
        </p:spPr>
        <p:txBody>
          <a:bodyPr wrap="square" lIns="0" rIns="0" tIns="0" bIns="0" anchor="t">
            <a:spAutoFit/>
          </a:bodyPr>
          <a:lstStyle/>
          <a:p>
            <a:pPr algn="l">
              <a:lnSpc>
                <a:spcPct val="100000"/>
              </a:lnSpc>
              <a:spcAft>
                <a:spcPts val="400"/>
              </a:spcAft>
            </a:pPr>
            <a:r>
              <a:rPr sz="1050" b="1">
                <a:solidFill>
                  <a:srgbClr val="0369A1"/>
                </a:solidFill>
                <a:latin typeface="Segoe UI"/>
              </a:rPr>
              <a:t>WOW FEATURE</a:t>
            </a:r>
          </a:p>
        </p:txBody>
      </p:sp>
      <p:sp>
        <p:nvSpPr>
          <p:cNvPr id="4" name="TextBox 3"/>
          <p:cNvSpPr txBox="1"/>
          <p:nvPr/>
        </p:nvSpPr>
        <p:spPr>
          <a:xfrm>
            <a:off x="566928" y="640080"/>
            <a:ext cx="11064240" cy="658368"/>
          </a:xfrm>
          <a:prstGeom prst="rect">
            <a:avLst/>
          </a:prstGeom>
          <a:noFill/>
        </p:spPr>
        <p:txBody>
          <a:bodyPr wrap="square" lIns="0" rIns="0" tIns="0" bIns="0" anchor="t">
            <a:spAutoFit/>
          </a:bodyPr>
          <a:lstStyle/>
          <a:p>
            <a:pPr algn="l">
              <a:lnSpc>
                <a:spcPct val="100000"/>
              </a:lnSpc>
              <a:spcAft>
                <a:spcPts val="400"/>
              </a:spcAft>
            </a:pPr>
            <a:r>
              <a:rPr sz="2500" b="1">
                <a:solidFill>
                  <a:srgbClr val="0F172A"/>
                </a:solidFill>
                <a:latin typeface="Segoe UI"/>
              </a:rPr>
              <a:t>WOW 04 · The Model Lab — we show you the receipts</a:t>
            </a:r>
          </a:p>
        </p:txBody>
      </p:sp>
      <p:sp>
        <p:nvSpPr>
          <p:cNvPr id="5" name="Rectangle 4"/>
          <p:cNvSpPr/>
          <p:nvPr/>
        </p:nvSpPr>
        <p:spPr>
          <a:xfrm>
            <a:off x="566928" y="1335024"/>
            <a:ext cx="658368"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ounded Rectangle 5"/>
          <p:cNvSpPr/>
          <p:nvPr/>
        </p:nvSpPr>
        <p:spPr>
          <a:xfrm>
            <a:off x="566928" y="1554480"/>
            <a:ext cx="3566160" cy="1417320"/>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566928" y="1554480"/>
            <a:ext cx="3566160" cy="45720"/>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22960" y="1792224"/>
            <a:ext cx="3108960" cy="274320"/>
          </a:xfrm>
          <a:prstGeom prst="rect">
            <a:avLst/>
          </a:prstGeom>
          <a:noFill/>
        </p:spPr>
        <p:txBody>
          <a:bodyPr wrap="square" lIns="0" rIns="0" tIns="0" bIns="0" anchor="t">
            <a:spAutoFit/>
          </a:bodyPr>
          <a:lstStyle/>
          <a:p>
            <a:pPr algn="l">
              <a:lnSpc>
                <a:spcPct val="100000"/>
              </a:lnSpc>
              <a:spcAft>
                <a:spcPts val="400"/>
              </a:spcAft>
            </a:pPr>
            <a:r>
              <a:rPr sz="1250" b="1">
                <a:solidFill>
                  <a:srgbClr val="0F172A"/>
                </a:solidFill>
                <a:latin typeface="Segoe UI"/>
              </a:rPr>
              <a:t>Live training curve</a:t>
            </a:r>
          </a:p>
        </p:txBody>
      </p:sp>
      <p:sp>
        <p:nvSpPr>
          <p:cNvPr id="9" name="TextBox 8"/>
          <p:cNvSpPr txBox="1"/>
          <p:nvPr/>
        </p:nvSpPr>
        <p:spPr>
          <a:xfrm>
            <a:off x="822960" y="2157984"/>
            <a:ext cx="3108960" cy="731520"/>
          </a:xfrm>
          <a:prstGeom prst="rect">
            <a:avLst/>
          </a:prstGeom>
          <a:noFill/>
        </p:spPr>
        <p:txBody>
          <a:bodyPr wrap="square" lIns="0" rIns="0" tIns="0" bIns="0" anchor="t">
            <a:spAutoFit/>
          </a:bodyPr>
          <a:lstStyle/>
          <a:p>
            <a:pPr algn="l">
              <a:lnSpc>
                <a:spcPct val="114000"/>
              </a:lnSpc>
              <a:spcAft>
                <a:spcPts val="400"/>
              </a:spcAft>
            </a:pPr>
            <a:r>
              <a:rPr sz="1050" b="0">
                <a:solidFill>
                  <a:srgbClr val="64748B"/>
                </a:solidFill>
                <a:latin typeface="Segoe UI"/>
              </a:rPr>
              <a:t>Train vs validation RMSE, epoch by epoch, read from the shipped checkpoint. Not a screenshot — the actual history object.</a:t>
            </a:r>
          </a:p>
        </p:txBody>
      </p:sp>
      <p:sp>
        <p:nvSpPr>
          <p:cNvPr id="10" name="Rounded Rectangle 9"/>
          <p:cNvSpPr/>
          <p:nvPr/>
        </p:nvSpPr>
        <p:spPr>
          <a:xfrm>
            <a:off x="4315968" y="1554480"/>
            <a:ext cx="3566160" cy="1417320"/>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4315968" y="1554480"/>
            <a:ext cx="3566160" cy="45720"/>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4572000" y="1792224"/>
            <a:ext cx="3108960" cy="274320"/>
          </a:xfrm>
          <a:prstGeom prst="rect">
            <a:avLst/>
          </a:prstGeom>
          <a:noFill/>
        </p:spPr>
        <p:txBody>
          <a:bodyPr wrap="square" lIns="0" rIns="0" tIns="0" bIns="0" anchor="t">
            <a:spAutoFit/>
          </a:bodyPr>
          <a:lstStyle/>
          <a:p>
            <a:pPr algn="l">
              <a:lnSpc>
                <a:spcPct val="100000"/>
              </a:lnSpc>
              <a:spcAft>
                <a:spcPts val="400"/>
              </a:spcAft>
            </a:pPr>
            <a:r>
              <a:rPr sz="1250" b="1">
                <a:solidFill>
                  <a:srgbClr val="0F172A"/>
                </a:solidFill>
                <a:latin typeface="Segoe UI"/>
              </a:rPr>
              <a:t>MC-dropout bands</a:t>
            </a:r>
          </a:p>
        </p:txBody>
      </p:sp>
      <p:sp>
        <p:nvSpPr>
          <p:cNvPr id="13" name="TextBox 12"/>
          <p:cNvSpPr txBox="1"/>
          <p:nvPr/>
        </p:nvSpPr>
        <p:spPr>
          <a:xfrm>
            <a:off x="4572000" y="2157984"/>
            <a:ext cx="3108960" cy="731520"/>
          </a:xfrm>
          <a:prstGeom prst="rect">
            <a:avLst/>
          </a:prstGeom>
          <a:noFill/>
        </p:spPr>
        <p:txBody>
          <a:bodyPr wrap="square" lIns="0" rIns="0" tIns="0" bIns="0" anchor="t">
            <a:spAutoFit/>
          </a:bodyPr>
          <a:lstStyle/>
          <a:p>
            <a:pPr algn="l">
              <a:lnSpc>
                <a:spcPct val="114000"/>
              </a:lnSpc>
              <a:spcAft>
                <a:spcPts val="400"/>
              </a:spcAft>
            </a:pPr>
            <a:r>
              <a:rPr sz="1050" b="0">
                <a:solidFill>
                  <a:srgbClr val="64748B"/>
                </a:solidFill>
                <a:latin typeface="Segoe UI"/>
              </a:rPr>
              <a:t>60 stochastic forward passes at inference. The ±σ you see is real model uncertainty, not a decorative fan.</a:t>
            </a:r>
          </a:p>
        </p:txBody>
      </p:sp>
      <p:sp>
        <p:nvSpPr>
          <p:cNvPr id="14" name="Rounded Rectangle 13"/>
          <p:cNvSpPr/>
          <p:nvPr/>
        </p:nvSpPr>
        <p:spPr>
          <a:xfrm>
            <a:off x="8065008" y="1554480"/>
            <a:ext cx="3566160" cy="1417320"/>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8065008" y="1554480"/>
            <a:ext cx="3566160" cy="4572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8321040" y="1792224"/>
            <a:ext cx="3108960" cy="274320"/>
          </a:xfrm>
          <a:prstGeom prst="rect">
            <a:avLst/>
          </a:prstGeom>
          <a:noFill/>
        </p:spPr>
        <p:txBody>
          <a:bodyPr wrap="square" lIns="0" rIns="0" tIns="0" bIns="0" anchor="t">
            <a:spAutoFit/>
          </a:bodyPr>
          <a:lstStyle/>
          <a:p>
            <a:pPr algn="l">
              <a:lnSpc>
                <a:spcPct val="100000"/>
              </a:lnSpc>
              <a:spcAft>
                <a:spcPts val="400"/>
              </a:spcAft>
            </a:pPr>
            <a:r>
              <a:rPr sz="1250" b="1">
                <a:solidFill>
                  <a:srgbClr val="0F172A"/>
                </a:solidFill>
                <a:latin typeface="Segoe UI"/>
              </a:rPr>
              <a:t>Permutation importance</a:t>
            </a:r>
          </a:p>
        </p:txBody>
      </p:sp>
      <p:sp>
        <p:nvSpPr>
          <p:cNvPr id="17" name="TextBox 16"/>
          <p:cNvSpPr txBox="1"/>
          <p:nvPr/>
        </p:nvSpPr>
        <p:spPr>
          <a:xfrm>
            <a:off x="8321040" y="2157984"/>
            <a:ext cx="3108960" cy="731520"/>
          </a:xfrm>
          <a:prstGeom prst="rect">
            <a:avLst/>
          </a:prstGeom>
          <a:noFill/>
        </p:spPr>
        <p:txBody>
          <a:bodyPr wrap="square" lIns="0" rIns="0" tIns="0" bIns="0" anchor="t">
            <a:spAutoFit/>
          </a:bodyPr>
          <a:lstStyle/>
          <a:p>
            <a:pPr algn="l">
              <a:lnSpc>
                <a:spcPct val="114000"/>
              </a:lnSpc>
              <a:spcAft>
                <a:spcPts val="400"/>
              </a:spcAft>
            </a:pPr>
            <a:r>
              <a:rPr sz="1050" b="0">
                <a:solidFill>
                  <a:srgbClr val="64748B"/>
                </a:solidFill>
                <a:latin typeface="Segoe UI"/>
              </a:rPr>
              <a:t>Shuffle a channel, re-score, report the damage in metres. Repeats give you the error bar.</a:t>
            </a:r>
          </a:p>
        </p:txBody>
      </p:sp>
      <p:sp>
        <p:nvSpPr>
          <p:cNvPr id="18" name="Rounded Rectangle 17"/>
          <p:cNvSpPr/>
          <p:nvPr/>
        </p:nvSpPr>
        <p:spPr>
          <a:xfrm>
            <a:off x="566928" y="3154680"/>
            <a:ext cx="3566160" cy="1417320"/>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566928" y="3154680"/>
            <a:ext cx="3566160" cy="457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822960" y="3392424"/>
            <a:ext cx="3108960" cy="274320"/>
          </a:xfrm>
          <a:prstGeom prst="rect">
            <a:avLst/>
          </a:prstGeom>
          <a:noFill/>
        </p:spPr>
        <p:txBody>
          <a:bodyPr wrap="square" lIns="0" rIns="0" tIns="0" bIns="0" anchor="t">
            <a:spAutoFit/>
          </a:bodyPr>
          <a:lstStyle/>
          <a:p>
            <a:pPr algn="l">
              <a:lnSpc>
                <a:spcPct val="100000"/>
              </a:lnSpc>
              <a:spcAft>
                <a:spcPts val="400"/>
              </a:spcAft>
            </a:pPr>
            <a:r>
              <a:rPr sz="1250" b="1">
                <a:solidFill>
                  <a:srgbClr val="0F172A"/>
                </a:solidFill>
                <a:latin typeface="Segoe UI"/>
              </a:rPr>
              <a:t>Gradient saliency</a:t>
            </a:r>
          </a:p>
        </p:txBody>
      </p:sp>
      <p:sp>
        <p:nvSpPr>
          <p:cNvPr id="21" name="TextBox 20"/>
          <p:cNvSpPr txBox="1"/>
          <p:nvPr/>
        </p:nvSpPr>
        <p:spPr>
          <a:xfrm>
            <a:off x="822960" y="3758184"/>
            <a:ext cx="3108960" cy="731520"/>
          </a:xfrm>
          <a:prstGeom prst="rect">
            <a:avLst/>
          </a:prstGeom>
          <a:noFill/>
        </p:spPr>
        <p:txBody>
          <a:bodyPr wrap="square" lIns="0" rIns="0" tIns="0" bIns="0" anchor="t">
            <a:spAutoFit/>
          </a:bodyPr>
          <a:lstStyle/>
          <a:p>
            <a:pPr algn="l">
              <a:lnSpc>
                <a:spcPct val="114000"/>
              </a:lnSpc>
              <a:spcAft>
                <a:spcPts val="400"/>
              </a:spcAft>
            </a:pPr>
            <a:r>
              <a:rPr sz="1050" b="0">
                <a:solidFill>
                  <a:srgbClr val="64748B"/>
                </a:solidFill>
                <a:latin typeface="Segoe UI"/>
              </a:rPr>
              <a:t>Input-gradient attribution across the 60-day window — which days moved the forecast.</a:t>
            </a:r>
          </a:p>
        </p:txBody>
      </p:sp>
      <p:sp>
        <p:nvSpPr>
          <p:cNvPr id="22" name="Rounded Rectangle 21"/>
          <p:cNvSpPr/>
          <p:nvPr/>
        </p:nvSpPr>
        <p:spPr>
          <a:xfrm>
            <a:off x="4315968" y="3154680"/>
            <a:ext cx="3566160" cy="1417320"/>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4315968" y="3154680"/>
            <a:ext cx="3566160" cy="45720"/>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4572000" y="3392424"/>
            <a:ext cx="3108960" cy="274320"/>
          </a:xfrm>
          <a:prstGeom prst="rect">
            <a:avLst/>
          </a:prstGeom>
          <a:noFill/>
        </p:spPr>
        <p:txBody>
          <a:bodyPr wrap="square" lIns="0" rIns="0" tIns="0" bIns="0" anchor="t">
            <a:spAutoFit/>
          </a:bodyPr>
          <a:lstStyle/>
          <a:p>
            <a:pPr algn="l">
              <a:lnSpc>
                <a:spcPct val="100000"/>
              </a:lnSpc>
              <a:spcAft>
                <a:spcPts val="400"/>
              </a:spcAft>
            </a:pPr>
            <a:r>
              <a:rPr sz="1250" b="1">
                <a:solidFill>
                  <a:srgbClr val="0F172A"/>
                </a:solidFill>
                <a:latin typeface="Segoe UI"/>
              </a:rPr>
              <a:t>Model benchmark</a:t>
            </a:r>
          </a:p>
        </p:txBody>
      </p:sp>
      <p:sp>
        <p:nvSpPr>
          <p:cNvPr id="25" name="TextBox 24"/>
          <p:cNvSpPr txBox="1"/>
          <p:nvPr/>
        </p:nvSpPr>
        <p:spPr>
          <a:xfrm>
            <a:off x="4572000" y="3758184"/>
            <a:ext cx="3108960" cy="731520"/>
          </a:xfrm>
          <a:prstGeom prst="rect">
            <a:avLst/>
          </a:prstGeom>
          <a:noFill/>
        </p:spPr>
        <p:txBody>
          <a:bodyPr wrap="square" lIns="0" rIns="0" tIns="0" bIns="0" anchor="t">
            <a:spAutoFit/>
          </a:bodyPr>
          <a:lstStyle/>
          <a:p>
            <a:pPr algn="l">
              <a:lnSpc>
                <a:spcPct val="114000"/>
              </a:lnSpc>
              <a:spcAft>
                <a:spcPts val="400"/>
              </a:spcAft>
            </a:pPr>
            <a:r>
              <a:rPr sz="1050" b="0">
                <a:solidFill>
                  <a:srgbClr val="64748B"/>
                </a:solidFill>
                <a:latin typeface="Segoe UI"/>
              </a:rPr>
              <a:t>LSTM vs GRU vs linear probe vs persistence, retrained live in the app on identical data.</a:t>
            </a:r>
          </a:p>
        </p:txBody>
      </p:sp>
      <p:sp>
        <p:nvSpPr>
          <p:cNvPr id="26" name="Rounded Rectangle 25"/>
          <p:cNvSpPr/>
          <p:nvPr/>
        </p:nvSpPr>
        <p:spPr>
          <a:xfrm>
            <a:off x="8065008" y="3154680"/>
            <a:ext cx="3566160" cy="1417320"/>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8065008" y="3154680"/>
            <a:ext cx="3566160" cy="45720"/>
          </a:xfrm>
          <a:prstGeom prst="rect">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8321040" y="3392424"/>
            <a:ext cx="3108960" cy="274320"/>
          </a:xfrm>
          <a:prstGeom prst="rect">
            <a:avLst/>
          </a:prstGeom>
          <a:noFill/>
        </p:spPr>
        <p:txBody>
          <a:bodyPr wrap="square" lIns="0" rIns="0" tIns="0" bIns="0" anchor="t">
            <a:spAutoFit/>
          </a:bodyPr>
          <a:lstStyle/>
          <a:p>
            <a:pPr algn="l">
              <a:lnSpc>
                <a:spcPct val="100000"/>
              </a:lnSpc>
              <a:spcAft>
                <a:spcPts val="400"/>
              </a:spcAft>
            </a:pPr>
            <a:r>
              <a:rPr sz="1250" b="1">
                <a:solidFill>
                  <a:srgbClr val="0F172A"/>
                </a:solidFill>
                <a:latin typeface="Segoe UI"/>
              </a:rPr>
              <a:t>Provenance ledger</a:t>
            </a:r>
          </a:p>
        </p:txBody>
      </p:sp>
      <p:sp>
        <p:nvSpPr>
          <p:cNvPr id="29" name="TextBox 28"/>
          <p:cNvSpPr txBox="1"/>
          <p:nvPr/>
        </p:nvSpPr>
        <p:spPr>
          <a:xfrm>
            <a:off x="8321040" y="3758184"/>
            <a:ext cx="3108960" cy="731520"/>
          </a:xfrm>
          <a:prstGeom prst="rect">
            <a:avLst/>
          </a:prstGeom>
          <a:noFill/>
        </p:spPr>
        <p:txBody>
          <a:bodyPr wrap="square" lIns="0" rIns="0" tIns="0" bIns="0" anchor="t">
            <a:spAutoFit/>
          </a:bodyPr>
          <a:lstStyle/>
          <a:p>
            <a:pPr algn="l">
              <a:lnSpc>
                <a:spcPct val="114000"/>
              </a:lnSpc>
              <a:spcAft>
                <a:spcPts val="400"/>
              </a:spcAft>
            </a:pPr>
            <a:r>
              <a:rPr sz="1050" b="0">
                <a:solidFill>
                  <a:srgbClr val="64748B"/>
                </a:solidFill>
                <a:latin typeface="Segoe UI"/>
              </a:rPr>
              <a:t>Measured vs generated days, station counts, file names — printed on the same screen as the metrics.</a:t>
            </a:r>
          </a:p>
        </p:txBody>
      </p:sp>
      <p:sp>
        <p:nvSpPr>
          <p:cNvPr id="30" name="Rounded Rectangle 29"/>
          <p:cNvSpPr/>
          <p:nvPr/>
        </p:nvSpPr>
        <p:spPr>
          <a:xfrm>
            <a:off x="566928" y="4800600"/>
            <a:ext cx="11064240" cy="868680"/>
          </a:xfrm>
          <a:prstGeom prst="roundRect">
            <a:avLst>
              <a:gd name="adj" fmla="val 6000"/>
            </a:avLst>
          </a:prstGeom>
          <a:solidFill>
            <a:srgbClr val="0B1E30"/>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566928" y="4800600"/>
            <a:ext cx="50292" cy="868680"/>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841248" y="4992624"/>
            <a:ext cx="10607040" cy="548640"/>
          </a:xfrm>
          <a:prstGeom prst="rect">
            <a:avLst/>
          </a:prstGeom>
          <a:noFill/>
        </p:spPr>
        <p:txBody>
          <a:bodyPr wrap="square" lIns="0" rIns="0" tIns="0" bIns="0" anchor="t">
            <a:spAutoFit/>
          </a:bodyPr>
          <a:lstStyle/>
          <a:p>
            <a:pPr algn="l">
              <a:lnSpc>
                <a:spcPct val="120000"/>
              </a:lnSpc>
              <a:spcAft>
                <a:spcPts val="400"/>
              </a:spcAft>
            </a:pPr>
            <a:r>
              <a:rPr sz="1300" b="1">
                <a:solidFill>
                  <a:srgbClr val="FFFFFF"/>
                </a:solidFill>
                <a:latin typeface="Segoe UI"/>
              </a:rPr>
              <a:t>Why it wins rooms: a judge can click a button and watch the model train, explain itself, and lose to a linear probe on purpose. That is harder to fake than a metric.</a:t>
            </a:r>
          </a:p>
        </p:txBody>
      </p:sp>
      <p:sp>
        <p:nvSpPr>
          <p:cNvPr id="33" name="TextBox 32"/>
          <p:cNvSpPr txBox="1"/>
          <p:nvPr/>
        </p:nvSpPr>
        <p:spPr>
          <a:xfrm>
            <a:off x="566928" y="6419088"/>
            <a:ext cx="8229600" cy="237744"/>
          </a:xfrm>
          <a:prstGeom prst="rect">
            <a:avLst/>
          </a:prstGeom>
          <a:noFill/>
        </p:spPr>
        <p:txBody>
          <a:bodyPr wrap="square" lIns="0" rIns="0" tIns="0" bIns="0" anchor="t">
            <a:spAutoFit/>
          </a:bodyPr>
          <a:lstStyle/>
          <a:p>
            <a:pPr algn="l">
              <a:lnSpc>
                <a:spcPct val="100000"/>
              </a:lnSpc>
              <a:spcAft>
                <a:spcPts val="400"/>
              </a:spcAft>
            </a:pPr>
            <a:r>
              <a:rPr sz="850" b="0">
                <a:solidFill>
                  <a:srgbClr val="94A3B8"/>
                </a:solidFill>
                <a:latin typeface="Segoe UI"/>
              </a:rPr>
              <a:t>AquaCast-Punjab  ·  Sankalp — Climate-Smart Agriculture, Water &amp; Rural Credit</a:t>
            </a:r>
          </a:p>
        </p:txBody>
      </p:sp>
      <p:sp>
        <p:nvSpPr>
          <p:cNvPr id="34" name="TextBox 33"/>
          <p:cNvSpPr txBox="1"/>
          <p:nvPr/>
        </p:nvSpPr>
        <p:spPr>
          <a:xfrm>
            <a:off x="10972800" y="6419088"/>
            <a:ext cx="685800" cy="237744"/>
          </a:xfrm>
          <a:prstGeom prst="rect">
            <a:avLst/>
          </a:prstGeom>
          <a:noFill/>
        </p:spPr>
        <p:txBody>
          <a:bodyPr wrap="square" lIns="0" rIns="0" tIns="0" bIns="0" anchor="t">
            <a:spAutoFit/>
          </a:bodyPr>
          <a:lstStyle/>
          <a:p>
            <a:pPr algn="r">
              <a:lnSpc>
                <a:spcPct val="100000"/>
              </a:lnSpc>
              <a:spcAft>
                <a:spcPts val="400"/>
              </a:spcAft>
            </a:pPr>
            <a:r>
              <a:rPr sz="850" b="1">
                <a:solidFill>
                  <a:srgbClr val="94A3B8"/>
                </a:solidFill>
                <a:latin typeface="Segoe U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11064240" cy="256032"/>
          </a:xfrm>
          <a:prstGeom prst="rect">
            <a:avLst/>
          </a:prstGeom>
          <a:noFill/>
        </p:spPr>
        <p:txBody>
          <a:bodyPr wrap="square" lIns="0" rIns="0" tIns="0" bIns="0" anchor="t">
            <a:spAutoFit/>
          </a:bodyPr>
          <a:lstStyle/>
          <a:p>
            <a:pPr algn="l">
              <a:lnSpc>
                <a:spcPct val="100000"/>
              </a:lnSpc>
              <a:spcAft>
                <a:spcPts val="400"/>
              </a:spcAft>
            </a:pPr>
            <a:r>
              <a:rPr sz="1050" b="1">
                <a:solidFill>
                  <a:srgbClr val="0369A1"/>
                </a:solidFill>
                <a:latin typeface="Segoe UI"/>
              </a:rPr>
              <a:t>CREDIT RISK</a:t>
            </a:r>
          </a:p>
        </p:txBody>
      </p:sp>
      <p:sp>
        <p:nvSpPr>
          <p:cNvPr id="4" name="TextBox 3"/>
          <p:cNvSpPr txBox="1"/>
          <p:nvPr/>
        </p:nvSpPr>
        <p:spPr>
          <a:xfrm>
            <a:off x="566928" y="640080"/>
            <a:ext cx="11064240" cy="658368"/>
          </a:xfrm>
          <a:prstGeom prst="rect">
            <a:avLst/>
          </a:prstGeom>
          <a:noFill/>
        </p:spPr>
        <p:txBody>
          <a:bodyPr wrap="square" lIns="0" rIns="0" tIns="0" bIns="0" anchor="t">
            <a:spAutoFit/>
          </a:bodyPr>
          <a:lstStyle/>
          <a:p>
            <a:pPr algn="l">
              <a:lnSpc>
                <a:spcPct val="100000"/>
              </a:lnSpc>
              <a:spcAft>
                <a:spcPts val="400"/>
              </a:spcAft>
            </a:pPr>
            <a:r>
              <a:rPr sz="2500" b="1">
                <a:solidFill>
                  <a:srgbClr val="0F172A"/>
                </a:solidFill>
                <a:latin typeface="Segoe UI"/>
              </a:rPr>
              <a:t>The same forecast, priced: who defaults when the well goes dry</a:t>
            </a:r>
          </a:p>
        </p:txBody>
      </p:sp>
      <p:sp>
        <p:nvSpPr>
          <p:cNvPr id="5" name="Rectangle 4"/>
          <p:cNvSpPr/>
          <p:nvPr/>
        </p:nvSpPr>
        <p:spPr>
          <a:xfrm>
            <a:off x="566928" y="1335024"/>
            <a:ext cx="658368"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6" name="Picture 5" descr="portfolio.png"/>
          <p:cNvPicPr>
            <a:picLocks noChangeAspect="1"/>
          </p:cNvPicPr>
          <p:nvPr/>
        </p:nvPicPr>
        <p:blipFill>
          <a:blip r:embed="rId2"/>
          <a:stretch>
            <a:fillRect/>
          </a:stretch>
        </p:blipFill>
        <p:spPr>
          <a:xfrm>
            <a:off x="1257413" y="1554480"/>
            <a:ext cx="5385589" cy="2606040"/>
          </a:xfrm>
          <a:prstGeom prst="rect">
            <a:avLst/>
          </a:prstGeom>
        </p:spPr>
      </p:pic>
      <p:graphicFrame>
        <p:nvGraphicFramePr>
          <p:cNvPr id="7" name="Table 6"/>
          <p:cNvGraphicFramePr>
            <a:graphicFrameLocks noGrp="1"/>
          </p:cNvGraphicFramePr>
          <p:nvPr/>
        </p:nvGraphicFramePr>
        <p:xfrm>
          <a:off x="7607808" y="1600200"/>
          <a:ext cx="4169664" cy="1572768"/>
        </p:xfrm>
        <a:graphic>
          <a:graphicData uri="http://schemas.openxmlformats.org/drawingml/2006/table">
            <a:tbl>
              <a:tblPr firstRow="1" bandRow="1">
                <a:tableStyleId>{5C22544A-7EE6-4342-B048-85BDC9FD1C3A}</a:tableStyleId>
              </a:tblPr>
              <a:tblGrid>
                <a:gridCol w="868680"/>
                <a:gridCol w="685800"/>
                <a:gridCol w="749808"/>
                <a:gridCol w="548640"/>
                <a:gridCol w="658368"/>
                <a:gridCol w="658368"/>
              </a:tblGrid>
              <a:tr h="365760">
                <a:tc>
                  <a:txBody>
                    <a:bodyPr wrap="square"/>
                    <a:lstStyle/>
                    <a:p>
                      <a:pPr algn="l"/>
                      <a:r>
                        <a:rPr sz="1000" b="1">
                          <a:solidFill>
                            <a:srgbClr val="FFFFFF"/>
                          </a:solidFill>
                          <a:latin typeface="Segoe UI"/>
                        </a:rPr>
                        <a:t>District</a:t>
                      </a:r>
                    </a:p>
                  </a:txBody>
                  <a:tcPr marL="91440" marR="91440" marT="27432" marB="27432" anchor="ctr">
                    <a:solidFill>
                      <a:srgbClr val="0B1E30"/>
                    </a:solidFill>
                  </a:tcPr>
                </a:tc>
                <a:tc>
                  <a:txBody>
                    <a:bodyPr wrap="square"/>
                    <a:lstStyle/>
                    <a:p>
                      <a:pPr algn="ctr"/>
                      <a:r>
                        <a:rPr sz="1000" b="1">
                          <a:solidFill>
                            <a:srgbClr val="FFFFFF"/>
                          </a:solidFill>
                          <a:latin typeface="Segoe UI"/>
                        </a:rPr>
                        <a:t>Risk score</a:t>
                      </a:r>
                    </a:p>
                  </a:txBody>
                  <a:tcPr marL="91440" marR="91440" marT="27432" marB="27432" anchor="ctr">
                    <a:solidFill>
                      <a:srgbClr val="0B1E30"/>
                    </a:solidFill>
                  </a:tcPr>
                </a:tc>
                <a:tc>
                  <a:txBody>
                    <a:bodyPr wrap="square"/>
                    <a:lstStyle/>
                    <a:p>
                      <a:pPr algn="ctr"/>
                      <a:r>
                        <a:rPr sz="1000" b="1">
                          <a:solidFill>
                            <a:srgbClr val="FFFFFF"/>
                          </a:solidFill>
                          <a:latin typeface="Segoe UI"/>
                        </a:rPr>
                        <a:t>Band</a:t>
                      </a:r>
                    </a:p>
                  </a:txBody>
                  <a:tcPr marL="91440" marR="91440" marT="27432" marB="27432" anchor="ctr">
                    <a:solidFill>
                      <a:srgbClr val="0B1E30"/>
                    </a:solidFill>
                  </a:tcPr>
                </a:tc>
                <a:tc>
                  <a:txBody>
                    <a:bodyPr wrap="square"/>
                    <a:lstStyle/>
                    <a:p>
                      <a:pPr algn="ctr"/>
                      <a:r>
                        <a:rPr sz="1000" b="1">
                          <a:solidFill>
                            <a:srgbClr val="FFFFFF"/>
                          </a:solidFill>
                          <a:latin typeface="Segoe UI"/>
                        </a:rPr>
                        <a:t>PD</a:t>
                      </a:r>
                    </a:p>
                  </a:txBody>
                  <a:tcPr marL="91440" marR="91440" marT="27432" marB="27432" anchor="ctr">
                    <a:solidFill>
                      <a:srgbClr val="0B1E30"/>
                    </a:solidFill>
                  </a:tcPr>
                </a:tc>
                <a:tc>
                  <a:txBody>
                    <a:bodyPr wrap="square"/>
                    <a:lstStyle/>
                    <a:p>
                      <a:pPr algn="ctr"/>
                      <a:r>
                        <a:rPr sz="1000" b="1">
                          <a:solidFill>
                            <a:srgbClr val="FFFFFF"/>
                          </a:solidFill>
                          <a:latin typeface="Segoe UI"/>
                        </a:rPr>
                        <a:t>Exposure</a:t>
                      </a:r>
                    </a:p>
                  </a:txBody>
                  <a:tcPr marL="91440" marR="91440" marT="27432" marB="27432" anchor="ctr">
                    <a:solidFill>
                      <a:srgbClr val="0B1E30"/>
                    </a:solidFill>
                  </a:tcPr>
                </a:tc>
                <a:tc>
                  <a:txBody>
                    <a:bodyPr wrap="square"/>
                    <a:lstStyle/>
                    <a:p>
                      <a:pPr algn="ctr"/>
                      <a:r>
                        <a:rPr sz="1000" b="1">
                          <a:solidFill>
                            <a:srgbClr val="FFFFFF"/>
                          </a:solidFill>
                          <a:latin typeface="Segoe UI"/>
                        </a:rPr>
                        <a:t>Expected loss</a:t>
                      </a:r>
                    </a:p>
                  </a:txBody>
                  <a:tcPr marL="91440" marR="91440" marT="27432" marB="27432" anchor="ctr">
                    <a:solidFill>
                      <a:srgbClr val="0B1E30"/>
                    </a:solidFill>
                  </a:tcPr>
                </a:tc>
              </a:tr>
              <a:tr h="402336">
                <a:tc>
                  <a:txBody>
                    <a:bodyPr wrap="square"/>
                    <a:lstStyle/>
                    <a:p>
                      <a:pPr algn="l"/>
                      <a:r>
                        <a:rPr sz="1000" b="0">
                          <a:solidFill>
                            <a:srgbClr val="0F172A"/>
                          </a:solidFill>
                          <a:latin typeface="Segoe UI"/>
                        </a:rPr>
                        <a:t>Sangrur</a:t>
                      </a:r>
                    </a:p>
                  </a:txBody>
                  <a:tcPr marL="91440" marR="91440" marT="27432" marB="27432" anchor="ctr">
                    <a:solidFill>
                      <a:srgbClr val="FFFFFF"/>
                    </a:solidFill>
                  </a:tcPr>
                </a:tc>
                <a:tc>
                  <a:txBody>
                    <a:bodyPr wrap="square"/>
                    <a:lstStyle/>
                    <a:p>
                      <a:pPr algn="ctr"/>
                      <a:r>
                        <a:rPr sz="1000" b="0">
                          <a:solidFill>
                            <a:srgbClr val="0F172A"/>
                          </a:solidFill>
                          <a:latin typeface="Segoe UI"/>
                        </a:rPr>
                        <a:t>62/100</a:t>
                      </a:r>
                    </a:p>
                  </a:txBody>
                  <a:tcPr marL="91440" marR="91440" marT="27432" marB="27432" anchor="ctr">
                    <a:solidFill>
                      <a:srgbClr val="FFFFFF"/>
                    </a:solidFill>
                  </a:tcPr>
                </a:tc>
                <a:tc>
                  <a:txBody>
                    <a:bodyPr wrap="square"/>
                    <a:lstStyle/>
                    <a:p>
                      <a:pPr algn="ctr"/>
                      <a:r>
                        <a:rPr sz="1000" b="0">
                          <a:solidFill>
                            <a:srgbClr val="0F172A"/>
                          </a:solidFill>
                          <a:latin typeface="Segoe UI"/>
                        </a:rPr>
                        <a:t>High</a:t>
                      </a:r>
                    </a:p>
                  </a:txBody>
                  <a:tcPr marL="91440" marR="91440" marT="27432" marB="27432" anchor="ctr">
                    <a:solidFill>
                      <a:srgbClr val="FFFFFF"/>
                    </a:solidFill>
                  </a:tcPr>
                </a:tc>
                <a:tc>
                  <a:txBody>
                    <a:bodyPr wrap="square"/>
                    <a:lstStyle/>
                    <a:p>
                      <a:pPr algn="ctr"/>
                      <a:r>
                        <a:rPr sz="1000" b="0">
                          <a:solidFill>
                            <a:srgbClr val="0F172A"/>
                          </a:solidFill>
                          <a:latin typeface="Segoe UI"/>
                        </a:rPr>
                        <a:t>9.40%</a:t>
                      </a:r>
                    </a:p>
                  </a:txBody>
                  <a:tcPr marL="91440" marR="91440" marT="27432" marB="27432" anchor="ctr">
                    <a:solidFill>
                      <a:srgbClr val="FFFFFF"/>
                    </a:solidFill>
                  </a:tcPr>
                </a:tc>
                <a:tc>
                  <a:txBody>
                    <a:bodyPr wrap="square"/>
                    <a:lstStyle/>
                    <a:p>
                      <a:pPr algn="ctr"/>
                      <a:r>
                        <a:rPr sz="1000" b="0">
                          <a:solidFill>
                            <a:srgbClr val="0F172A"/>
                          </a:solidFill>
                          <a:latin typeface="Segoe UI"/>
                        </a:rPr>
                        <a:t>₹191 cr</a:t>
                      </a:r>
                    </a:p>
                  </a:txBody>
                  <a:tcPr marL="91440" marR="91440" marT="27432" marB="27432" anchor="ctr">
                    <a:solidFill>
                      <a:srgbClr val="FFFFFF"/>
                    </a:solidFill>
                  </a:tcPr>
                </a:tc>
                <a:tc>
                  <a:txBody>
                    <a:bodyPr wrap="square"/>
                    <a:lstStyle/>
                    <a:p>
                      <a:pPr algn="ctr"/>
                      <a:r>
                        <a:rPr sz="1000" b="0">
                          <a:solidFill>
                            <a:srgbClr val="0F172A"/>
                          </a:solidFill>
                          <a:latin typeface="Segoe UI"/>
                        </a:rPr>
                        <a:t>₹10.8 cr</a:t>
                      </a:r>
                    </a:p>
                  </a:txBody>
                  <a:tcPr marL="91440" marR="91440" marT="27432" marB="27432" anchor="ctr">
                    <a:solidFill>
                      <a:srgbClr val="FFFFFF"/>
                    </a:solidFill>
                  </a:tcPr>
                </a:tc>
              </a:tr>
              <a:tr h="402336">
                <a:tc>
                  <a:txBody>
                    <a:bodyPr wrap="square"/>
                    <a:lstStyle/>
                    <a:p>
                      <a:pPr algn="l"/>
                      <a:r>
                        <a:rPr sz="1000" b="0">
                          <a:solidFill>
                            <a:srgbClr val="0F172A"/>
                          </a:solidFill>
                          <a:latin typeface="Segoe UI"/>
                        </a:rPr>
                        <a:t>Ludhiana</a:t>
                      </a:r>
                    </a:p>
                  </a:txBody>
                  <a:tcPr marL="91440" marR="91440" marT="27432" marB="27432" anchor="ctr">
                    <a:solidFill>
                      <a:srgbClr val="F8FAFC"/>
                    </a:solidFill>
                  </a:tcPr>
                </a:tc>
                <a:tc>
                  <a:txBody>
                    <a:bodyPr wrap="square"/>
                    <a:lstStyle/>
                    <a:p>
                      <a:pPr algn="ctr"/>
                      <a:r>
                        <a:rPr sz="1000" b="0">
                          <a:solidFill>
                            <a:srgbClr val="0F172A"/>
                          </a:solidFill>
                          <a:latin typeface="Segoe UI"/>
                        </a:rPr>
                        <a:t>33/100</a:t>
                      </a:r>
                    </a:p>
                  </a:txBody>
                  <a:tcPr marL="91440" marR="91440" marT="27432" marB="27432" anchor="ctr">
                    <a:solidFill>
                      <a:srgbClr val="F8FAFC"/>
                    </a:solidFill>
                  </a:tcPr>
                </a:tc>
                <a:tc>
                  <a:txBody>
                    <a:bodyPr wrap="square"/>
                    <a:lstStyle/>
                    <a:p>
                      <a:pPr algn="ctr"/>
                      <a:r>
                        <a:rPr sz="1000" b="0">
                          <a:solidFill>
                            <a:srgbClr val="0F172A"/>
                          </a:solidFill>
                          <a:latin typeface="Segoe UI"/>
                        </a:rPr>
                        <a:t>Moderate</a:t>
                      </a:r>
                    </a:p>
                  </a:txBody>
                  <a:tcPr marL="91440" marR="91440" marT="27432" marB="27432" anchor="ctr">
                    <a:solidFill>
                      <a:srgbClr val="F8FAFC"/>
                    </a:solidFill>
                  </a:tcPr>
                </a:tc>
                <a:tc>
                  <a:txBody>
                    <a:bodyPr wrap="square"/>
                    <a:lstStyle/>
                    <a:p>
                      <a:pPr algn="ctr"/>
                      <a:r>
                        <a:rPr sz="1000" b="0">
                          <a:solidFill>
                            <a:srgbClr val="0F172A"/>
                          </a:solidFill>
                          <a:latin typeface="Segoe UI"/>
                        </a:rPr>
                        <a:t>3.27%</a:t>
                      </a:r>
                    </a:p>
                  </a:txBody>
                  <a:tcPr marL="91440" marR="91440" marT="27432" marB="27432" anchor="ctr">
                    <a:solidFill>
                      <a:srgbClr val="F8FAFC"/>
                    </a:solidFill>
                  </a:tcPr>
                </a:tc>
                <a:tc>
                  <a:txBody>
                    <a:bodyPr wrap="square"/>
                    <a:lstStyle/>
                    <a:p>
                      <a:pPr algn="ctr"/>
                      <a:r>
                        <a:rPr sz="1000" b="0">
                          <a:solidFill>
                            <a:srgbClr val="0F172A"/>
                          </a:solidFill>
                          <a:latin typeface="Segoe UI"/>
                        </a:rPr>
                        <a:t>₹294 cr</a:t>
                      </a:r>
                    </a:p>
                  </a:txBody>
                  <a:tcPr marL="91440" marR="91440" marT="27432" marB="27432" anchor="ctr">
                    <a:solidFill>
                      <a:srgbClr val="F8FAFC"/>
                    </a:solidFill>
                  </a:tcPr>
                </a:tc>
                <a:tc>
                  <a:txBody>
                    <a:bodyPr wrap="square"/>
                    <a:lstStyle/>
                    <a:p>
                      <a:pPr algn="ctr"/>
                      <a:r>
                        <a:rPr sz="1000" b="0">
                          <a:solidFill>
                            <a:srgbClr val="0F172A"/>
                          </a:solidFill>
                          <a:latin typeface="Segoe UI"/>
                        </a:rPr>
                        <a:t>₹5.8 cr</a:t>
                      </a:r>
                    </a:p>
                  </a:txBody>
                  <a:tcPr marL="91440" marR="91440" marT="27432" marB="27432" anchor="ctr">
                    <a:solidFill>
                      <a:srgbClr val="F8FAFC"/>
                    </a:solidFill>
                  </a:tcPr>
                </a:tc>
              </a:tr>
              <a:tr h="402336">
                <a:tc>
                  <a:txBody>
                    <a:bodyPr wrap="square"/>
                    <a:lstStyle/>
                    <a:p>
                      <a:pPr algn="l"/>
                      <a:r>
                        <a:rPr sz="1000" b="0">
                          <a:solidFill>
                            <a:srgbClr val="0F172A"/>
                          </a:solidFill>
                          <a:latin typeface="Segoe UI"/>
                        </a:rPr>
                        <a:t>Moga</a:t>
                      </a:r>
                    </a:p>
                  </a:txBody>
                  <a:tcPr marL="91440" marR="91440" marT="27432" marB="27432" anchor="ctr">
                    <a:solidFill>
                      <a:srgbClr val="FFFFFF"/>
                    </a:solidFill>
                  </a:tcPr>
                </a:tc>
                <a:tc>
                  <a:txBody>
                    <a:bodyPr wrap="square"/>
                    <a:lstStyle/>
                    <a:p>
                      <a:pPr algn="ctr"/>
                      <a:r>
                        <a:rPr sz="1000" b="0">
                          <a:solidFill>
                            <a:srgbClr val="0F172A"/>
                          </a:solidFill>
                          <a:latin typeface="Segoe UI"/>
                        </a:rPr>
                        <a:t>37/100</a:t>
                      </a:r>
                    </a:p>
                  </a:txBody>
                  <a:tcPr marL="91440" marR="91440" marT="27432" marB="27432" anchor="ctr">
                    <a:solidFill>
                      <a:srgbClr val="FFFFFF"/>
                    </a:solidFill>
                  </a:tcPr>
                </a:tc>
                <a:tc>
                  <a:txBody>
                    <a:bodyPr wrap="square"/>
                    <a:lstStyle/>
                    <a:p>
                      <a:pPr algn="ctr"/>
                      <a:r>
                        <a:rPr sz="1000" b="0">
                          <a:solidFill>
                            <a:srgbClr val="0F172A"/>
                          </a:solidFill>
                          <a:latin typeface="Segoe UI"/>
                        </a:rPr>
                        <a:t>Moderate</a:t>
                      </a:r>
                    </a:p>
                  </a:txBody>
                  <a:tcPr marL="91440" marR="91440" marT="27432" marB="27432" anchor="ctr">
                    <a:solidFill>
                      <a:srgbClr val="FFFFFF"/>
                    </a:solidFill>
                  </a:tcPr>
                </a:tc>
                <a:tc>
                  <a:txBody>
                    <a:bodyPr wrap="square"/>
                    <a:lstStyle/>
                    <a:p>
                      <a:pPr algn="ctr"/>
                      <a:r>
                        <a:rPr sz="1000" b="0">
                          <a:solidFill>
                            <a:srgbClr val="0F172A"/>
                          </a:solidFill>
                          <a:latin typeface="Segoe UI"/>
                        </a:rPr>
                        <a:t>3.91%</a:t>
                      </a:r>
                    </a:p>
                  </a:txBody>
                  <a:tcPr marL="91440" marR="91440" marT="27432" marB="27432" anchor="ctr">
                    <a:solidFill>
                      <a:srgbClr val="FFFFFF"/>
                    </a:solidFill>
                  </a:tcPr>
                </a:tc>
                <a:tc>
                  <a:txBody>
                    <a:bodyPr wrap="square"/>
                    <a:lstStyle/>
                    <a:p>
                      <a:pPr algn="ctr"/>
                      <a:r>
                        <a:rPr sz="1000" b="0">
                          <a:solidFill>
                            <a:srgbClr val="0F172A"/>
                          </a:solidFill>
                          <a:latin typeface="Segoe UI"/>
                        </a:rPr>
                        <a:t>₹121 cr</a:t>
                      </a:r>
                    </a:p>
                  </a:txBody>
                  <a:tcPr marL="91440" marR="91440" marT="27432" marB="27432" anchor="ctr">
                    <a:solidFill>
                      <a:srgbClr val="FFFFFF"/>
                    </a:solidFill>
                  </a:tcPr>
                </a:tc>
                <a:tc>
                  <a:txBody>
                    <a:bodyPr wrap="square"/>
                    <a:lstStyle/>
                    <a:p>
                      <a:pPr algn="ctr"/>
                      <a:r>
                        <a:rPr sz="1000" b="0">
                          <a:solidFill>
                            <a:srgbClr val="0F172A"/>
                          </a:solidFill>
                          <a:latin typeface="Segoe UI"/>
                        </a:rPr>
                        <a:t>₹2.8 cr</a:t>
                      </a:r>
                    </a:p>
                  </a:txBody>
                  <a:tcPr marL="91440" marR="91440" marT="27432" marB="27432" anchor="ctr">
                    <a:solidFill>
                      <a:srgbClr val="FFFFFF"/>
                    </a:solidFill>
                  </a:tcPr>
                </a:tc>
              </a:tr>
            </a:tbl>
          </a:graphicData>
        </a:graphic>
      </p:graphicFrame>
      <p:sp>
        <p:nvSpPr>
          <p:cNvPr id="8" name="Rounded Rectangle 7"/>
          <p:cNvSpPr/>
          <p:nvPr/>
        </p:nvSpPr>
        <p:spPr>
          <a:xfrm>
            <a:off x="566928" y="4297680"/>
            <a:ext cx="2633472" cy="1234440"/>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566928" y="4297680"/>
            <a:ext cx="50292" cy="1234440"/>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822960" y="4480560"/>
            <a:ext cx="2221992" cy="603504"/>
          </a:xfrm>
          <a:prstGeom prst="rect">
            <a:avLst/>
          </a:prstGeom>
          <a:noFill/>
        </p:spPr>
        <p:txBody>
          <a:bodyPr wrap="square" lIns="0" rIns="0" tIns="0" bIns="0" anchor="t">
            <a:spAutoFit/>
          </a:bodyPr>
          <a:lstStyle/>
          <a:p>
            <a:pPr algn="l">
              <a:lnSpc>
                <a:spcPct val="100000"/>
              </a:lnSpc>
              <a:spcAft>
                <a:spcPts val="400"/>
              </a:spcAft>
            </a:pPr>
            <a:r>
              <a:rPr sz="3000" b="1">
                <a:solidFill>
                  <a:srgbClr val="0369A1"/>
                </a:solidFill>
                <a:latin typeface="Segoe UI"/>
              </a:rPr>
              <a:t>₹607 cr</a:t>
            </a:r>
          </a:p>
        </p:txBody>
      </p:sp>
      <p:sp>
        <p:nvSpPr>
          <p:cNvPr id="11" name="TextBox 10"/>
          <p:cNvSpPr txBox="1"/>
          <p:nvPr/>
        </p:nvSpPr>
        <p:spPr>
          <a:xfrm>
            <a:off x="822960" y="5084064"/>
            <a:ext cx="2221992" cy="457200"/>
          </a:xfrm>
          <a:prstGeom prst="rect">
            <a:avLst/>
          </a:prstGeom>
          <a:noFill/>
        </p:spPr>
        <p:txBody>
          <a:bodyPr wrap="square" lIns="0" rIns="0" tIns="0" bIns="0" anchor="t">
            <a:spAutoFit/>
          </a:bodyPr>
          <a:lstStyle/>
          <a:p>
            <a:pPr algn="l">
              <a:lnSpc>
                <a:spcPct val="95000"/>
              </a:lnSpc>
              <a:spcAft>
                <a:spcPts val="400"/>
              </a:spcAft>
            </a:pPr>
            <a:r>
              <a:rPr sz="1050" b="0">
                <a:solidFill>
                  <a:srgbClr val="64748B"/>
                </a:solidFill>
                <a:latin typeface="Segoe UI"/>
              </a:rPr>
              <a:t>portfolio exposure</a:t>
            </a:r>
          </a:p>
        </p:txBody>
      </p:sp>
      <p:sp>
        <p:nvSpPr>
          <p:cNvPr id="12" name="Rounded Rectangle 11"/>
          <p:cNvSpPr/>
          <p:nvPr/>
        </p:nvSpPr>
        <p:spPr>
          <a:xfrm>
            <a:off x="3392424" y="4297680"/>
            <a:ext cx="2633472" cy="1234440"/>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3392424" y="4297680"/>
            <a:ext cx="50292" cy="1234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3648456" y="4480560"/>
            <a:ext cx="2221992" cy="603504"/>
          </a:xfrm>
          <a:prstGeom prst="rect">
            <a:avLst/>
          </a:prstGeom>
          <a:noFill/>
        </p:spPr>
        <p:txBody>
          <a:bodyPr wrap="square" lIns="0" rIns="0" tIns="0" bIns="0" anchor="t">
            <a:spAutoFit/>
          </a:bodyPr>
          <a:lstStyle/>
          <a:p>
            <a:pPr algn="l">
              <a:lnSpc>
                <a:spcPct val="100000"/>
              </a:lnSpc>
              <a:spcAft>
                <a:spcPts val="400"/>
              </a:spcAft>
            </a:pPr>
            <a:r>
              <a:rPr sz="3000" b="1">
                <a:solidFill>
                  <a:srgbClr val="F59E0B"/>
                </a:solidFill>
                <a:latin typeface="Segoe UI"/>
              </a:rPr>
              <a:t>3.2%</a:t>
            </a:r>
          </a:p>
        </p:txBody>
      </p:sp>
      <p:sp>
        <p:nvSpPr>
          <p:cNvPr id="15" name="TextBox 14"/>
          <p:cNvSpPr txBox="1"/>
          <p:nvPr/>
        </p:nvSpPr>
        <p:spPr>
          <a:xfrm>
            <a:off x="3648456" y="5084064"/>
            <a:ext cx="2221992" cy="457200"/>
          </a:xfrm>
          <a:prstGeom prst="rect">
            <a:avLst/>
          </a:prstGeom>
          <a:noFill/>
        </p:spPr>
        <p:txBody>
          <a:bodyPr wrap="square" lIns="0" rIns="0" tIns="0" bIns="0" anchor="t">
            <a:spAutoFit/>
          </a:bodyPr>
          <a:lstStyle/>
          <a:p>
            <a:pPr algn="l">
              <a:lnSpc>
                <a:spcPct val="95000"/>
              </a:lnSpc>
              <a:spcAft>
                <a:spcPts val="400"/>
              </a:spcAft>
            </a:pPr>
            <a:r>
              <a:rPr sz="1050" b="0">
                <a:solidFill>
                  <a:srgbClr val="64748B"/>
                </a:solidFill>
                <a:latin typeface="Segoe UI"/>
              </a:rPr>
              <a:t>portfolio-at-risk</a:t>
            </a:r>
          </a:p>
        </p:txBody>
      </p:sp>
      <p:sp>
        <p:nvSpPr>
          <p:cNvPr id="16" name="Rounded Rectangle 15"/>
          <p:cNvSpPr/>
          <p:nvPr/>
        </p:nvSpPr>
        <p:spPr>
          <a:xfrm>
            <a:off x="6217920" y="4297680"/>
            <a:ext cx="2633472" cy="1234440"/>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6217920" y="4297680"/>
            <a:ext cx="50292" cy="1234440"/>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6473952" y="4480560"/>
            <a:ext cx="2221992" cy="603504"/>
          </a:xfrm>
          <a:prstGeom prst="rect">
            <a:avLst/>
          </a:prstGeom>
          <a:noFill/>
        </p:spPr>
        <p:txBody>
          <a:bodyPr wrap="square" lIns="0" rIns="0" tIns="0" bIns="0" anchor="t">
            <a:spAutoFit/>
          </a:bodyPr>
          <a:lstStyle/>
          <a:p>
            <a:pPr algn="l">
              <a:lnSpc>
                <a:spcPct val="100000"/>
              </a:lnSpc>
              <a:spcAft>
                <a:spcPts val="400"/>
              </a:spcAft>
            </a:pPr>
            <a:r>
              <a:rPr sz="3000" b="1">
                <a:solidFill>
                  <a:srgbClr val="EF4444"/>
                </a:solidFill>
                <a:latin typeface="Segoe UI"/>
              </a:rPr>
              <a:t>₹19.4 cr</a:t>
            </a:r>
          </a:p>
        </p:txBody>
      </p:sp>
      <p:sp>
        <p:nvSpPr>
          <p:cNvPr id="19" name="TextBox 18"/>
          <p:cNvSpPr txBox="1"/>
          <p:nvPr/>
        </p:nvSpPr>
        <p:spPr>
          <a:xfrm>
            <a:off x="6473952" y="5084064"/>
            <a:ext cx="2221992" cy="457200"/>
          </a:xfrm>
          <a:prstGeom prst="rect">
            <a:avLst/>
          </a:prstGeom>
          <a:noFill/>
        </p:spPr>
        <p:txBody>
          <a:bodyPr wrap="square" lIns="0" rIns="0" tIns="0" bIns="0" anchor="t">
            <a:spAutoFit/>
          </a:bodyPr>
          <a:lstStyle/>
          <a:p>
            <a:pPr algn="l">
              <a:lnSpc>
                <a:spcPct val="95000"/>
              </a:lnSpc>
              <a:spcAft>
                <a:spcPts val="400"/>
              </a:spcAft>
            </a:pPr>
            <a:r>
              <a:rPr sz="1050" b="0">
                <a:solidFill>
                  <a:srgbClr val="64748B"/>
                </a:solidFill>
                <a:latin typeface="Segoe UI"/>
              </a:rPr>
              <a:t>expected loss</a:t>
            </a:r>
          </a:p>
        </p:txBody>
      </p:sp>
      <p:sp>
        <p:nvSpPr>
          <p:cNvPr id="20" name="Rounded Rectangle 19"/>
          <p:cNvSpPr/>
          <p:nvPr/>
        </p:nvSpPr>
        <p:spPr>
          <a:xfrm>
            <a:off x="9043416" y="4297680"/>
            <a:ext cx="2633472" cy="1234440"/>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9043416" y="4297680"/>
            <a:ext cx="50292" cy="1234440"/>
          </a:xfrm>
          <a:prstGeom prst="rect">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9299448" y="4480560"/>
            <a:ext cx="2221992" cy="603504"/>
          </a:xfrm>
          <a:prstGeom prst="rect">
            <a:avLst/>
          </a:prstGeom>
          <a:noFill/>
        </p:spPr>
        <p:txBody>
          <a:bodyPr wrap="square" lIns="0" rIns="0" tIns="0" bIns="0" anchor="t">
            <a:spAutoFit/>
          </a:bodyPr>
          <a:lstStyle/>
          <a:p>
            <a:pPr algn="l">
              <a:lnSpc>
                <a:spcPct val="100000"/>
              </a:lnSpc>
              <a:spcAft>
                <a:spcPts val="400"/>
              </a:spcAft>
            </a:pPr>
            <a:r>
              <a:rPr sz="3000" b="1">
                <a:solidFill>
                  <a:srgbClr val="22C55E"/>
                </a:solidFill>
                <a:latin typeface="Segoe UI"/>
              </a:rPr>
              <a:t>₹4.3 cr</a:t>
            </a:r>
          </a:p>
        </p:txBody>
      </p:sp>
      <p:sp>
        <p:nvSpPr>
          <p:cNvPr id="23" name="TextBox 22"/>
          <p:cNvSpPr txBox="1"/>
          <p:nvPr/>
        </p:nvSpPr>
        <p:spPr>
          <a:xfrm>
            <a:off x="9299448" y="5084064"/>
            <a:ext cx="2221992" cy="457200"/>
          </a:xfrm>
          <a:prstGeom prst="rect">
            <a:avLst/>
          </a:prstGeom>
          <a:noFill/>
        </p:spPr>
        <p:txBody>
          <a:bodyPr wrap="square" lIns="0" rIns="0" tIns="0" bIns="0" anchor="t">
            <a:spAutoFit/>
          </a:bodyPr>
          <a:lstStyle/>
          <a:p>
            <a:pPr algn="l">
              <a:lnSpc>
                <a:spcPct val="95000"/>
              </a:lnSpc>
              <a:spcAft>
                <a:spcPts val="400"/>
              </a:spcAft>
            </a:pPr>
            <a:r>
              <a:rPr sz="1050" b="0">
                <a:solidFill>
                  <a:srgbClr val="64748B"/>
                </a:solidFill>
                <a:latin typeface="Segoe UI"/>
              </a:rPr>
              <a:t>avoidable with advisory</a:t>
            </a:r>
          </a:p>
        </p:txBody>
      </p:sp>
      <p:sp>
        <p:nvSpPr>
          <p:cNvPr id="24" name="TextBox 23"/>
          <p:cNvSpPr txBox="1"/>
          <p:nvPr/>
        </p:nvSpPr>
        <p:spPr>
          <a:xfrm>
            <a:off x="566928" y="5724143"/>
            <a:ext cx="11064240" cy="603504"/>
          </a:xfrm>
          <a:prstGeom prst="rect">
            <a:avLst/>
          </a:prstGeom>
          <a:noFill/>
        </p:spPr>
        <p:txBody>
          <a:bodyPr wrap="square" lIns="0" rIns="0" tIns="0" bIns="0" anchor="t">
            <a:spAutoFit/>
          </a:bodyPr>
          <a:lstStyle/>
          <a:p>
            <a:pPr algn="l">
              <a:lnSpc>
                <a:spcPct val="120000"/>
              </a:lnSpc>
              <a:spcAft>
                <a:spcPts val="400"/>
              </a:spcAft>
            </a:pPr>
            <a:r>
              <a:rPr sz="1100" b="0">
                <a:solidFill>
                  <a:srgbClr val="0F172A"/>
                </a:solidFill>
                <a:latin typeface="Segoe UI"/>
              </a:rPr>
              <a:t>Seven weighted drivers — depth, pump-failure risk, forecast drawdown, stage of extraction, crop stage, monsoon anomaly and drip adoption — produce a 0–100 score, a probability of default and a rupee expected loss. The bank gets a number it can price; the farmer gets an early-warning text, not a rejection.</a:t>
            </a:r>
          </a:p>
        </p:txBody>
      </p:sp>
      <p:sp>
        <p:nvSpPr>
          <p:cNvPr id="25" name="TextBox 24"/>
          <p:cNvSpPr txBox="1"/>
          <p:nvPr/>
        </p:nvSpPr>
        <p:spPr>
          <a:xfrm>
            <a:off x="566928" y="6419088"/>
            <a:ext cx="8229600" cy="237744"/>
          </a:xfrm>
          <a:prstGeom prst="rect">
            <a:avLst/>
          </a:prstGeom>
          <a:noFill/>
        </p:spPr>
        <p:txBody>
          <a:bodyPr wrap="square" lIns="0" rIns="0" tIns="0" bIns="0" anchor="t">
            <a:spAutoFit/>
          </a:bodyPr>
          <a:lstStyle/>
          <a:p>
            <a:pPr algn="l">
              <a:lnSpc>
                <a:spcPct val="100000"/>
              </a:lnSpc>
              <a:spcAft>
                <a:spcPts val="400"/>
              </a:spcAft>
            </a:pPr>
            <a:r>
              <a:rPr sz="850" b="0">
                <a:solidFill>
                  <a:srgbClr val="94A3B8"/>
                </a:solidFill>
                <a:latin typeface="Segoe UI"/>
              </a:rPr>
              <a:t>AquaCast-Punjab  ·  Sankalp — Climate-Smart Agriculture, Water &amp; Rural Credit</a:t>
            </a:r>
          </a:p>
        </p:txBody>
      </p:sp>
      <p:sp>
        <p:nvSpPr>
          <p:cNvPr id="26" name="TextBox 25"/>
          <p:cNvSpPr txBox="1"/>
          <p:nvPr/>
        </p:nvSpPr>
        <p:spPr>
          <a:xfrm>
            <a:off x="10972800" y="6419088"/>
            <a:ext cx="685800" cy="237744"/>
          </a:xfrm>
          <a:prstGeom prst="rect">
            <a:avLst/>
          </a:prstGeom>
          <a:noFill/>
        </p:spPr>
        <p:txBody>
          <a:bodyPr wrap="square" lIns="0" rIns="0" tIns="0" bIns="0" anchor="t">
            <a:spAutoFit/>
          </a:bodyPr>
          <a:lstStyle/>
          <a:p>
            <a:pPr algn="r">
              <a:lnSpc>
                <a:spcPct val="100000"/>
              </a:lnSpc>
              <a:spcAft>
                <a:spcPts val="400"/>
              </a:spcAft>
            </a:pPr>
            <a:r>
              <a:rPr sz="850" b="1">
                <a:solidFill>
                  <a:srgbClr val="94A3B8"/>
                </a:solidFill>
                <a:latin typeface="Segoe U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11064240" cy="256032"/>
          </a:xfrm>
          <a:prstGeom prst="rect">
            <a:avLst/>
          </a:prstGeom>
          <a:noFill/>
        </p:spPr>
        <p:txBody>
          <a:bodyPr wrap="square" lIns="0" rIns="0" tIns="0" bIns="0" anchor="t">
            <a:spAutoFit/>
          </a:bodyPr>
          <a:lstStyle/>
          <a:p>
            <a:pPr algn="l">
              <a:lnSpc>
                <a:spcPct val="100000"/>
              </a:lnSpc>
              <a:spcAft>
                <a:spcPts val="400"/>
              </a:spcAft>
            </a:pPr>
            <a:r>
              <a:rPr sz="1050" b="1">
                <a:solidFill>
                  <a:srgbClr val="0369A1"/>
                </a:solidFill>
                <a:latin typeface="Segoe UI"/>
              </a:rPr>
              <a:t>HOW IT IS BUILT</a:t>
            </a:r>
          </a:p>
        </p:txBody>
      </p:sp>
      <p:sp>
        <p:nvSpPr>
          <p:cNvPr id="4" name="TextBox 3"/>
          <p:cNvSpPr txBox="1"/>
          <p:nvPr/>
        </p:nvSpPr>
        <p:spPr>
          <a:xfrm>
            <a:off x="566928" y="640080"/>
            <a:ext cx="11064240" cy="658368"/>
          </a:xfrm>
          <a:prstGeom prst="rect">
            <a:avLst/>
          </a:prstGeom>
          <a:noFill/>
        </p:spPr>
        <p:txBody>
          <a:bodyPr wrap="square" lIns="0" rIns="0" tIns="0" bIns="0" anchor="t">
            <a:spAutoFit/>
          </a:bodyPr>
          <a:lstStyle/>
          <a:p>
            <a:pPr algn="l">
              <a:lnSpc>
                <a:spcPct val="100000"/>
              </a:lnSpc>
              <a:spcAft>
                <a:spcPts val="400"/>
              </a:spcAft>
            </a:pPr>
            <a:r>
              <a:rPr sz="2500" b="1">
                <a:solidFill>
                  <a:srgbClr val="0F172A"/>
                </a:solidFill>
                <a:latin typeface="Segoe UI"/>
              </a:rPr>
              <a:t>Production engineering, not a notebook</a:t>
            </a:r>
          </a:p>
        </p:txBody>
      </p:sp>
      <p:sp>
        <p:nvSpPr>
          <p:cNvPr id="5" name="Rectangle 4"/>
          <p:cNvSpPr/>
          <p:nvPr/>
        </p:nvSpPr>
        <p:spPr>
          <a:xfrm>
            <a:off x="566928" y="1335024"/>
            <a:ext cx="658368"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Oval 5"/>
          <p:cNvSpPr/>
          <p:nvPr/>
        </p:nvSpPr>
        <p:spPr>
          <a:xfrm>
            <a:off x="566928" y="1623060"/>
            <a:ext cx="77724" cy="77724"/>
          </a:xfrm>
          <a:prstGeom prst="ellipse">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804672" y="1527048"/>
            <a:ext cx="5111496" cy="274320"/>
          </a:xfrm>
          <a:prstGeom prst="rect">
            <a:avLst/>
          </a:prstGeom>
          <a:noFill/>
        </p:spPr>
        <p:txBody>
          <a:bodyPr wrap="square" lIns="0" rIns="0" tIns="0" bIns="0" anchor="t">
            <a:spAutoFit/>
          </a:bodyPr>
          <a:lstStyle/>
          <a:p>
            <a:pPr algn="l">
              <a:lnSpc>
                <a:spcPct val="100000"/>
              </a:lnSpc>
              <a:spcAft>
                <a:spcPts val="400"/>
              </a:spcAft>
            </a:pPr>
            <a:r>
              <a:rPr sz="1150" b="1">
                <a:solidFill>
                  <a:srgbClr val="0F172A"/>
                </a:solidFill>
                <a:latin typeface="Segoe UI"/>
              </a:rPr>
              <a:t>One command, whole system</a:t>
            </a:r>
          </a:p>
        </p:txBody>
      </p:sp>
      <p:sp>
        <p:nvSpPr>
          <p:cNvPr id="8" name="TextBox 7"/>
          <p:cNvSpPr txBox="1"/>
          <p:nvPr/>
        </p:nvSpPr>
        <p:spPr>
          <a:xfrm>
            <a:off x="804672" y="1769364"/>
            <a:ext cx="5111496" cy="548640"/>
          </a:xfrm>
          <a:prstGeom prst="rect">
            <a:avLst/>
          </a:prstGeom>
          <a:noFill/>
        </p:spPr>
        <p:txBody>
          <a:bodyPr wrap="square" lIns="0" rIns="0" tIns="0" bIns="0" anchor="t">
            <a:spAutoFit/>
          </a:bodyPr>
          <a:lstStyle/>
          <a:p>
            <a:pPr algn="l">
              <a:lnSpc>
                <a:spcPct val="98000"/>
              </a:lnSpc>
              <a:spcAft>
                <a:spcPts val="400"/>
              </a:spcAft>
            </a:pPr>
            <a:r>
              <a:rPr sz="1000" b="0">
                <a:solidFill>
                  <a:srgbClr val="64748B"/>
                </a:solidFill>
                <a:latin typeface="Segoe UI"/>
              </a:rPr>
              <a:t>python3 run_pipeline.py — pre-flight, ingest, build, train, evaluate, advise, launch. 45 s cold.</a:t>
            </a:r>
          </a:p>
        </p:txBody>
      </p:sp>
      <p:sp>
        <p:nvSpPr>
          <p:cNvPr id="9" name="Oval 8"/>
          <p:cNvSpPr/>
          <p:nvPr/>
        </p:nvSpPr>
        <p:spPr>
          <a:xfrm>
            <a:off x="566928" y="2226563"/>
            <a:ext cx="77724" cy="77724"/>
          </a:xfrm>
          <a:prstGeom prst="ellipse">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804672" y="2130551"/>
            <a:ext cx="5111496" cy="274320"/>
          </a:xfrm>
          <a:prstGeom prst="rect">
            <a:avLst/>
          </a:prstGeom>
          <a:noFill/>
        </p:spPr>
        <p:txBody>
          <a:bodyPr wrap="square" lIns="0" rIns="0" tIns="0" bIns="0" anchor="t">
            <a:spAutoFit/>
          </a:bodyPr>
          <a:lstStyle/>
          <a:p>
            <a:pPr algn="l">
              <a:lnSpc>
                <a:spcPct val="100000"/>
              </a:lnSpc>
              <a:spcAft>
                <a:spcPts val="400"/>
              </a:spcAft>
            </a:pPr>
            <a:r>
              <a:rPr sz="1150" b="1">
                <a:solidFill>
                  <a:srgbClr val="0F172A"/>
                </a:solidFill>
                <a:latin typeface="Segoe UI"/>
              </a:rPr>
              <a:t>24 automated assertions</a:t>
            </a:r>
          </a:p>
        </p:txBody>
      </p:sp>
      <p:sp>
        <p:nvSpPr>
          <p:cNvPr id="11" name="TextBox 10"/>
          <p:cNvSpPr txBox="1"/>
          <p:nvPr/>
        </p:nvSpPr>
        <p:spPr>
          <a:xfrm>
            <a:off x="804672" y="2372867"/>
            <a:ext cx="5111496" cy="548640"/>
          </a:xfrm>
          <a:prstGeom prst="rect">
            <a:avLst/>
          </a:prstGeom>
          <a:noFill/>
        </p:spPr>
        <p:txBody>
          <a:bodyPr wrap="square" lIns="0" rIns="0" tIns="0" bIns="0" anchor="t">
            <a:spAutoFit/>
          </a:bodyPr>
          <a:lstStyle/>
          <a:p>
            <a:pPr algn="l">
              <a:lnSpc>
                <a:spcPct val="98000"/>
              </a:lnSpc>
              <a:spcAft>
                <a:spcPts val="400"/>
              </a:spcAft>
            </a:pPr>
            <a:r>
              <a:rPr sz="1000" b="0">
                <a:solidFill>
                  <a:srgbClr val="64748B"/>
                </a:solidFill>
                <a:latin typeface="Segoe UI"/>
              </a:rPr>
              <a:t>3 districts × (advisory, wells, twin, spatial, geojson) + evaluation, importance, saliency, every chart, and the two audit regressions.</a:t>
            </a:r>
          </a:p>
        </p:txBody>
      </p:sp>
      <p:sp>
        <p:nvSpPr>
          <p:cNvPr id="12" name="Oval 11"/>
          <p:cNvSpPr/>
          <p:nvPr/>
        </p:nvSpPr>
        <p:spPr>
          <a:xfrm>
            <a:off x="566928" y="2830066"/>
            <a:ext cx="77724" cy="77724"/>
          </a:xfrm>
          <a:prstGeom prst="ellipse">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04672" y="2734054"/>
            <a:ext cx="5111496" cy="274320"/>
          </a:xfrm>
          <a:prstGeom prst="rect">
            <a:avLst/>
          </a:prstGeom>
          <a:noFill/>
        </p:spPr>
        <p:txBody>
          <a:bodyPr wrap="square" lIns="0" rIns="0" tIns="0" bIns="0" anchor="t">
            <a:spAutoFit/>
          </a:bodyPr>
          <a:lstStyle/>
          <a:p>
            <a:pPr algn="l">
              <a:lnSpc>
                <a:spcPct val="100000"/>
              </a:lnSpc>
              <a:spcAft>
                <a:spcPts val="400"/>
              </a:spcAft>
            </a:pPr>
            <a:r>
              <a:rPr sz="1150" b="1">
                <a:solidFill>
                  <a:srgbClr val="0F172A"/>
                </a:solidFill>
                <a:latin typeface="Segoe UI"/>
              </a:rPr>
              <a:t>Caching everywhere</a:t>
            </a:r>
          </a:p>
        </p:txBody>
      </p:sp>
      <p:sp>
        <p:nvSpPr>
          <p:cNvPr id="14" name="TextBox 13"/>
          <p:cNvSpPr txBox="1"/>
          <p:nvPr/>
        </p:nvSpPr>
        <p:spPr>
          <a:xfrm>
            <a:off x="804672" y="2976370"/>
            <a:ext cx="5111496" cy="548640"/>
          </a:xfrm>
          <a:prstGeom prst="rect">
            <a:avLst/>
          </a:prstGeom>
          <a:noFill/>
        </p:spPr>
        <p:txBody>
          <a:bodyPr wrap="square" lIns="0" rIns="0" tIns="0" bIns="0" anchor="t">
            <a:spAutoFit/>
          </a:bodyPr>
          <a:lstStyle/>
          <a:p>
            <a:pPr algn="l">
              <a:lnSpc>
                <a:spcPct val="98000"/>
              </a:lnSpc>
              <a:spcAft>
                <a:spcPts val="400"/>
              </a:spcAft>
            </a:pPr>
            <a:r>
              <a:rPr sz="1000" b="0">
                <a:solidFill>
                  <a:srgbClr val="64748B"/>
                </a:solidFill>
                <a:latin typeface="Segoe UI"/>
              </a:rPr>
              <a:t>Climate model, datasets, forecasts and maps are content-hashed and cached — the UI never waits on a fit.</a:t>
            </a:r>
          </a:p>
        </p:txBody>
      </p:sp>
      <p:sp>
        <p:nvSpPr>
          <p:cNvPr id="15" name="Oval 14"/>
          <p:cNvSpPr/>
          <p:nvPr/>
        </p:nvSpPr>
        <p:spPr>
          <a:xfrm>
            <a:off x="566928" y="3433569"/>
            <a:ext cx="77724" cy="77724"/>
          </a:xfrm>
          <a:prstGeom prst="ellipse">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804672" y="3337557"/>
            <a:ext cx="5111496" cy="274320"/>
          </a:xfrm>
          <a:prstGeom prst="rect">
            <a:avLst/>
          </a:prstGeom>
          <a:noFill/>
        </p:spPr>
        <p:txBody>
          <a:bodyPr wrap="square" lIns="0" rIns="0" tIns="0" bIns="0" anchor="t">
            <a:spAutoFit/>
          </a:bodyPr>
          <a:lstStyle/>
          <a:p>
            <a:pPr algn="l">
              <a:lnSpc>
                <a:spcPct val="100000"/>
              </a:lnSpc>
              <a:spcAft>
                <a:spcPts val="400"/>
              </a:spcAft>
            </a:pPr>
            <a:r>
              <a:rPr sz="1150" b="1">
                <a:solidFill>
                  <a:srgbClr val="0F172A"/>
                </a:solidFill>
                <a:latin typeface="Segoe UI"/>
              </a:rPr>
              <a:t>No mocked numbers</a:t>
            </a:r>
          </a:p>
        </p:txBody>
      </p:sp>
      <p:sp>
        <p:nvSpPr>
          <p:cNvPr id="17" name="TextBox 16"/>
          <p:cNvSpPr txBox="1"/>
          <p:nvPr/>
        </p:nvSpPr>
        <p:spPr>
          <a:xfrm>
            <a:off x="804672" y="3579873"/>
            <a:ext cx="5111496" cy="548640"/>
          </a:xfrm>
          <a:prstGeom prst="rect">
            <a:avLst/>
          </a:prstGeom>
          <a:noFill/>
        </p:spPr>
        <p:txBody>
          <a:bodyPr wrap="square" lIns="0" rIns="0" tIns="0" bIns="0" anchor="t">
            <a:spAutoFit/>
          </a:bodyPr>
          <a:lstStyle/>
          <a:p>
            <a:pPr algn="l">
              <a:lnSpc>
                <a:spcPct val="98000"/>
              </a:lnSpc>
              <a:spcAft>
                <a:spcPts val="400"/>
              </a:spcAft>
            </a:pPr>
            <a:r>
              <a:rPr sz="1000" b="0">
                <a:solidFill>
                  <a:srgbClr val="64748B"/>
                </a:solidFill>
                <a:latin typeface="Segoe UI"/>
              </a:rPr>
              <a:t>Every figure in the app and this deck is computed from data/ at run time. Change the data, the deck rebuilds itself.</a:t>
            </a:r>
          </a:p>
        </p:txBody>
      </p:sp>
      <p:sp>
        <p:nvSpPr>
          <p:cNvPr id="18" name="Oval 17"/>
          <p:cNvSpPr/>
          <p:nvPr/>
        </p:nvSpPr>
        <p:spPr>
          <a:xfrm>
            <a:off x="6309360" y="1623060"/>
            <a:ext cx="77724" cy="77724"/>
          </a:xfrm>
          <a:prstGeom prst="ellipse">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547104" y="1527048"/>
            <a:ext cx="5111496" cy="274320"/>
          </a:xfrm>
          <a:prstGeom prst="rect">
            <a:avLst/>
          </a:prstGeom>
          <a:noFill/>
        </p:spPr>
        <p:txBody>
          <a:bodyPr wrap="square" lIns="0" rIns="0" tIns="0" bIns="0" anchor="t">
            <a:spAutoFit/>
          </a:bodyPr>
          <a:lstStyle/>
          <a:p>
            <a:pPr algn="l">
              <a:lnSpc>
                <a:spcPct val="100000"/>
              </a:lnSpc>
              <a:spcAft>
                <a:spcPts val="400"/>
              </a:spcAft>
            </a:pPr>
            <a:r>
              <a:rPr sz="1150" b="1">
                <a:solidFill>
                  <a:srgbClr val="0F172A"/>
                </a:solidFill>
                <a:latin typeface="Segoe UI"/>
              </a:rPr>
              <a:t>Typed, documented, linted</a:t>
            </a:r>
          </a:p>
        </p:txBody>
      </p:sp>
      <p:sp>
        <p:nvSpPr>
          <p:cNvPr id="20" name="TextBox 19"/>
          <p:cNvSpPr txBox="1"/>
          <p:nvPr/>
        </p:nvSpPr>
        <p:spPr>
          <a:xfrm>
            <a:off x="6547104" y="1769364"/>
            <a:ext cx="5111496" cy="548640"/>
          </a:xfrm>
          <a:prstGeom prst="rect">
            <a:avLst/>
          </a:prstGeom>
          <a:noFill/>
        </p:spPr>
        <p:txBody>
          <a:bodyPr wrap="square" lIns="0" rIns="0" tIns="0" bIns="0" anchor="t">
            <a:spAutoFit/>
          </a:bodyPr>
          <a:lstStyle/>
          <a:p>
            <a:pPr algn="l">
              <a:lnSpc>
                <a:spcPct val="98000"/>
              </a:lnSpc>
              <a:spcAft>
                <a:spcPts val="400"/>
              </a:spcAft>
            </a:pPr>
            <a:r>
              <a:rPr sz="1000" b="0">
                <a:solidFill>
                  <a:srgbClr val="64748B"/>
                </a:solidFill>
                <a:latin typeface="Segoe UI"/>
              </a:rPr>
              <a:t>Docstrings carry the physical reasoning, not just the signature. Constants are named and collected in one config module.</a:t>
            </a:r>
          </a:p>
        </p:txBody>
      </p:sp>
      <p:sp>
        <p:nvSpPr>
          <p:cNvPr id="21" name="Oval 20"/>
          <p:cNvSpPr/>
          <p:nvPr/>
        </p:nvSpPr>
        <p:spPr>
          <a:xfrm>
            <a:off x="6309360" y="2226563"/>
            <a:ext cx="77724" cy="77724"/>
          </a:xfrm>
          <a:prstGeom prst="ellipse">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547104" y="2130551"/>
            <a:ext cx="5111496" cy="274320"/>
          </a:xfrm>
          <a:prstGeom prst="rect">
            <a:avLst/>
          </a:prstGeom>
          <a:noFill/>
        </p:spPr>
        <p:txBody>
          <a:bodyPr wrap="square" lIns="0" rIns="0" tIns="0" bIns="0" anchor="t">
            <a:spAutoFit/>
          </a:bodyPr>
          <a:lstStyle/>
          <a:p>
            <a:pPr algn="l">
              <a:lnSpc>
                <a:spcPct val="100000"/>
              </a:lnSpc>
              <a:spcAft>
                <a:spcPts val="400"/>
              </a:spcAft>
            </a:pPr>
            <a:r>
              <a:rPr sz="1150" b="1">
                <a:solidFill>
                  <a:srgbClr val="0F172A"/>
                </a:solidFill>
                <a:latin typeface="Segoe UI"/>
              </a:rPr>
              <a:t>Graceful degradation</a:t>
            </a:r>
          </a:p>
        </p:txBody>
      </p:sp>
      <p:sp>
        <p:nvSpPr>
          <p:cNvPr id="23" name="TextBox 22"/>
          <p:cNvSpPr txBox="1"/>
          <p:nvPr/>
        </p:nvSpPr>
        <p:spPr>
          <a:xfrm>
            <a:off x="6547104" y="2372867"/>
            <a:ext cx="5111496" cy="548640"/>
          </a:xfrm>
          <a:prstGeom prst="rect">
            <a:avLst/>
          </a:prstGeom>
          <a:noFill/>
        </p:spPr>
        <p:txBody>
          <a:bodyPr wrap="square" lIns="0" rIns="0" tIns="0" bIns="0" anchor="t">
            <a:spAutoFit/>
          </a:bodyPr>
          <a:lstStyle/>
          <a:p>
            <a:pPr algn="l">
              <a:lnSpc>
                <a:spcPct val="98000"/>
              </a:lnSpc>
              <a:spcAft>
                <a:spcPts val="400"/>
              </a:spcAft>
            </a:pPr>
            <a:r>
              <a:rPr sz="1000" b="0">
                <a:solidFill>
                  <a:srgbClr val="64748B"/>
                </a:solidFill>
                <a:latin typeface="Segoe UI"/>
              </a:rPr>
              <a:t>No model checkpoint? The app still serves the physics twin and the advisory. No map? It falls back to a scatter.</a:t>
            </a:r>
          </a:p>
        </p:txBody>
      </p:sp>
      <p:sp>
        <p:nvSpPr>
          <p:cNvPr id="24" name="Oval 23"/>
          <p:cNvSpPr/>
          <p:nvPr/>
        </p:nvSpPr>
        <p:spPr>
          <a:xfrm>
            <a:off x="6309360" y="2830066"/>
            <a:ext cx="77724" cy="77724"/>
          </a:xfrm>
          <a:prstGeom prst="ellipse">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6547104" y="2734054"/>
            <a:ext cx="5111496" cy="274320"/>
          </a:xfrm>
          <a:prstGeom prst="rect">
            <a:avLst/>
          </a:prstGeom>
          <a:noFill/>
        </p:spPr>
        <p:txBody>
          <a:bodyPr wrap="square" lIns="0" rIns="0" tIns="0" bIns="0" anchor="t">
            <a:spAutoFit/>
          </a:bodyPr>
          <a:lstStyle/>
          <a:p>
            <a:pPr algn="l">
              <a:lnSpc>
                <a:spcPct val="100000"/>
              </a:lnSpc>
              <a:spcAft>
                <a:spcPts val="400"/>
              </a:spcAft>
            </a:pPr>
            <a:r>
              <a:rPr sz="1150" b="1">
                <a:solidFill>
                  <a:srgbClr val="0F172A"/>
                </a:solidFill>
                <a:latin typeface="Segoe UI"/>
              </a:rPr>
              <a:t>Reproducible</a:t>
            </a:r>
          </a:p>
        </p:txBody>
      </p:sp>
      <p:sp>
        <p:nvSpPr>
          <p:cNvPr id="26" name="TextBox 25"/>
          <p:cNvSpPr txBox="1"/>
          <p:nvPr/>
        </p:nvSpPr>
        <p:spPr>
          <a:xfrm>
            <a:off x="6547104" y="2976370"/>
            <a:ext cx="5111496" cy="548640"/>
          </a:xfrm>
          <a:prstGeom prst="rect">
            <a:avLst/>
          </a:prstGeom>
          <a:noFill/>
        </p:spPr>
        <p:txBody>
          <a:bodyPr wrap="square" lIns="0" rIns="0" tIns="0" bIns="0" anchor="t">
            <a:spAutoFit/>
          </a:bodyPr>
          <a:lstStyle/>
          <a:p>
            <a:pPr algn="l">
              <a:lnSpc>
                <a:spcPct val="98000"/>
              </a:lnSpc>
              <a:spcAft>
                <a:spcPts val="400"/>
              </a:spcAft>
            </a:pPr>
            <a:r>
              <a:rPr sz="1000" b="0">
                <a:solidFill>
                  <a:srgbClr val="64748B"/>
                </a:solidFill>
                <a:latin typeface="Segoe UI"/>
              </a:rPr>
              <a:t>Seeded torch/numpy, pinned requirements.txt, a rebuild script for the spatial assets, and an artefacts manifest on exit.</a:t>
            </a:r>
          </a:p>
        </p:txBody>
      </p:sp>
      <p:sp>
        <p:nvSpPr>
          <p:cNvPr id="27" name="Oval 26"/>
          <p:cNvSpPr/>
          <p:nvPr/>
        </p:nvSpPr>
        <p:spPr>
          <a:xfrm>
            <a:off x="6309360" y="3433569"/>
            <a:ext cx="77724" cy="77724"/>
          </a:xfrm>
          <a:prstGeom prst="ellipse">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6547104" y="3337557"/>
            <a:ext cx="5111496" cy="274320"/>
          </a:xfrm>
          <a:prstGeom prst="rect">
            <a:avLst/>
          </a:prstGeom>
          <a:noFill/>
        </p:spPr>
        <p:txBody>
          <a:bodyPr wrap="square" lIns="0" rIns="0" tIns="0" bIns="0" anchor="t">
            <a:spAutoFit/>
          </a:bodyPr>
          <a:lstStyle/>
          <a:p>
            <a:pPr algn="l">
              <a:lnSpc>
                <a:spcPct val="100000"/>
              </a:lnSpc>
              <a:spcAft>
                <a:spcPts val="400"/>
              </a:spcAft>
            </a:pPr>
            <a:r>
              <a:rPr sz="1150" b="1">
                <a:solidFill>
                  <a:srgbClr val="0F172A"/>
                </a:solidFill>
                <a:latin typeface="Segoe UI"/>
              </a:rPr>
              <a:t>Honest by construction</a:t>
            </a:r>
          </a:p>
        </p:txBody>
      </p:sp>
      <p:sp>
        <p:nvSpPr>
          <p:cNvPr id="29" name="TextBox 28"/>
          <p:cNvSpPr txBox="1"/>
          <p:nvPr/>
        </p:nvSpPr>
        <p:spPr>
          <a:xfrm>
            <a:off x="6547104" y="3579873"/>
            <a:ext cx="5111496" cy="548640"/>
          </a:xfrm>
          <a:prstGeom prst="rect">
            <a:avLst/>
          </a:prstGeom>
          <a:noFill/>
        </p:spPr>
        <p:txBody>
          <a:bodyPr wrap="square" lIns="0" rIns="0" tIns="0" bIns="0" anchor="t">
            <a:spAutoFit/>
          </a:bodyPr>
          <a:lstStyle/>
          <a:p>
            <a:pPr algn="l">
              <a:lnSpc>
                <a:spcPct val="98000"/>
              </a:lnSpc>
              <a:spcAft>
                <a:spcPts val="400"/>
              </a:spcAft>
            </a:pPr>
            <a:r>
              <a:rPr sz="1000" b="0">
                <a:solidFill>
                  <a:srgbClr val="64748B"/>
                </a:solidFill>
                <a:latin typeface="Segoe UI"/>
              </a:rPr>
              <a:t>Baselines ship with the model. Provenance columns ship with the data. Limitations ship with the README.</a:t>
            </a:r>
          </a:p>
        </p:txBody>
      </p:sp>
      <p:sp>
        <p:nvSpPr>
          <p:cNvPr id="30" name="Rounded Rectangle 29"/>
          <p:cNvSpPr/>
          <p:nvPr/>
        </p:nvSpPr>
        <p:spPr>
          <a:xfrm>
            <a:off x="566928" y="4572000"/>
            <a:ext cx="11064240" cy="932688"/>
          </a:xfrm>
          <a:prstGeom prst="roundRect">
            <a:avLst>
              <a:gd name="adj" fmla="val 6000"/>
            </a:avLst>
          </a:prstGeom>
          <a:solidFill>
            <a:srgbClr val="0B1E30"/>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566928" y="4572000"/>
            <a:ext cx="50292" cy="932688"/>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841248" y="4754880"/>
            <a:ext cx="10607040" cy="640080"/>
          </a:xfrm>
          <a:prstGeom prst="rect">
            <a:avLst/>
          </a:prstGeom>
          <a:noFill/>
        </p:spPr>
        <p:txBody>
          <a:bodyPr wrap="square" lIns="0" rIns="0" tIns="0" bIns="0" anchor="t">
            <a:spAutoFit/>
          </a:bodyPr>
          <a:lstStyle/>
          <a:p>
            <a:pPr algn="l">
              <a:lnSpc>
                <a:spcPct val="125000"/>
              </a:lnSpc>
              <a:spcAft>
                <a:spcPts val="400"/>
              </a:spcAft>
            </a:pPr>
            <a:r>
              <a:rPr sz="1250" b="1">
                <a:solidFill>
                  <a:srgbClr val="FFFFFF"/>
                </a:solidFill>
                <a:latin typeface="Segoe UI"/>
              </a:rPr>
              <a:t>52,547 parameters · 1,828-day daily frame · 1,713 training sequences · ~25 s to train on CPU · sub-0.2 s digital twin · 4-tab Streamlit dashboard · 26 MB of real Punjab data</a:t>
            </a:r>
          </a:p>
        </p:txBody>
      </p:sp>
      <p:sp>
        <p:nvSpPr>
          <p:cNvPr id="33" name="TextBox 32"/>
          <p:cNvSpPr txBox="1"/>
          <p:nvPr/>
        </p:nvSpPr>
        <p:spPr>
          <a:xfrm>
            <a:off x="566928" y="6419088"/>
            <a:ext cx="8229600" cy="237744"/>
          </a:xfrm>
          <a:prstGeom prst="rect">
            <a:avLst/>
          </a:prstGeom>
          <a:noFill/>
        </p:spPr>
        <p:txBody>
          <a:bodyPr wrap="square" lIns="0" rIns="0" tIns="0" bIns="0" anchor="t">
            <a:spAutoFit/>
          </a:bodyPr>
          <a:lstStyle/>
          <a:p>
            <a:pPr algn="l">
              <a:lnSpc>
                <a:spcPct val="100000"/>
              </a:lnSpc>
              <a:spcAft>
                <a:spcPts val="400"/>
              </a:spcAft>
            </a:pPr>
            <a:r>
              <a:rPr sz="850" b="0">
                <a:solidFill>
                  <a:srgbClr val="94A3B8"/>
                </a:solidFill>
                <a:latin typeface="Segoe UI"/>
              </a:rPr>
              <a:t>AquaCast-Punjab  ·  Sankalp — Climate-Smart Agriculture, Water &amp; Rural Credit</a:t>
            </a:r>
          </a:p>
        </p:txBody>
      </p:sp>
      <p:sp>
        <p:nvSpPr>
          <p:cNvPr id="34" name="TextBox 33"/>
          <p:cNvSpPr txBox="1"/>
          <p:nvPr/>
        </p:nvSpPr>
        <p:spPr>
          <a:xfrm>
            <a:off x="10972800" y="6419088"/>
            <a:ext cx="685800" cy="237744"/>
          </a:xfrm>
          <a:prstGeom prst="rect">
            <a:avLst/>
          </a:prstGeom>
          <a:noFill/>
        </p:spPr>
        <p:txBody>
          <a:bodyPr wrap="square" lIns="0" rIns="0" tIns="0" bIns="0" anchor="t">
            <a:spAutoFit/>
          </a:bodyPr>
          <a:lstStyle/>
          <a:p>
            <a:pPr algn="r">
              <a:lnSpc>
                <a:spcPct val="100000"/>
              </a:lnSpc>
              <a:spcAft>
                <a:spcPts val="400"/>
              </a:spcAft>
            </a:pPr>
            <a:r>
              <a:rPr sz="850" b="1">
                <a:solidFill>
                  <a:srgbClr val="94A3B8"/>
                </a:solidFill>
                <a:latin typeface="Segoe U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11064240" cy="256032"/>
          </a:xfrm>
          <a:prstGeom prst="rect">
            <a:avLst/>
          </a:prstGeom>
          <a:noFill/>
        </p:spPr>
        <p:txBody>
          <a:bodyPr wrap="square" lIns="0" rIns="0" tIns="0" bIns="0" anchor="t">
            <a:spAutoFit/>
          </a:bodyPr>
          <a:lstStyle/>
          <a:p>
            <a:pPr algn="l">
              <a:lnSpc>
                <a:spcPct val="100000"/>
              </a:lnSpc>
              <a:spcAft>
                <a:spcPts val="400"/>
              </a:spcAft>
            </a:pPr>
            <a:r>
              <a:rPr sz="1050" b="1">
                <a:solidFill>
                  <a:srgbClr val="0369A1"/>
                </a:solidFill>
                <a:latin typeface="Segoe UI"/>
              </a:rPr>
              <a:t>LIMITATIONS</a:t>
            </a:r>
          </a:p>
        </p:txBody>
      </p:sp>
      <p:sp>
        <p:nvSpPr>
          <p:cNvPr id="4" name="TextBox 3"/>
          <p:cNvSpPr txBox="1"/>
          <p:nvPr/>
        </p:nvSpPr>
        <p:spPr>
          <a:xfrm>
            <a:off x="566928" y="640080"/>
            <a:ext cx="11064240" cy="658368"/>
          </a:xfrm>
          <a:prstGeom prst="rect">
            <a:avLst/>
          </a:prstGeom>
          <a:noFill/>
        </p:spPr>
        <p:txBody>
          <a:bodyPr wrap="square" lIns="0" rIns="0" tIns="0" bIns="0" anchor="t">
            <a:spAutoFit/>
          </a:bodyPr>
          <a:lstStyle/>
          <a:p>
            <a:pPr algn="l">
              <a:lnSpc>
                <a:spcPct val="100000"/>
              </a:lnSpc>
              <a:spcAft>
                <a:spcPts val="400"/>
              </a:spcAft>
            </a:pPr>
            <a:r>
              <a:rPr sz="2500" b="1">
                <a:solidFill>
                  <a:srgbClr val="0F172A"/>
                </a:solidFill>
                <a:latin typeface="Segoe UI"/>
              </a:rPr>
              <a:t>What we would tell a reviewer before they ask</a:t>
            </a:r>
          </a:p>
        </p:txBody>
      </p:sp>
      <p:sp>
        <p:nvSpPr>
          <p:cNvPr id="5" name="Rectangle 4"/>
          <p:cNvSpPr/>
          <p:nvPr/>
        </p:nvSpPr>
        <p:spPr>
          <a:xfrm>
            <a:off x="566928" y="1335024"/>
            <a:ext cx="658368"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ounded Rectangle 5"/>
          <p:cNvSpPr/>
          <p:nvPr/>
        </p:nvSpPr>
        <p:spPr>
          <a:xfrm>
            <a:off x="566928" y="1554480"/>
            <a:ext cx="11064240" cy="950976"/>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566928" y="1554480"/>
            <a:ext cx="50292" cy="9509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41248" y="1682496"/>
            <a:ext cx="10607040" cy="274320"/>
          </a:xfrm>
          <a:prstGeom prst="rect">
            <a:avLst/>
          </a:prstGeom>
          <a:noFill/>
        </p:spPr>
        <p:txBody>
          <a:bodyPr wrap="square" lIns="0" rIns="0" tIns="0" bIns="0" anchor="t">
            <a:spAutoFit/>
          </a:bodyPr>
          <a:lstStyle/>
          <a:p>
            <a:pPr algn="l">
              <a:lnSpc>
                <a:spcPct val="100000"/>
              </a:lnSpc>
              <a:spcAft>
                <a:spcPts val="400"/>
              </a:spcAft>
            </a:pPr>
            <a:r>
              <a:rPr sz="1250" b="1">
                <a:solidFill>
                  <a:srgbClr val="0F172A"/>
                </a:solidFill>
                <a:latin typeface="Segoe UI"/>
              </a:rPr>
              <a:t>The daily trajectory is modelled, not measured.</a:t>
            </a:r>
          </a:p>
        </p:txBody>
      </p:sp>
      <p:sp>
        <p:nvSpPr>
          <p:cNvPr id="9" name="TextBox 8"/>
          <p:cNvSpPr txBox="1"/>
          <p:nvPr/>
        </p:nvSpPr>
        <p:spPr>
          <a:xfrm>
            <a:off x="841248" y="1975104"/>
            <a:ext cx="10607040" cy="512064"/>
          </a:xfrm>
          <a:prstGeom prst="rect">
            <a:avLst/>
          </a:prstGeom>
          <a:noFill/>
        </p:spPr>
        <p:txBody>
          <a:bodyPr wrap="square" lIns="0" rIns="0" tIns="0" bIns="0" anchor="t">
            <a:spAutoFit/>
          </a:bodyPr>
          <a:lstStyle/>
          <a:p>
            <a:pPr algn="l">
              <a:lnSpc>
                <a:spcPct val="114000"/>
              </a:lnSpc>
              <a:spcAft>
                <a:spcPts val="400"/>
              </a:spcAft>
            </a:pPr>
            <a:r>
              <a:rPr sz="1050" b="0">
                <a:solidFill>
                  <a:srgbClr val="64748B"/>
                </a:solidFill>
                <a:latin typeface="Segoe UI"/>
              </a:rPr>
              <a:t>Only 31 in-situ CGWB readings exist for these districts (2021–2024). The continuous daily curve is a calibrated FAO-56 water balance. We anchor its level to the readings and its decline to the published district rate — but it is a reconstruction, and the RMSE figures measure forecast skill against that reconstruction.</a:t>
            </a:r>
          </a:p>
        </p:txBody>
      </p:sp>
      <p:sp>
        <p:nvSpPr>
          <p:cNvPr id="10" name="Rounded Rectangle 9"/>
          <p:cNvSpPr/>
          <p:nvPr/>
        </p:nvSpPr>
        <p:spPr>
          <a:xfrm>
            <a:off x="566928" y="2615184"/>
            <a:ext cx="11064240" cy="950976"/>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566928" y="2615184"/>
            <a:ext cx="50292" cy="9509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41248" y="2743200"/>
            <a:ext cx="10607040" cy="274320"/>
          </a:xfrm>
          <a:prstGeom prst="rect">
            <a:avLst/>
          </a:prstGeom>
          <a:noFill/>
        </p:spPr>
        <p:txBody>
          <a:bodyPr wrap="square" lIns="0" rIns="0" tIns="0" bIns="0" anchor="t">
            <a:spAutoFit/>
          </a:bodyPr>
          <a:lstStyle/>
          <a:p>
            <a:pPr algn="l">
              <a:lnSpc>
                <a:spcPct val="100000"/>
              </a:lnSpc>
              <a:spcAft>
                <a:spcPts val="400"/>
              </a:spcAft>
            </a:pPr>
            <a:r>
              <a:rPr sz="1250" b="1">
                <a:solidFill>
                  <a:srgbClr val="0F172A"/>
                </a:solidFill>
                <a:latin typeface="Segoe UI"/>
              </a:rPr>
              <a:t>31 readings is a thin calibration set.</a:t>
            </a:r>
          </a:p>
        </p:txBody>
      </p:sp>
      <p:sp>
        <p:nvSpPr>
          <p:cNvPr id="13" name="TextBox 12"/>
          <p:cNvSpPr txBox="1"/>
          <p:nvPr/>
        </p:nvSpPr>
        <p:spPr>
          <a:xfrm>
            <a:off x="841248" y="3035808"/>
            <a:ext cx="10607040" cy="512064"/>
          </a:xfrm>
          <a:prstGeom prst="rect">
            <a:avLst/>
          </a:prstGeom>
          <a:noFill/>
        </p:spPr>
        <p:txBody>
          <a:bodyPr wrap="square" lIns="0" rIns="0" tIns="0" bIns="0" anchor="t">
            <a:spAutoFit/>
          </a:bodyPr>
          <a:lstStyle/>
          <a:p>
            <a:pPr algn="l">
              <a:lnSpc>
                <a:spcPct val="114000"/>
              </a:lnSpc>
              <a:spcAft>
                <a:spcPts val="400"/>
              </a:spcAft>
            </a:pPr>
            <a:r>
              <a:rPr sz="1050" b="0">
                <a:solidFill>
                  <a:srgbClr val="64748B"/>
                </a:solidFill>
                <a:latin typeface="Segoe UI"/>
              </a:rPr>
              <a:t>The recharge lag and scalar are fitted to them. More well data would tighten both. The seasonal-shape fit is 0.47–0.50 m after removing each well's static lithology offset.</a:t>
            </a:r>
          </a:p>
        </p:txBody>
      </p:sp>
      <p:sp>
        <p:nvSpPr>
          <p:cNvPr id="14" name="Rounded Rectangle 13"/>
          <p:cNvSpPr/>
          <p:nvPr/>
        </p:nvSpPr>
        <p:spPr>
          <a:xfrm>
            <a:off x="566928" y="3675888"/>
            <a:ext cx="11064240" cy="950976"/>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566928" y="3675888"/>
            <a:ext cx="50292" cy="9509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841248" y="3803904"/>
            <a:ext cx="10607040" cy="274320"/>
          </a:xfrm>
          <a:prstGeom prst="rect">
            <a:avLst/>
          </a:prstGeom>
          <a:noFill/>
        </p:spPr>
        <p:txBody>
          <a:bodyPr wrap="square" lIns="0" rIns="0" tIns="0" bIns="0" anchor="t">
            <a:spAutoFit/>
          </a:bodyPr>
          <a:lstStyle/>
          <a:p>
            <a:pPr algn="l">
              <a:lnSpc>
                <a:spcPct val="100000"/>
              </a:lnSpc>
              <a:spcAft>
                <a:spcPts val="400"/>
              </a:spcAft>
            </a:pPr>
            <a:r>
              <a:rPr sz="1250" b="1">
                <a:solidFill>
                  <a:srgbClr val="0F172A"/>
                </a:solidFill>
                <a:latin typeface="Segoe UI"/>
              </a:rPr>
              <a:t>Part of the weather record is generated, not measured.</a:t>
            </a:r>
          </a:p>
        </p:txBody>
      </p:sp>
      <p:sp>
        <p:nvSpPr>
          <p:cNvPr id="17" name="TextBox 16"/>
          <p:cNvSpPr txBox="1"/>
          <p:nvPr/>
        </p:nvSpPr>
        <p:spPr>
          <a:xfrm>
            <a:off x="841248" y="4096512"/>
            <a:ext cx="10607040" cy="512064"/>
          </a:xfrm>
          <a:prstGeom prst="rect">
            <a:avLst/>
          </a:prstGeom>
          <a:noFill/>
        </p:spPr>
        <p:txBody>
          <a:bodyPr wrap="square" lIns="0" rIns="0" tIns="0" bIns="0" anchor="t">
            <a:spAutoFit/>
          </a:bodyPr>
          <a:lstStyle/>
          <a:p>
            <a:pPr algn="l">
              <a:lnSpc>
                <a:spcPct val="114000"/>
              </a:lnSpc>
              <a:spcAft>
                <a:spcPts val="400"/>
              </a:spcAft>
            </a:pPr>
            <a:r>
              <a:rPr sz="1050" b="0">
                <a:solidFill>
                  <a:srgbClr val="64748B"/>
                </a:solidFill>
                <a:latin typeface="Segoe UI"/>
              </a:rPr>
              <a:t>84.2% of rainfall days and 58.5% of temperature days are measured telemetry; the gaps — scattered through the record, and every day after the gauges stop reporting — come from the fitted climate model. Every row is flagged, and both are visible in the chart above.</a:t>
            </a:r>
          </a:p>
        </p:txBody>
      </p:sp>
      <p:sp>
        <p:nvSpPr>
          <p:cNvPr id="18" name="Rounded Rectangle 17"/>
          <p:cNvSpPr/>
          <p:nvPr/>
        </p:nvSpPr>
        <p:spPr>
          <a:xfrm>
            <a:off x="566928" y="4736592"/>
            <a:ext cx="11064240" cy="950976"/>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566928" y="4736592"/>
            <a:ext cx="50292" cy="9509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841248" y="4864608"/>
            <a:ext cx="10607040" cy="274320"/>
          </a:xfrm>
          <a:prstGeom prst="rect">
            <a:avLst/>
          </a:prstGeom>
          <a:noFill/>
        </p:spPr>
        <p:txBody>
          <a:bodyPr wrap="square" lIns="0" rIns="0" tIns="0" bIns="0" anchor="t">
            <a:spAutoFit/>
          </a:bodyPr>
          <a:lstStyle/>
          <a:p>
            <a:pPr algn="l">
              <a:lnSpc>
                <a:spcPct val="100000"/>
              </a:lnSpc>
              <a:spcAft>
                <a:spcPts val="400"/>
              </a:spcAft>
            </a:pPr>
            <a:r>
              <a:rPr sz="1250" b="1">
                <a:solidFill>
                  <a:srgbClr val="0F172A"/>
                </a:solidFill>
                <a:latin typeface="Segoe UI"/>
              </a:rPr>
              <a:t>Three districts, not 23.</a:t>
            </a:r>
          </a:p>
        </p:txBody>
      </p:sp>
      <p:sp>
        <p:nvSpPr>
          <p:cNvPr id="21" name="TextBox 20"/>
          <p:cNvSpPr txBox="1"/>
          <p:nvPr/>
        </p:nvSpPr>
        <p:spPr>
          <a:xfrm>
            <a:off x="841248" y="5157216"/>
            <a:ext cx="10607040" cy="512064"/>
          </a:xfrm>
          <a:prstGeom prst="rect">
            <a:avLst/>
          </a:prstGeom>
          <a:noFill/>
        </p:spPr>
        <p:txBody>
          <a:bodyPr wrap="square" lIns="0" rIns="0" tIns="0" bIns="0" anchor="t">
            <a:spAutoFit/>
          </a:bodyPr>
          <a:lstStyle/>
          <a:p>
            <a:pPr algn="l">
              <a:lnSpc>
                <a:spcPct val="114000"/>
              </a:lnSpc>
              <a:spcAft>
                <a:spcPts val="400"/>
              </a:spcAft>
            </a:pPr>
            <a:r>
              <a:rPr sz="1050" b="0">
                <a:solidFill>
                  <a:srgbClr val="64748B"/>
                </a:solidFill>
                <a:latin typeface="Segoe UI"/>
              </a:rPr>
              <a:t>Sangrur, Ludhiana and Moga were chosen because the Drive data covers them. The spatial layer ships all 22 Punjab districts, so extension is a data-refresh, not a rewrite.</a:t>
            </a:r>
          </a:p>
        </p:txBody>
      </p:sp>
      <p:sp>
        <p:nvSpPr>
          <p:cNvPr id="22" name="TextBox 21"/>
          <p:cNvSpPr txBox="1"/>
          <p:nvPr/>
        </p:nvSpPr>
        <p:spPr>
          <a:xfrm>
            <a:off x="566928" y="5852160"/>
            <a:ext cx="11064240" cy="365760"/>
          </a:xfrm>
          <a:prstGeom prst="rect">
            <a:avLst/>
          </a:prstGeom>
          <a:noFill/>
        </p:spPr>
        <p:txBody>
          <a:bodyPr wrap="square" lIns="0" rIns="0" tIns="0" bIns="0" anchor="t">
            <a:spAutoFit/>
          </a:bodyPr>
          <a:lstStyle/>
          <a:p>
            <a:pPr algn="l">
              <a:lnSpc>
                <a:spcPct val="100000"/>
              </a:lnSpc>
              <a:spcAft>
                <a:spcPts val="400"/>
              </a:spcAft>
            </a:pPr>
            <a:r>
              <a:rPr sz="1150" b="1">
                <a:solidFill>
                  <a:srgbClr val="0369A1"/>
                </a:solidFill>
                <a:latin typeface="Segoe UI"/>
              </a:rPr>
              <a:t>None of these are hidden in the product: the dashboard's provenance tab prints all of them.</a:t>
            </a:r>
          </a:p>
        </p:txBody>
      </p:sp>
      <p:sp>
        <p:nvSpPr>
          <p:cNvPr id="23" name="TextBox 22"/>
          <p:cNvSpPr txBox="1"/>
          <p:nvPr/>
        </p:nvSpPr>
        <p:spPr>
          <a:xfrm>
            <a:off x="566928" y="6419088"/>
            <a:ext cx="8229600" cy="237744"/>
          </a:xfrm>
          <a:prstGeom prst="rect">
            <a:avLst/>
          </a:prstGeom>
          <a:noFill/>
        </p:spPr>
        <p:txBody>
          <a:bodyPr wrap="square" lIns="0" rIns="0" tIns="0" bIns="0" anchor="t">
            <a:spAutoFit/>
          </a:bodyPr>
          <a:lstStyle/>
          <a:p>
            <a:pPr algn="l">
              <a:lnSpc>
                <a:spcPct val="100000"/>
              </a:lnSpc>
              <a:spcAft>
                <a:spcPts val="400"/>
              </a:spcAft>
            </a:pPr>
            <a:r>
              <a:rPr sz="850" b="0">
                <a:solidFill>
                  <a:srgbClr val="94A3B8"/>
                </a:solidFill>
                <a:latin typeface="Segoe UI"/>
              </a:rPr>
              <a:t>AquaCast-Punjab  ·  Sankalp — Climate-Smart Agriculture, Water &amp; Rural Credit</a:t>
            </a:r>
          </a:p>
        </p:txBody>
      </p:sp>
      <p:sp>
        <p:nvSpPr>
          <p:cNvPr id="24" name="TextBox 23"/>
          <p:cNvSpPr txBox="1"/>
          <p:nvPr/>
        </p:nvSpPr>
        <p:spPr>
          <a:xfrm>
            <a:off x="10972800" y="6419088"/>
            <a:ext cx="685800" cy="237744"/>
          </a:xfrm>
          <a:prstGeom prst="rect">
            <a:avLst/>
          </a:prstGeom>
          <a:noFill/>
        </p:spPr>
        <p:txBody>
          <a:bodyPr wrap="square" lIns="0" rIns="0" tIns="0" bIns="0" anchor="t">
            <a:spAutoFit/>
          </a:bodyPr>
          <a:lstStyle/>
          <a:p>
            <a:pPr algn="r">
              <a:lnSpc>
                <a:spcPct val="100000"/>
              </a:lnSpc>
              <a:spcAft>
                <a:spcPts val="400"/>
              </a:spcAft>
            </a:pPr>
            <a:r>
              <a:rPr sz="850" b="1">
                <a:solidFill>
                  <a:srgbClr val="94A3B8"/>
                </a:solidFill>
                <a:latin typeface="Segoe UI"/>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11064240" cy="256032"/>
          </a:xfrm>
          <a:prstGeom prst="rect">
            <a:avLst/>
          </a:prstGeom>
          <a:noFill/>
        </p:spPr>
        <p:txBody>
          <a:bodyPr wrap="square" lIns="0" rIns="0" tIns="0" bIns="0" anchor="t">
            <a:spAutoFit/>
          </a:bodyPr>
          <a:lstStyle/>
          <a:p>
            <a:pPr algn="l">
              <a:lnSpc>
                <a:spcPct val="100000"/>
              </a:lnSpc>
              <a:spcAft>
                <a:spcPts val="400"/>
              </a:spcAft>
            </a:pPr>
            <a:r>
              <a:rPr sz="1050" b="1">
                <a:solidFill>
                  <a:srgbClr val="0369A1"/>
                </a:solidFill>
                <a:latin typeface="Segoe UI"/>
              </a:rPr>
              <a:t>IMPACT</a:t>
            </a:r>
          </a:p>
        </p:txBody>
      </p:sp>
      <p:sp>
        <p:nvSpPr>
          <p:cNvPr id="4" name="TextBox 3"/>
          <p:cNvSpPr txBox="1"/>
          <p:nvPr/>
        </p:nvSpPr>
        <p:spPr>
          <a:xfrm>
            <a:off x="566928" y="640080"/>
            <a:ext cx="11064240" cy="658368"/>
          </a:xfrm>
          <a:prstGeom prst="rect">
            <a:avLst/>
          </a:prstGeom>
          <a:noFill/>
        </p:spPr>
        <p:txBody>
          <a:bodyPr wrap="square" lIns="0" rIns="0" tIns="0" bIns="0" anchor="t">
            <a:spAutoFit/>
          </a:bodyPr>
          <a:lstStyle/>
          <a:p>
            <a:pPr algn="l">
              <a:lnSpc>
                <a:spcPct val="100000"/>
              </a:lnSpc>
              <a:spcAft>
                <a:spcPts val="400"/>
              </a:spcAft>
            </a:pPr>
            <a:r>
              <a:rPr sz="2500" b="1">
                <a:solidFill>
                  <a:srgbClr val="0F172A"/>
                </a:solidFill>
                <a:latin typeface="Segoe UI"/>
              </a:rPr>
              <a:t>Why this wins</a:t>
            </a:r>
          </a:p>
        </p:txBody>
      </p:sp>
      <p:sp>
        <p:nvSpPr>
          <p:cNvPr id="5" name="Rectangle 4"/>
          <p:cNvSpPr/>
          <p:nvPr/>
        </p:nvSpPr>
        <p:spPr>
          <a:xfrm>
            <a:off x="566928" y="1335024"/>
            <a:ext cx="658368"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Oval 5"/>
          <p:cNvSpPr/>
          <p:nvPr/>
        </p:nvSpPr>
        <p:spPr>
          <a:xfrm>
            <a:off x="566928" y="1623060"/>
            <a:ext cx="77724" cy="77724"/>
          </a:xfrm>
          <a:prstGeom prst="ellipse">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804672" y="1527048"/>
            <a:ext cx="5340096" cy="274320"/>
          </a:xfrm>
          <a:prstGeom prst="rect">
            <a:avLst/>
          </a:prstGeom>
          <a:noFill/>
        </p:spPr>
        <p:txBody>
          <a:bodyPr wrap="square" lIns="0" rIns="0" tIns="0" bIns="0" anchor="t">
            <a:spAutoFit/>
          </a:bodyPr>
          <a:lstStyle/>
          <a:p>
            <a:pPr algn="l">
              <a:lnSpc>
                <a:spcPct val="100000"/>
              </a:lnSpc>
              <a:spcAft>
                <a:spcPts val="400"/>
              </a:spcAft>
            </a:pPr>
            <a:r>
              <a:rPr sz="1200" b="1">
                <a:solidFill>
                  <a:srgbClr val="0F172A"/>
                </a:solidFill>
                <a:latin typeface="Segoe UI"/>
              </a:rPr>
              <a:t>A forecast that beats the obvious baselines, and we prove it</a:t>
            </a:r>
          </a:p>
        </p:txBody>
      </p:sp>
      <p:sp>
        <p:nvSpPr>
          <p:cNvPr id="8" name="TextBox 7"/>
          <p:cNvSpPr txBox="1"/>
          <p:nvPr/>
        </p:nvSpPr>
        <p:spPr>
          <a:xfrm>
            <a:off x="804672" y="1769364"/>
            <a:ext cx="5340096" cy="548640"/>
          </a:xfrm>
          <a:prstGeom prst="rect">
            <a:avLst/>
          </a:prstGeom>
          <a:noFill/>
        </p:spPr>
        <p:txBody>
          <a:bodyPr wrap="square" lIns="0" rIns="0" tIns="0" bIns="0" anchor="t">
            <a:spAutoFit/>
          </a:bodyPr>
          <a:lstStyle/>
          <a:p>
            <a:pPr algn="l">
              <a:lnSpc>
                <a:spcPct val="98000"/>
              </a:lnSpc>
              <a:spcAft>
                <a:spcPts val="400"/>
              </a:spcAft>
            </a:pPr>
            <a:r>
              <a:rPr sz="1050" b="0">
                <a:solidFill>
                  <a:srgbClr val="64748B"/>
                </a:solidFill>
                <a:latin typeface="Segoe UI"/>
              </a:rPr>
              <a:t>0.099–0.117 m RMSE, 67.4–70.9% skill vs persistence, reported next to persistence, seasonal-naive, linear-trend, a GRU and a linear probe.</a:t>
            </a:r>
          </a:p>
        </p:txBody>
      </p:sp>
      <p:sp>
        <p:nvSpPr>
          <p:cNvPr id="9" name="Oval 8"/>
          <p:cNvSpPr/>
          <p:nvPr/>
        </p:nvSpPr>
        <p:spPr>
          <a:xfrm>
            <a:off x="566928" y="2244852"/>
            <a:ext cx="77724" cy="77724"/>
          </a:xfrm>
          <a:prstGeom prst="ellipse">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804672" y="2148840"/>
            <a:ext cx="5340096" cy="274320"/>
          </a:xfrm>
          <a:prstGeom prst="rect">
            <a:avLst/>
          </a:prstGeom>
          <a:noFill/>
        </p:spPr>
        <p:txBody>
          <a:bodyPr wrap="square" lIns="0" rIns="0" tIns="0" bIns="0" anchor="t">
            <a:spAutoFit/>
          </a:bodyPr>
          <a:lstStyle/>
          <a:p>
            <a:pPr algn="l">
              <a:lnSpc>
                <a:spcPct val="100000"/>
              </a:lnSpc>
              <a:spcAft>
                <a:spcPts val="400"/>
              </a:spcAft>
            </a:pPr>
            <a:r>
              <a:rPr sz="1200" b="1">
                <a:solidFill>
                  <a:srgbClr val="0F172A"/>
                </a:solidFill>
                <a:latin typeface="Segoe UI"/>
              </a:rPr>
              <a:t>Real Punjab data, and an honest account of every gap</a:t>
            </a:r>
          </a:p>
        </p:txBody>
      </p:sp>
      <p:sp>
        <p:nvSpPr>
          <p:cNvPr id="11" name="TextBox 10"/>
          <p:cNvSpPr txBox="1"/>
          <p:nvPr/>
        </p:nvSpPr>
        <p:spPr>
          <a:xfrm>
            <a:off x="804672" y="2391156"/>
            <a:ext cx="5340096" cy="548640"/>
          </a:xfrm>
          <a:prstGeom prst="rect">
            <a:avLst/>
          </a:prstGeom>
          <a:noFill/>
        </p:spPr>
        <p:txBody>
          <a:bodyPr wrap="square" lIns="0" rIns="0" tIns="0" bIns="0" anchor="t">
            <a:spAutoFit/>
          </a:bodyPr>
          <a:lstStyle/>
          <a:p>
            <a:pPr algn="l">
              <a:lnSpc>
                <a:spcPct val="98000"/>
              </a:lnSpc>
              <a:spcAft>
                <a:spcPts val="400"/>
              </a:spcAft>
            </a:pPr>
            <a:r>
              <a:rPr sz="1050" b="0">
                <a:solidFill>
                  <a:srgbClr val="64748B"/>
                </a:solidFill>
                <a:latin typeface="Segoe UI"/>
              </a:rPr>
              <a:t>1,828-day frame, 1,540 measured rainfall days, 31 CGWB readings, 122 wells, 8 real rasters.</a:t>
            </a:r>
          </a:p>
        </p:txBody>
      </p:sp>
      <p:sp>
        <p:nvSpPr>
          <p:cNvPr id="12" name="Oval 11"/>
          <p:cNvSpPr/>
          <p:nvPr/>
        </p:nvSpPr>
        <p:spPr>
          <a:xfrm>
            <a:off x="566928" y="2866644"/>
            <a:ext cx="77724" cy="77724"/>
          </a:xfrm>
          <a:prstGeom prst="ellipse">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04672" y="2770632"/>
            <a:ext cx="5340096" cy="274320"/>
          </a:xfrm>
          <a:prstGeom prst="rect">
            <a:avLst/>
          </a:prstGeom>
          <a:noFill/>
        </p:spPr>
        <p:txBody>
          <a:bodyPr wrap="square" lIns="0" rIns="0" tIns="0" bIns="0" anchor="t">
            <a:spAutoFit/>
          </a:bodyPr>
          <a:lstStyle/>
          <a:p>
            <a:pPr algn="l">
              <a:lnSpc>
                <a:spcPct val="100000"/>
              </a:lnSpc>
              <a:spcAft>
                <a:spcPts val="400"/>
              </a:spcAft>
            </a:pPr>
            <a:r>
              <a:rPr sz="1200" b="1">
                <a:solidFill>
                  <a:srgbClr val="0F172A"/>
                </a:solidFill>
                <a:latin typeface="Segoe UI"/>
              </a:rPr>
              <a:t>It ends in an action, not a chart</a:t>
            </a:r>
          </a:p>
        </p:txBody>
      </p:sp>
      <p:sp>
        <p:nvSpPr>
          <p:cNvPr id="14" name="TextBox 13"/>
          <p:cNvSpPr txBox="1"/>
          <p:nvPr/>
        </p:nvSpPr>
        <p:spPr>
          <a:xfrm>
            <a:off x="804672" y="3012948"/>
            <a:ext cx="5340096" cy="548640"/>
          </a:xfrm>
          <a:prstGeom prst="rect">
            <a:avLst/>
          </a:prstGeom>
          <a:noFill/>
        </p:spPr>
        <p:txBody>
          <a:bodyPr wrap="square" lIns="0" rIns="0" tIns="0" bIns="0" anchor="t">
            <a:spAutoFit/>
          </a:bodyPr>
          <a:lstStyle/>
          <a:p>
            <a:pPr algn="l">
              <a:lnSpc>
                <a:spcPct val="98000"/>
              </a:lnSpc>
              <a:spcAft>
                <a:spcPts val="400"/>
              </a:spcAft>
            </a:pPr>
            <a:r>
              <a:rPr sz="1050" b="0">
                <a:solidFill>
                  <a:srgbClr val="64748B"/>
                </a:solidFill>
                <a:latin typeface="Segoe UI"/>
              </a:rPr>
              <a:t>A pumping quota in hours-per-irrigation, a bilingual WhatsApp card, a well-level risk map and a credit score.</a:t>
            </a:r>
          </a:p>
        </p:txBody>
      </p:sp>
      <p:sp>
        <p:nvSpPr>
          <p:cNvPr id="15" name="Oval 14"/>
          <p:cNvSpPr/>
          <p:nvPr/>
        </p:nvSpPr>
        <p:spPr>
          <a:xfrm>
            <a:off x="566928" y="3488436"/>
            <a:ext cx="77724" cy="77724"/>
          </a:xfrm>
          <a:prstGeom prst="ellipse">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804672" y="3392424"/>
            <a:ext cx="5340096" cy="274320"/>
          </a:xfrm>
          <a:prstGeom prst="rect">
            <a:avLst/>
          </a:prstGeom>
          <a:noFill/>
        </p:spPr>
        <p:txBody>
          <a:bodyPr wrap="square" lIns="0" rIns="0" tIns="0" bIns="0" anchor="t">
            <a:spAutoFit/>
          </a:bodyPr>
          <a:lstStyle/>
          <a:p>
            <a:pPr algn="l">
              <a:lnSpc>
                <a:spcPct val="100000"/>
              </a:lnSpc>
              <a:spcAft>
                <a:spcPts val="400"/>
              </a:spcAft>
            </a:pPr>
            <a:r>
              <a:rPr sz="1200" b="1">
                <a:solidFill>
                  <a:srgbClr val="0F172A"/>
                </a:solidFill>
                <a:latin typeface="Segoe UI"/>
              </a:rPr>
              <a:t>You can open it and check</a:t>
            </a:r>
          </a:p>
        </p:txBody>
      </p:sp>
      <p:sp>
        <p:nvSpPr>
          <p:cNvPr id="17" name="TextBox 16"/>
          <p:cNvSpPr txBox="1"/>
          <p:nvPr/>
        </p:nvSpPr>
        <p:spPr>
          <a:xfrm>
            <a:off x="804672" y="3634740"/>
            <a:ext cx="5340096" cy="548640"/>
          </a:xfrm>
          <a:prstGeom prst="rect">
            <a:avLst/>
          </a:prstGeom>
          <a:noFill/>
        </p:spPr>
        <p:txBody>
          <a:bodyPr wrap="square" lIns="0" rIns="0" tIns="0" bIns="0" anchor="t">
            <a:spAutoFit/>
          </a:bodyPr>
          <a:lstStyle/>
          <a:p>
            <a:pPr algn="l">
              <a:lnSpc>
                <a:spcPct val="98000"/>
              </a:lnSpc>
              <a:spcAft>
                <a:spcPts val="400"/>
              </a:spcAft>
            </a:pPr>
            <a:r>
              <a:rPr sz="1050" b="0">
                <a:solidFill>
                  <a:srgbClr val="64748B"/>
                </a:solidFill>
                <a:latin typeface="Segoe UI"/>
              </a:rPr>
              <a:t>Live training curve, MC-dropout bands, permutation importance, gradient saliency, a re-trainable benchmark, and a provenance ledger.</a:t>
            </a:r>
          </a:p>
        </p:txBody>
      </p:sp>
      <p:sp>
        <p:nvSpPr>
          <p:cNvPr id="18" name="Rounded Rectangle 17"/>
          <p:cNvSpPr/>
          <p:nvPr/>
        </p:nvSpPr>
        <p:spPr>
          <a:xfrm>
            <a:off x="6446520" y="1554480"/>
            <a:ext cx="5193792" cy="3017520"/>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6446520" y="1554480"/>
            <a:ext cx="50292" cy="301752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702552" y="1773936"/>
            <a:ext cx="4754880" cy="292608"/>
          </a:xfrm>
          <a:prstGeom prst="rect">
            <a:avLst/>
          </a:prstGeom>
          <a:noFill/>
        </p:spPr>
        <p:txBody>
          <a:bodyPr wrap="square" lIns="0" rIns="0" tIns="0" bIns="0" anchor="t">
            <a:spAutoFit/>
          </a:bodyPr>
          <a:lstStyle/>
          <a:p>
            <a:pPr algn="l">
              <a:lnSpc>
                <a:spcPct val="100000"/>
              </a:lnSpc>
              <a:spcAft>
                <a:spcPts val="400"/>
              </a:spcAft>
            </a:pPr>
            <a:r>
              <a:rPr sz="1350" b="1">
                <a:solidFill>
                  <a:srgbClr val="0F172A"/>
                </a:solidFill>
                <a:latin typeface="Segoe UI"/>
              </a:rPr>
              <a:t>Next 90 days</a:t>
            </a:r>
          </a:p>
        </p:txBody>
      </p:sp>
      <p:sp>
        <p:nvSpPr>
          <p:cNvPr id="21" name="Oval 20"/>
          <p:cNvSpPr/>
          <p:nvPr/>
        </p:nvSpPr>
        <p:spPr>
          <a:xfrm>
            <a:off x="6702552" y="2249424"/>
            <a:ext cx="68580" cy="68580"/>
          </a:xfrm>
          <a:prstGeom prst="ellipse">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931152" y="2176272"/>
            <a:ext cx="4480560" cy="274320"/>
          </a:xfrm>
          <a:prstGeom prst="rect">
            <a:avLst/>
          </a:prstGeom>
          <a:noFill/>
        </p:spPr>
        <p:txBody>
          <a:bodyPr wrap="square" lIns="0" rIns="0" tIns="0" bIns="0" anchor="t">
            <a:spAutoFit/>
          </a:bodyPr>
          <a:lstStyle/>
          <a:p>
            <a:pPr algn="l">
              <a:lnSpc>
                <a:spcPct val="100000"/>
              </a:lnSpc>
              <a:spcAft>
                <a:spcPts val="400"/>
              </a:spcAft>
            </a:pPr>
            <a:r>
              <a:rPr sz="1150" b="1">
                <a:solidFill>
                  <a:srgbClr val="0F172A"/>
                </a:solidFill>
                <a:latin typeface="Segoe UI"/>
              </a:rPr>
              <a:t>Extend to all 22 Punjab districts</a:t>
            </a:r>
          </a:p>
        </p:txBody>
      </p:sp>
      <p:sp>
        <p:nvSpPr>
          <p:cNvPr id="23" name="TextBox 22"/>
          <p:cNvSpPr txBox="1"/>
          <p:nvPr/>
        </p:nvSpPr>
        <p:spPr>
          <a:xfrm>
            <a:off x="6931152" y="2414016"/>
            <a:ext cx="4480560" cy="274320"/>
          </a:xfrm>
          <a:prstGeom prst="rect">
            <a:avLst/>
          </a:prstGeom>
          <a:noFill/>
        </p:spPr>
        <p:txBody>
          <a:bodyPr wrap="square" lIns="0" rIns="0" tIns="0" bIns="0" anchor="t">
            <a:spAutoFit/>
          </a:bodyPr>
          <a:lstStyle/>
          <a:p>
            <a:pPr algn="l">
              <a:lnSpc>
                <a:spcPct val="100000"/>
              </a:lnSpc>
              <a:spcAft>
                <a:spcPts val="400"/>
              </a:spcAft>
            </a:pPr>
            <a:r>
              <a:rPr sz="1000" b="0">
                <a:solidFill>
                  <a:srgbClr val="64748B"/>
                </a:solidFill>
                <a:latin typeface="Segoe UI"/>
              </a:rPr>
              <a:t>spatial layer already ships them</a:t>
            </a:r>
          </a:p>
        </p:txBody>
      </p:sp>
      <p:sp>
        <p:nvSpPr>
          <p:cNvPr id="24" name="Oval 23"/>
          <p:cNvSpPr/>
          <p:nvPr/>
        </p:nvSpPr>
        <p:spPr>
          <a:xfrm>
            <a:off x="6702552" y="2852928"/>
            <a:ext cx="68580" cy="68580"/>
          </a:xfrm>
          <a:prstGeom prst="ellipse">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6931152" y="2779776"/>
            <a:ext cx="4480560" cy="274320"/>
          </a:xfrm>
          <a:prstGeom prst="rect">
            <a:avLst/>
          </a:prstGeom>
          <a:noFill/>
        </p:spPr>
        <p:txBody>
          <a:bodyPr wrap="square" lIns="0" rIns="0" tIns="0" bIns="0" anchor="t">
            <a:spAutoFit/>
          </a:bodyPr>
          <a:lstStyle/>
          <a:p>
            <a:pPr algn="l">
              <a:lnSpc>
                <a:spcPct val="100000"/>
              </a:lnSpc>
              <a:spcAft>
                <a:spcPts val="400"/>
              </a:spcAft>
            </a:pPr>
            <a:r>
              <a:rPr sz="1150" b="1">
                <a:solidFill>
                  <a:srgbClr val="0F172A"/>
                </a:solidFill>
                <a:latin typeface="Segoe UI"/>
              </a:rPr>
              <a:t>Ingest CGWB's quarterly well census automatically</a:t>
            </a:r>
          </a:p>
        </p:txBody>
      </p:sp>
      <p:sp>
        <p:nvSpPr>
          <p:cNvPr id="26" name="TextBox 25"/>
          <p:cNvSpPr txBox="1"/>
          <p:nvPr/>
        </p:nvSpPr>
        <p:spPr>
          <a:xfrm>
            <a:off x="6931152" y="3017520"/>
            <a:ext cx="4480560" cy="274320"/>
          </a:xfrm>
          <a:prstGeom prst="rect">
            <a:avLst/>
          </a:prstGeom>
          <a:noFill/>
        </p:spPr>
        <p:txBody>
          <a:bodyPr wrap="square" lIns="0" rIns="0" tIns="0" bIns="0" anchor="t">
            <a:spAutoFit/>
          </a:bodyPr>
          <a:lstStyle/>
          <a:p>
            <a:pPr algn="l">
              <a:lnSpc>
                <a:spcPct val="100000"/>
              </a:lnSpc>
              <a:spcAft>
                <a:spcPts val="400"/>
              </a:spcAft>
            </a:pPr>
            <a:r>
              <a:rPr sz="1000" b="0">
                <a:solidFill>
                  <a:srgbClr val="64748B"/>
                </a:solidFill>
                <a:latin typeface="Segoe UI"/>
              </a:rPr>
              <a:t>replaces the static reading set</a:t>
            </a:r>
          </a:p>
        </p:txBody>
      </p:sp>
      <p:sp>
        <p:nvSpPr>
          <p:cNvPr id="27" name="Oval 26"/>
          <p:cNvSpPr/>
          <p:nvPr/>
        </p:nvSpPr>
        <p:spPr>
          <a:xfrm>
            <a:off x="6702552" y="3456432"/>
            <a:ext cx="68580" cy="68580"/>
          </a:xfrm>
          <a:prstGeom prst="ellipse">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6931152" y="3383280"/>
            <a:ext cx="4480560" cy="274320"/>
          </a:xfrm>
          <a:prstGeom prst="rect">
            <a:avLst/>
          </a:prstGeom>
          <a:noFill/>
        </p:spPr>
        <p:txBody>
          <a:bodyPr wrap="square" lIns="0" rIns="0" tIns="0" bIns="0" anchor="t">
            <a:spAutoFit/>
          </a:bodyPr>
          <a:lstStyle/>
          <a:p>
            <a:pPr algn="l">
              <a:lnSpc>
                <a:spcPct val="100000"/>
              </a:lnSpc>
              <a:spcAft>
                <a:spcPts val="400"/>
              </a:spcAft>
            </a:pPr>
            <a:r>
              <a:rPr sz="1150" b="1">
                <a:solidFill>
                  <a:srgbClr val="0F172A"/>
                </a:solidFill>
                <a:latin typeface="Segoe UI"/>
              </a:rPr>
              <a:t>Pilot with a regional rural bank</a:t>
            </a:r>
          </a:p>
        </p:txBody>
      </p:sp>
      <p:sp>
        <p:nvSpPr>
          <p:cNvPr id="29" name="TextBox 28"/>
          <p:cNvSpPr txBox="1"/>
          <p:nvPr/>
        </p:nvSpPr>
        <p:spPr>
          <a:xfrm>
            <a:off x="6931152" y="3621024"/>
            <a:ext cx="4480560" cy="274320"/>
          </a:xfrm>
          <a:prstGeom prst="rect">
            <a:avLst/>
          </a:prstGeom>
          <a:noFill/>
        </p:spPr>
        <p:txBody>
          <a:bodyPr wrap="square" lIns="0" rIns="0" tIns="0" bIns="0" anchor="t">
            <a:spAutoFit/>
          </a:bodyPr>
          <a:lstStyle/>
          <a:p>
            <a:pPr algn="l">
              <a:lnSpc>
                <a:spcPct val="100000"/>
              </a:lnSpc>
              <a:spcAft>
                <a:spcPts val="400"/>
              </a:spcAft>
            </a:pPr>
            <a:r>
              <a:rPr sz="1000" b="0">
                <a:solidFill>
                  <a:srgbClr val="64748B"/>
                </a:solidFill>
                <a:latin typeface="Segoe UI"/>
              </a:rPr>
              <a:t>portfolio view is already priced in ₹</a:t>
            </a:r>
          </a:p>
        </p:txBody>
      </p:sp>
      <p:sp>
        <p:nvSpPr>
          <p:cNvPr id="30" name="Oval 29"/>
          <p:cNvSpPr/>
          <p:nvPr/>
        </p:nvSpPr>
        <p:spPr>
          <a:xfrm>
            <a:off x="6702552" y="4059936"/>
            <a:ext cx="68580" cy="68580"/>
          </a:xfrm>
          <a:prstGeom prst="ellipse">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6931152" y="3986784"/>
            <a:ext cx="4480560" cy="274320"/>
          </a:xfrm>
          <a:prstGeom prst="rect">
            <a:avLst/>
          </a:prstGeom>
          <a:noFill/>
        </p:spPr>
        <p:txBody>
          <a:bodyPr wrap="square" lIns="0" rIns="0" tIns="0" bIns="0" anchor="t">
            <a:spAutoFit/>
          </a:bodyPr>
          <a:lstStyle/>
          <a:p>
            <a:pPr algn="l">
              <a:lnSpc>
                <a:spcPct val="100000"/>
              </a:lnSpc>
              <a:spcAft>
                <a:spcPts val="400"/>
              </a:spcAft>
            </a:pPr>
            <a:r>
              <a:rPr sz="1150" b="1">
                <a:solidFill>
                  <a:srgbClr val="0F172A"/>
                </a:solidFill>
                <a:latin typeface="Segoe UI"/>
              </a:rPr>
              <a:t>Add a farmer reply loop (STOP / CONFIRM)</a:t>
            </a:r>
          </a:p>
        </p:txBody>
      </p:sp>
      <p:sp>
        <p:nvSpPr>
          <p:cNvPr id="32" name="TextBox 31"/>
          <p:cNvSpPr txBox="1"/>
          <p:nvPr/>
        </p:nvSpPr>
        <p:spPr>
          <a:xfrm>
            <a:off x="6931152" y="4224528"/>
            <a:ext cx="4480560" cy="274320"/>
          </a:xfrm>
          <a:prstGeom prst="rect">
            <a:avLst/>
          </a:prstGeom>
          <a:noFill/>
        </p:spPr>
        <p:txBody>
          <a:bodyPr wrap="square" lIns="0" rIns="0" tIns="0" bIns="0" anchor="t">
            <a:spAutoFit/>
          </a:bodyPr>
          <a:lstStyle/>
          <a:p>
            <a:pPr algn="l">
              <a:lnSpc>
                <a:spcPct val="100000"/>
              </a:lnSpc>
              <a:spcAft>
                <a:spcPts val="400"/>
              </a:spcAft>
            </a:pPr>
            <a:r>
              <a:rPr sz="1000" b="0">
                <a:solidFill>
                  <a:srgbClr val="64748B"/>
                </a:solidFill>
                <a:latin typeface="Segoe UI"/>
              </a:rPr>
              <a:t>the SMS contract is already written</a:t>
            </a:r>
          </a:p>
        </p:txBody>
      </p:sp>
      <p:sp>
        <p:nvSpPr>
          <p:cNvPr id="33" name="TextBox 32"/>
          <p:cNvSpPr txBox="1"/>
          <p:nvPr/>
        </p:nvSpPr>
        <p:spPr>
          <a:xfrm>
            <a:off x="566928" y="6419088"/>
            <a:ext cx="8229600" cy="237744"/>
          </a:xfrm>
          <a:prstGeom prst="rect">
            <a:avLst/>
          </a:prstGeom>
          <a:noFill/>
        </p:spPr>
        <p:txBody>
          <a:bodyPr wrap="square" lIns="0" rIns="0" tIns="0" bIns="0" anchor="t">
            <a:spAutoFit/>
          </a:bodyPr>
          <a:lstStyle/>
          <a:p>
            <a:pPr algn="l">
              <a:lnSpc>
                <a:spcPct val="100000"/>
              </a:lnSpc>
              <a:spcAft>
                <a:spcPts val="400"/>
              </a:spcAft>
            </a:pPr>
            <a:r>
              <a:rPr sz="850" b="0">
                <a:solidFill>
                  <a:srgbClr val="94A3B8"/>
                </a:solidFill>
                <a:latin typeface="Segoe UI"/>
              </a:rPr>
              <a:t>AquaCast-Punjab  ·  Sankalp — Climate-Smart Agriculture, Water &amp; Rural Credit</a:t>
            </a:r>
          </a:p>
        </p:txBody>
      </p:sp>
      <p:sp>
        <p:nvSpPr>
          <p:cNvPr id="34" name="TextBox 33"/>
          <p:cNvSpPr txBox="1"/>
          <p:nvPr/>
        </p:nvSpPr>
        <p:spPr>
          <a:xfrm>
            <a:off x="10972800" y="6419088"/>
            <a:ext cx="685800" cy="237744"/>
          </a:xfrm>
          <a:prstGeom prst="rect">
            <a:avLst/>
          </a:prstGeom>
          <a:noFill/>
        </p:spPr>
        <p:txBody>
          <a:bodyPr wrap="square" lIns="0" rIns="0" tIns="0" bIns="0" anchor="t">
            <a:spAutoFit/>
          </a:bodyPr>
          <a:lstStyle/>
          <a:p>
            <a:pPr algn="r">
              <a:lnSpc>
                <a:spcPct val="100000"/>
              </a:lnSpc>
              <a:spcAft>
                <a:spcPts val="400"/>
              </a:spcAft>
            </a:pPr>
            <a:r>
              <a:rPr sz="850" b="1">
                <a:solidFill>
                  <a:srgbClr val="94A3B8"/>
                </a:solidFill>
                <a:latin typeface="Segoe UI"/>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11064240" cy="256032"/>
          </a:xfrm>
          <a:prstGeom prst="rect">
            <a:avLst/>
          </a:prstGeom>
          <a:noFill/>
        </p:spPr>
        <p:txBody>
          <a:bodyPr wrap="square" lIns="0" rIns="0" tIns="0" bIns="0" anchor="t">
            <a:spAutoFit/>
          </a:bodyPr>
          <a:lstStyle/>
          <a:p>
            <a:pPr algn="l">
              <a:lnSpc>
                <a:spcPct val="100000"/>
              </a:lnSpc>
              <a:spcAft>
                <a:spcPts val="400"/>
              </a:spcAft>
            </a:pPr>
            <a:r>
              <a:rPr sz="1050" b="1">
                <a:solidFill>
                  <a:srgbClr val="0369A1"/>
                </a:solidFill>
                <a:latin typeface="Segoe UI"/>
              </a:rPr>
              <a:t>THE PRODUCT</a:t>
            </a:r>
          </a:p>
        </p:txBody>
      </p:sp>
      <p:sp>
        <p:nvSpPr>
          <p:cNvPr id="4" name="TextBox 3"/>
          <p:cNvSpPr txBox="1"/>
          <p:nvPr/>
        </p:nvSpPr>
        <p:spPr>
          <a:xfrm>
            <a:off x="566928" y="640080"/>
            <a:ext cx="11064240" cy="658368"/>
          </a:xfrm>
          <a:prstGeom prst="rect">
            <a:avLst/>
          </a:prstGeom>
          <a:noFill/>
        </p:spPr>
        <p:txBody>
          <a:bodyPr wrap="square" lIns="0" rIns="0" tIns="0" bIns="0" anchor="t">
            <a:spAutoFit/>
          </a:bodyPr>
          <a:lstStyle/>
          <a:p>
            <a:pPr algn="l">
              <a:lnSpc>
                <a:spcPct val="100000"/>
              </a:lnSpc>
              <a:spcAft>
                <a:spcPts val="400"/>
              </a:spcAft>
            </a:pPr>
            <a:r>
              <a:rPr sz="2500" b="1">
                <a:solidFill>
                  <a:srgbClr val="0F172A"/>
                </a:solidFill>
                <a:latin typeface="Segoe UI"/>
              </a:rPr>
              <a:t>One model, three rooms</a:t>
            </a:r>
          </a:p>
        </p:txBody>
      </p:sp>
      <p:sp>
        <p:nvSpPr>
          <p:cNvPr id="5" name="Rectangle 4"/>
          <p:cNvSpPr/>
          <p:nvPr/>
        </p:nvSpPr>
        <p:spPr>
          <a:xfrm>
            <a:off x="566928" y="1335024"/>
            <a:ext cx="658368"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566928" y="1554480"/>
            <a:ext cx="11064240" cy="310896"/>
          </a:xfrm>
          <a:prstGeom prst="rect">
            <a:avLst/>
          </a:prstGeom>
          <a:noFill/>
        </p:spPr>
        <p:txBody>
          <a:bodyPr wrap="square" lIns="0" rIns="0" tIns="0" bIns="0" anchor="t">
            <a:spAutoFit/>
          </a:bodyPr>
          <a:lstStyle/>
          <a:p>
            <a:pPr algn="l">
              <a:lnSpc>
                <a:spcPct val="100000"/>
              </a:lnSpc>
              <a:spcAft>
                <a:spcPts val="400"/>
              </a:spcAft>
            </a:pPr>
            <a:r>
              <a:rPr sz="1200" b="0">
                <a:solidFill>
                  <a:srgbClr val="64748B"/>
                </a:solidFill>
                <a:latin typeface="Segoe UI"/>
              </a:rPr>
              <a:t>The same forecast means three different things to three different people. One switcher, three views, one model underneath.</a:t>
            </a:r>
          </a:p>
        </p:txBody>
      </p:sp>
      <p:sp>
        <p:nvSpPr>
          <p:cNvPr id="7" name="Rounded Rectangle 6"/>
          <p:cNvSpPr/>
          <p:nvPr/>
        </p:nvSpPr>
        <p:spPr>
          <a:xfrm>
            <a:off x="566928" y="2029968"/>
            <a:ext cx="3529584" cy="3950208"/>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566928" y="2029968"/>
            <a:ext cx="3529584" cy="50292"/>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768096" y="2231136"/>
            <a:ext cx="3127248" cy="310896"/>
          </a:xfrm>
          <a:prstGeom prst="rect">
            <a:avLst/>
          </a:prstGeom>
          <a:noFill/>
        </p:spPr>
        <p:txBody>
          <a:bodyPr wrap="square" lIns="0" rIns="0" tIns="0" bIns="0" anchor="t">
            <a:spAutoFit/>
          </a:bodyPr>
          <a:lstStyle/>
          <a:p>
            <a:pPr algn="l">
              <a:lnSpc>
                <a:spcPct val="100000"/>
              </a:lnSpc>
              <a:spcAft>
                <a:spcPts val="400"/>
              </a:spcAft>
            </a:pPr>
            <a:r>
              <a:rPr sz="1500" b="1">
                <a:solidFill>
                  <a:srgbClr val="0F172A"/>
                </a:solidFill>
                <a:latin typeface="Segoe UI"/>
              </a:rPr>
              <a:t>📱  Kisan mobile</a:t>
            </a:r>
          </a:p>
        </p:txBody>
      </p:sp>
      <p:sp>
        <p:nvSpPr>
          <p:cNvPr id="10" name="Oval 9"/>
          <p:cNvSpPr/>
          <p:nvPr/>
        </p:nvSpPr>
        <p:spPr>
          <a:xfrm>
            <a:off x="786384" y="2738628"/>
            <a:ext cx="68580" cy="68580"/>
          </a:xfrm>
          <a:prstGeom prst="ellipse">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87552" y="2670048"/>
            <a:ext cx="2907792" cy="256032"/>
          </a:xfrm>
          <a:prstGeom prst="rect">
            <a:avLst/>
          </a:prstGeom>
          <a:noFill/>
        </p:spPr>
        <p:txBody>
          <a:bodyPr wrap="square" lIns="0" rIns="0" tIns="0" bIns="0" anchor="t">
            <a:spAutoFit/>
          </a:bodyPr>
          <a:lstStyle/>
          <a:p>
            <a:pPr algn="l">
              <a:lnSpc>
                <a:spcPct val="100000"/>
              </a:lnSpc>
              <a:spcAft>
                <a:spcPts val="400"/>
              </a:spcAft>
            </a:pPr>
            <a:r>
              <a:rPr sz="1100" b="1">
                <a:solidFill>
                  <a:srgbClr val="0F172A"/>
                </a:solidFill>
                <a:latin typeface="Segoe UI"/>
              </a:rPr>
              <a:t>375 px, high contrast</a:t>
            </a:r>
          </a:p>
        </p:txBody>
      </p:sp>
      <p:sp>
        <p:nvSpPr>
          <p:cNvPr id="12" name="TextBox 11"/>
          <p:cNvSpPr txBox="1"/>
          <p:nvPr/>
        </p:nvSpPr>
        <p:spPr>
          <a:xfrm>
            <a:off x="987552" y="2889504"/>
            <a:ext cx="2907792" cy="237744"/>
          </a:xfrm>
          <a:prstGeom prst="rect">
            <a:avLst/>
          </a:prstGeom>
          <a:noFill/>
        </p:spPr>
        <p:txBody>
          <a:bodyPr wrap="square" lIns="0" rIns="0" tIns="0" bIns="0" anchor="t">
            <a:spAutoFit/>
          </a:bodyPr>
          <a:lstStyle/>
          <a:p>
            <a:pPr algn="l">
              <a:lnSpc>
                <a:spcPct val="100000"/>
              </a:lnSpc>
              <a:spcAft>
                <a:spcPts val="400"/>
              </a:spcAft>
            </a:pPr>
            <a:r>
              <a:rPr sz="950" b="0">
                <a:solidFill>
                  <a:srgbClr val="64748B"/>
                </a:solidFill>
                <a:latin typeface="Segoe UI"/>
              </a:rPr>
              <a:t>one dial, one instruction</a:t>
            </a:r>
          </a:p>
        </p:txBody>
      </p:sp>
      <p:sp>
        <p:nvSpPr>
          <p:cNvPr id="13" name="Oval 12"/>
          <p:cNvSpPr/>
          <p:nvPr/>
        </p:nvSpPr>
        <p:spPr>
          <a:xfrm>
            <a:off x="786384" y="3273552"/>
            <a:ext cx="68580" cy="68580"/>
          </a:xfrm>
          <a:prstGeom prst="ellipse">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87552" y="3204972"/>
            <a:ext cx="2907792" cy="256032"/>
          </a:xfrm>
          <a:prstGeom prst="rect">
            <a:avLst/>
          </a:prstGeom>
          <a:noFill/>
        </p:spPr>
        <p:txBody>
          <a:bodyPr wrap="square" lIns="0" rIns="0" tIns="0" bIns="0" anchor="t">
            <a:spAutoFit/>
          </a:bodyPr>
          <a:lstStyle/>
          <a:p>
            <a:pPr algn="l">
              <a:lnSpc>
                <a:spcPct val="100000"/>
              </a:lnSpc>
              <a:spcAft>
                <a:spcPts val="400"/>
              </a:spcAft>
            </a:pPr>
            <a:r>
              <a:rPr sz="1100" b="1">
                <a:solidFill>
                  <a:srgbClr val="0F172A"/>
                </a:solidFill>
                <a:latin typeface="Segoe UI"/>
              </a:rPr>
              <a:t>English / ਪੰਜਾਬੀ</a:t>
            </a:r>
          </a:p>
        </p:txBody>
      </p:sp>
      <p:sp>
        <p:nvSpPr>
          <p:cNvPr id="15" name="TextBox 14"/>
          <p:cNvSpPr txBox="1"/>
          <p:nvPr/>
        </p:nvSpPr>
        <p:spPr>
          <a:xfrm>
            <a:off x="987552" y="3424428"/>
            <a:ext cx="2907792" cy="237744"/>
          </a:xfrm>
          <a:prstGeom prst="rect">
            <a:avLst/>
          </a:prstGeom>
          <a:noFill/>
        </p:spPr>
        <p:txBody>
          <a:bodyPr wrap="square" lIns="0" rIns="0" tIns="0" bIns="0" anchor="t">
            <a:spAutoFit/>
          </a:bodyPr>
          <a:lstStyle/>
          <a:p>
            <a:pPr algn="l">
              <a:lnSpc>
                <a:spcPct val="100000"/>
              </a:lnSpc>
              <a:spcAft>
                <a:spcPts val="400"/>
              </a:spcAft>
            </a:pPr>
            <a:r>
              <a:rPr sz="950" b="0">
                <a:solidFill>
                  <a:srgbClr val="64748B"/>
                </a:solidFill>
                <a:latin typeface="Segoe UI"/>
              </a:rPr>
              <a:t>Gurmukhi toggle, not transliteration</a:t>
            </a:r>
          </a:p>
        </p:txBody>
      </p:sp>
      <p:sp>
        <p:nvSpPr>
          <p:cNvPr id="16" name="Oval 15"/>
          <p:cNvSpPr/>
          <p:nvPr/>
        </p:nvSpPr>
        <p:spPr>
          <a:xfrm>
            <a:off x="786384" y="3808476"/>
            <a:ext cx="68580" cy="68580"/>
          </a:xfrm>
          <a:prstGeom prst="ellipse">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987552" y="3739896"/>
            <a:ext cx="2907792" cy="256032"/>
          </a:xfrm>
          <a:prstGeom prst="rect">
            <a:avLst/>
          </a:prstGeom>
          <a:noFill/>
        </p:spPr>
        <p:txBody>
          <a:bodyPr wrap="square" lIns="0" rIns="0" tIns="0" bIns="0" anchor="t">
            <a:spAutoFit/>
          </a:bodyPr>
          <a:lstStyle/>
          <a:p>
            <a:pPr algn="l">
              <a:lnSpc>
                <a:spcPct val="100000"/>
              </a:lnSpc>
              <a:spcAft>
                <a:spcPts val="400"/>
              </a:spcAft>
            </a:pPr>
            <a:r>
              <a:rPr sz="1100" b="1">
                <a:solidFill>
                  <a:srgbClr val="0F172A"/>
                </a:solidFill>
                <a:latin typeface="Segoe UI"/>
              </a:rPr>
              <a:t>Safe · Warning · Pump failure</a:t>
            </a:r>
          </a:p>
        </p:txBody>
      </p:sp>
      <p:sp>
        <p:nvSpPr>
          <p:cNvPr id="18" name="TextBox 17"/>
          <p:cNvSpPr txBox="1"/>
          <p:nvPr/>
        </p:nvSpPr>
        <p:spPr>
          <a:xfrm>
            <a:off x="987552" y="3959352"/>
            <a:ext cx="2907792" cy="237744"/>
          </a:xfrm>
          <a:prstGeom prst="rect">
            <a:avLst/>
          </a:prstGeom>
          <a:noFill/>
        </p:spPr>
        <p:txBody>
          <a:bodyPr wrap="square" lIns="0" rIns="0" tIns="0" bIns="0" anchor="t">
            <a:spAutoFit/>
          </a:bodyPr>
          <a:lstStyle/>
          <a:p>
            <a:pPr algn="l">
              <a:lnSpc>
                <a:spcPct val="100000"/>
              </a:lnSpc>
              <a:spcAft>
                <a:spcPts val="400"/>
              </a:spcAft>
            </a:pPr>
            <a:r>
              <a:rPr sz="950" b="0">
                <a:solidFill>
                  <a:srgbClr val="64748B"/>
                </a:solidFill>
                <a:latin typeface="Segoe UI"/>
              </a:rPr>
              <a:t>from the advisory's own zone</a:t>
            </a:r>
          </a:p>
        </p:txBody>
      </p:sp>
      <p:sp>
        <p:nvSpPr>
          <p:cNvPr id="19" name="Oval 18"/>
          <p:cNvSpPr/>
          <p:nvPr/>
        </p:nvSpPr>
        <p:spPr>
          <a:xfrm>
            <a:off x="786384" y="4343400"/>
            <a:ext cx="68580" cy="68580"/>
          </a:xfrm>
          <a:prstGeom prst="ellipse">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987552" y="4274820"/>
            <a:ext cx="2907792" cy="256032"/>
          </a:xfrm>
          <a:prstGeom prst="rect">
            <a:avLst/>
          </a:prstGeom>
          <a:noFill/>
        </p:spPr>
        <p:txBody>
          <a:bodyPr wrap="square" lIns="0" rIns="0" tIns="0" bIns="0" anchor="t">
            <a:spAutoFit/>
          </a:bodyPr>
          <a:lstStyle/>
          <a:p>
            <a:pPr algn="l">
              <a:lnSpc>
                <a:spcPct val="100000"/>
              </a:lnSpc>
              <a:spcAft>
                <a:spcPts val="400"/>
              </a:spcAft>
            </a:pPr>
            <a:r>
              <a:rPr sz="1100" b="1">
                <a:solidFill>
                  <a:srgbClr val="0F172A"/>
                </a:solidFill>
                <a:latin typeface="Segoe UI"/>
              </a:rPr>
              <a:t>“Run the pump 6 h, 22:00–04:00”</a:t>
            </a:r>
          </a:p>
        </p:txBody>
      </p:sp>
      <p:sp>
        <p:nvSpPr>
          <p:cNvPr id="21" name="TextBox 20"/>
          <p:cNvSpPr txBox="1"/>
          <p:nvPr/>
        </p:nvSpPr>
        <p:spPr>
          <a:xfrm>
            <a:off x="987552" y="4494276"/>
            <a:ext cx="2907792" cy="237744"/>
          </a:xfrm>
          <a:prstGeom prst="rect">
            <a:avLst/>
          </a:prstGeom>
          <a:noFill/>
        </p:spPr>
        <p:txBody>
          <a:bodyPr wrap="square" lIns="0" rIns="0" tIns="0" bIns="0" anchor="t">
            <a:spAutoFit/>
          </a:bodyPr>
          <a:lstStyle/>
          <a:p>
            <a:pPr algn="l">
              <a:lnSpc>
                <a:spcPct val="100000"/>
              </a:lnSpc>
              <a:spcAft>
                <a:spcPts val="400"/>
              </a:spcAft>
            </a:pPr>
            <a:r>
              <a:rPr sz="950" b="0">
                <a:solidFill>
                  <a:srgbClr val="64748B"/>
                </a:solidFill>
                <a:latin typeface="Segoe UI"/>
              </a:rPr>
              <a:t>a window, not a warning</a:t>
            </a:r>
          </a:p>
        </p:txBody>
      </p:sp>
      <p:sp>
        <p:nvSpPr>
          <p:cNvPr id="22" name="Oval 21"/>
          <p:cNvSpPr/>
          <p:nvPr/>
        </p:nvSpPr>
        <p:spPr>
          <a:xfrm>
            <a:off x="786384" y="4878324"/>
            <a:ext cx="68580" cy="68580"/>
          </a:xfrm>
          <a:prstGeom prst="ellipse">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987552" y="4809744"/>
            <a:ext cx="2907792" cy="256032"/>
          </a:xfrm>
          <a:prstGeom prst="rect">
            <a:avLst/>
          </a:prstGeom>
          <a:noFill/>
        </p:spPr>
        <p:txBody>
          <a:bodyPr wrap="square" lIns="0" rIns="0" tIns="0" bIns="0" anchor="t">
            <a:spAutoFit/>
          </a:bodyPr>
          <a:lstStyle/>
          <a:p>
            <a:pPr algn="l">
              <a:lnSpc>
                <a:spcPct val="100000"/>
              </a:lnSpc>
              <a:spcAft>
                <a:spcPts val="400"/>
              </a:spcAft>
            </a:pPr>
            <a:r>
              <a:rPr sz="1100" b="1">
                <a:solidFill>
                  <a:srgbClr val="0F172A"/>
                </a:solidFill>
                <a:latin typeface="Segoe UI"/>
              </a:rPr>
              <a:t>Next critical stage in 30 d</a:t>
            </a:r>
          </a:p>
        </p:txBody>
      </p:sp>
      <p:sp>
        <p:nvSpPr>
          <p:cNvPr id="24" name="TextBox 23"/>
          <p:cNvSpPr txBox="1"/>
          <p:nvPr/>
        </p:nvSpPr>
        <p:spPr>
          <a:xfrm>
            <a:off x="987552" y="5029200"/>
            <a:ext cx="2907792" cy="237744"/>
          </a:xfrm>
          <a:prstGeom prst="rect">
            <a:avLst/>
          </a:prstGeom>
          <a:noFill/>
        </p:spPr>
        <p:txBody>
          <a:bodyPr wrap="square" lIns="0" rIns="0" tIns="0" bIns="0" anchor="t">
            <a:spAutoFit/>
          </a:bodyPr>
          <a:lstStyle/>
          <a:p>
            <a:pPr algn="l">
              <a:lnSpc>
                <a:spcPct val="100000"/>
              </a:lnSpc>
              <a:spcAft>
                <a:spcPts val="400"/>
              </a:spcAft>
            </a:pPr>
            <a:r>
              <a:rPr sz="950" b="0">
                <a:solidFill>
                  <a:srgbClr val="64748B"/>
                </a:solidFill>
                <a:latin typeface="Segoe UI"/>
              </a:rPr>
              <a:t>CRI and flowering cannot be missed</a:t>
            </a:r>
          </a:p>
        </p:txBody>
      </p:sp>
      <p:sp>
        <p:nvSpPr>
          <p:cNvPr id="25" name="Oval 24"/>
          <p:cNvSpPr/>
          <p:nvPr/>
        </p:nvSpPr>
        <p:spPr>
          <a:xfrm>
            <a:off x="786384" y="5413248"/>
            <a:ext cx="68580" cy="68580"/>
          </a:xfrm>
          <a:prstGeom prst="ellipse">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987552" y="5344668"/>
            <a:ext cx="2907792" cy="256032"/>
          </a:xfrm>
          <a:prstGeom prst="rect">
            <a:avLst/>
          </a:prstGeom>
          <a:noFill/>
        </p:spPr>
        <p:txBody>
          <a:bodyPr wrap="square" lIns="0" rIns="0" tIns="0" bIns="0" anchor="t">
            <a:spAutoFit/>
          </a:bodyPr>
          <a:lstStyle/>
          <a:p>
            <a:pPr algn="l">
              <a:lnSpc>
                <a:spcPct val="100000"/>
              </a:lnSpc>
              <a:spcAft>
                <a:spcPts val="400"/>
              </a:spcAft>
            </a:pPr>
            <a:r>
              <a:rPr sz="1100" b="1">
                <a:solidFill>
                  <a:srgbClr val="0F172A"/>
                </a:solidFill>
                <a:latin typeface="Segoe UI"/>
              </a:rPr>
              <a:t>WhatsApp / SMS push</a:t>
            </a:r>
          </a:p>
        </p:txBody>
      </p:sp>
      <p:sp>
        <p:nvSpPr>
          <p:cNvPr id="27" name="TextBox 26"/>
          <p:cNvSpPr txBox="1"/>
          <p:nvPr/>
        </p:nvSpPr>
        <p:spPr>
          <a:xfrm>
            <a:off x="987552" y="5564124"/>
            <a:ext cx="2907792" cy="237744"/>
          </a:xfrm>
          <a:prstGeom prst="rect">
            <a:avLst/>
          </a:prstGeom>
          <a:noFill/>
        </p:spPr>
        <p:txBody>
          <a:bodyPr wrap="square" lIns="0" rIns="0" tIns="0" bIns="0" anchor="t">
            <a:spAutoFit/>
          </a:bodyPr>
          <a:lstStyle/>
          <a:p>
            <a:pPr algn="l">
              <a:lnSpc>
                <a:spcPct val="100000"/>
              </a:lnSpc>
              <a:spcAft>
                <a:spcPts val="400"/>
              </a:spcAft>
            </a:pPr>
            <a:r>
              <a:rPr sz="950" b="0">
                <a:solidFill>
                  <a:srgbClr val="64748B"/>
                </a:solidFill>
                <a:latin typeface="Segoe UI"/>
              </a:rPr>
              <a:t>with a Gurmukhi fallback</a:t>
            </a:r>
          </a:p>
        </p:txBody>
      </p:sp>
      <p:sp>
        <p:nvSpPr>
          <p:cNvPr id="28" name="Rounded Rectangle 27"/>
          <p:cNvSpPr/>
          <p:nvPr/>
        </p:nvSpPr>
        <p:spPr>
          <a:xfrm>
            <a:off x="4279392" y="2029968"/>
            <a:ext cx="3529584" cy="3950208"/>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4279392" y="2029968"/>
            <a:ext cx="3529584" cy="50292"/>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4480560" y="2231136"/>
            <a:ext cx="3127248" cy="310896"/>
          </a:xfrm>
          <a:prstGeom prst="rect">
            <a:avLst/>
          </a:prstGeom>
          <a:noFill/>
        </p:spPr>
        <p:txBody>
          <a:bodyPr wrap="square" lIns="0" rIns="0" tIns="0" bIns="0" anchor="t">
            <a:spAutoFit/>
          </a:bodyPr>
          <a:lstStyle/>
          <a:p>
            <a:pPr algn="l">
              <a:lnSpc>
                <a:spcPct val="100000"/>
              </a:lnSpc>
              <a:spcAft>
                <a:spcPts val="400"/>
              </a:spcAft>
            </a:pPr>
            <a:r>
              <a:rPr sz="1500" b="1">
                <a:solidFill>
                  <a:srgbClr val="0F172A"/>
                </a:solidFill>
                <a:latin typeface="Segoe UI"/>
              </a:rPr>
              <a:t>🧑‍🌾  Farmer desktop</a:t>
            </a:r>
          </a:p>
        </p:txBody>
      </p:sp>
      <p:sp>
        <p:nvSpPr>
          <p:cNvPr id="31" name="Oval 30"/>
          <p:cNvSpPr/>
          <p:nvPr/>
        </p:nvSpPr>
        <p:spPr>
          <a:xfrm>
            <a:off x="4498848" y="2738628"/>
            <a:ext cx="68580" cy="68580"/>
          </a:xfrm>
          <a:prstGeom prst="ellipse">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4700016" y="2670048"/>
            <a:ext cx="2907792" cy="256032"/>
          </a:xfrm>
          <a:prstGeom prst="rect">
            <a:avLst/>
          </a:prstGeom>
          <a:noFill/>
        </p:spPr>
        <p:txBody>
          <a:bodyPr wrap="square" lIns="0" rIns="0" tIns="0" bIns="0" anchor="t">
            <a:spAutoFit/>
          </a:bodyPr>
          <a:lstStyle/>
          <a:p>
            <a:pPr algn="l">
              <a:lnSpc>
                <a:spcPct val="100000"/>
              </a:lnSpc>
              <a:spcAft>
                <a:spcPts val="400"/>
              </a:spcAft>
            </a:pPr>
            <a:r>
              <a:rPr sz="1100" b="1">
                <a:solidFill>
                  <a:srgbClr val="0F172A"/>
                </a:solidFill>
                <a:latin typeface="Segoe UI"/>
              </a:rPr>
              <a:t>Water budget, season by season</a:t>
            </a:r>
          </a:p>
        </p:txBody>
      </p:sp>
      <p:sp>
        <p:nvSpPr>
          <p:cNvPr id="33" name="TextBox 32"/>
          <p:cNvSpPr txBox="1"/>
          <p:nvPr/>
        </p:nvSpPr>
        <p:spPr>
          <a:xfrm>
            <a:off x="4700016" y="2889504"/>
            <a:ext cx="2907792" cy="237744"/>
          </a:xfrm>
          <a:prstGeom prst="rect">
            <a:avLst/>
          </a:prstGeom>
          <a:noFill/>
        </p:spPr>
        <p:txBody>
          <a:bodyPr wrap="square" lIns="0" rIns="0" tIns="0" bIns="0" anchor="t">
            <a:spAutoFit/>
          </a:bodyPr>
          <a:lstStyle/>
          <a:p>
            <a:pPr algn="l">
              <a:lnSpc>
                <a:spcPct val="100000"/>
              </a:lnSpc>
              <a:spcAft>
                <a:spcPts val="400"/>
              </a:spcAft>
            </a:pPr>
            <a:r>
              <a:rPr sz="950" b="0">
                <a:solidFill>
                  <a:srgbClr val="64748B"/>
                </a:solidFill>
                <a:latin typeface="Segoe UI"/>
              </a:rPr>
              <a:t>Rabi / Zaid / Kharif in MCM</a:t>
            </a:r>
          </a:p>
        </p:txBody>
      </p:sp>
      <p:sp>
        <p:nvSpPr>
          <p:cNvPr id="34" name="Oval 33"/>
          <p:cNvSpPr/>
          <p:nvPr/>
        </p:nvSpPr>
        <p:spPr>
          <a:xfrm>
            <a:off x="4498848" y="3273552"/>
            <a:ext cx="68580" cy="68580"/>
          </a:xfrm>
          <a:prstGeom prst="ellipse">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4700016" y="3204972"/>
            <a:ext cx="2907792" cy="256032"/>
          </a:xfrm>
          <a:prstGeom prst="rect">
            <a:avLst/>
          </a:prstGeom>
          <a:noFill/>
        </p:spPr>
        <p:txBody>
          <a:bodyPr wrap="square" lIns="0" rIns="0" tIns="0" bIns="0" anchor="t">
            <a:spAutoFit/>
          </a:bodyPr>
          <a:lstStyle/>
          <a:p>
            <a:pPr algn="l">
              <a:lnSpc>
                <a:spcPct val="100000"/>
              </a:lnSpc>
              <a:spcAft>
                <a:spcPts val="400"/>
              </a:spcAft>
            </a:pPr>
            <a:r>
              <a:rPr sz="1100" b="1">
                <a:solidFill>
                  <a:srgbClr val="0F172A"/>
                </a:solidFill>
                <a:latin typeface="Segoe UI"/>
              </a:rPr>
              <a:t>Neighbour-pump calculator</a:t>
            </a:r>
          </a:p>
        </p:txBody>
      </p:sp>
      <p:sp>
        <p:nvSpPr>
          <p:cNvPr id="36" name="TextBox 35"/>
          <p:cNvSpPr txBox="1"/>
          <p:nvPr/>
        </p:nvSpPr>
        <p:spPr>
          <a:xfrm>
            <a:off x="4700016" y="3424428"/>
            <a:ext cx="2907792" cy="237744"/>
          </a:xfrm>
          <a:prstGeom prst="rect">
            <a:avLst/>
          </a:prstGeom>
          <a:noFill/>
        </p:spPr>
        <p:txBody>
          <a:bodyPr wrap="square" lIns="0" rIns="0" tIns="0" bIns="0" anchor="t">
            <a:spAutoFit/>
          </a:bodyPr>
          <a:lstStyle/>
          <a:p>
            <a:pPr algn="l">
              <a:lnSpc>
                <a:spcPct val="100000"/>
              </a:lnSpc>
              <a:spcAft>
                <a:spcPts val="400"/>
              </a:spcAft>
            </a:pPr>
            <a:r>
              <a:rPr sz="950" b="0">
                <a:solidFill>
                  <a:srgbClr val="64748B"/>
                </a:solidFill>
                <a:latin typeface="Segoe UI"/>
              </a:rPr>
              <a:t>Cooper–Jacob at your spacing</a:t>
            </a:r>
          </a:p>
        </p:txBody>
      </p:sp>
      <p:sp>
        <p:nvSpPr>
          <p:cNvPr id="37" name="Oval 36"/>
          <p:cNvSpPr/>
          <p:nvPr/>
        </p:nvSpPr>
        <p:spPr>
          <a:xfrm>
            <a:off x="4498848" y="3808476"/>
            <a:ext cx="68580" cy="68580"/>
          </a:xfrm>
          <a:prstGeom prst="ellipse">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4700016" y="3739896"/>
            <a:ext cx="2907792" cy="256032"/>
          </a:xfrm>
          <a:prstGeom prst="rect">
            <a:avLst/>
          </a:prstGeom>
          <a:noFill/>
        </p:spPr>
        <p:txBody>
          <a:bodyPr wrap="square" lIns="0" rIns="0" tIns="0" bIns="0" anchor="t">
            <a:spAutoFit/>
          </a:bodyPr>
          <a:lstStyle/>
          <a:p>
            <a:pPr algn="l">
              <a:lnSpc>
                <a:spcPct val="100000"/>
              </a:lnSpc>
              <a:spcAft>
                <a:spcPts val="400"/>
              </a:spcAft>
            </a:pPr>
            <a:r>
              <a:rPr sz="1100" b="1">
                <a:solidFill>
                  <a:srgbClr val="0F172A"/>
                </a:solidFill>
                <a:latin typeface="Segoe UI"/>
              </a:rPr>
              <a:t>Rotation simulator</a:t>
            </a:r>
          </a:p>
        </p:txBody>
      </p:sp>
      <p:sp>
        <p:nvSpPr>
          <p:cNvPr id="39" name="TextBox 38"/>
          <p:cNvSpPr txBox="1"/>
          <p:nvPr/>
        </p:nvSpPr>
        <p:spPr>
          <a:xfrm>
            <a:off x="4700016" y="3959352"/>
            <a:ext cx="2907792" cy="237744"/>
          </a:xfrm>
          <a:prstGeom prst="rect">
            <a:avLst/>
          </a:prstGeom>
          <a:noFill/>
        </p:spPr>
        <p:txBody>
          <a:bodyPr wrap="square" lIns="0" rIns="0" tIns="0" bIns="0" anchor="t">
            <a:spAutoFit/>
          </a:bodyPr>
          <a:lstStyle/>
          <a:p>
            <a:pPr algn="l">
              <a:lnSpc>
                <a:spcPct val="100000"/>
              </a:lnSpc>
              <a:spcAft>
                <a:spcPts val="400"/>
              </a:spcAft>
            </a:pPr>
            <a:r>
              <a:rPr sz="950" b="0">
                <a:solidFill>
                  <a:srgbClr val="64748B"/>
                </a:solidFill>
                <a:latin typeface="Segoe UI"/>
              </a:rPr>
              <a:t>shift hectares out of paddy</a:t>
            </a:r>
          </a:p>
        </p:txBody>
      </p:sp>
      <p:sp>
        <p:nvSpPr>
          <p:cNvPr id="40" name="Oval 39"/>
          <p:cNvSpPr/>
          <p:nvPr/>
        </p:nvSpPr>
        <p:spPr>
          <a:xfrm>
            <a:off x="4498848" y="4343400"/>
            <a:ext cx="68580" cy="68580"/>
          </a:xfrm>
          <a:prstGeom prst="ellipse">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4700016" y="4274820"/>
            <a:ext cx="2907792" cy="256032"/>
          </a:xfrm>
          <a:prstGeom prst="rect">
            <a:avLst/>
          </a:prstGeom>
          <a:noFill/>
        </p:spPr>
        <p:txBody>
          <a:bodyPr wrap="square" lIns="0" rIns="0" tIns="0" bIns="0" anchor="t">
            <a:spAutoFit/>
          </a:bodyPr>
          <a:lstStyle/>
          <a:p>
            <a:pPr algn="l">
              <a:lnSpc>
                <a:spcPct val="100000"/>
              </a:lnSpc>
              <a:spcAft>
                <a:spcPts val="400"/>
              </a:spcAft>
            </a:pPr>
            <a:r>
              <a:rPr sz="1100" b="1">
                <a:solidFill>
                  <a:srgbClr val="0F172A"/>
                </a:solidFill>
                <a:latin typeface="Segoe UI"/>
              </a:rPr>
              <a:t>Drilling calculator</a:t>
            </a:r>
          </a:p>
        </p:txBody>
      </p:sp>
      <p:sp>
        <p:nvSpPr>
          <p:cNvPr id="42" name="TextBox 41"/>
          <p:cNvSpPr txBox="1"/>
          <p:nvPr/>
        </p:nvSpPr>
        <p:spPr>
          <a:xfrm>
            <a:off x="4700016" y="4494276"/>
            <a:ext cx="2907792" cy="237744"/>
          </a:xfrm>
          <a:prstGeom prst="rect">
            <a:avLst/>
          </a:prstGeom>
          <a:noFill/>
        </p:spPr>
        <p:txBody>
          <a:bodyPr wrap="square" lIns="0" rIns="0" tIns="0" bIns="0" anchor="t">
            <a:spAutoFit/>
          </a:bodyPr>
          <a:lstStyle/>
          <a:p>
            <a:pPr algn="l">
              <a:lnSpc>
                <a:spcPct val="100000"/>
              </a:lnSpc>
              <a:spcAft>
                <a:spcPts val="400"/>
              </a:spcAft>
            </a:pPr>
            <a:r>
              <a:rPr sz="950" b="0">
                <a:solidFill>
                  <a:srgbClr val="64748B"/>
                </a:solidFill>
                <a:latin typeface="Segoe UI"/>
              </a:rPr>
              <a:t>₹ by depth, HP and pump class</a:t>
            </a:r>
          </a:p>
        </p:txBody>
      </p:sp>
      <p:sp>
        <p:nvSpPr>
          <p:cNvPr id="43" name="Oval 42"/>
          <p:cNvSpPr/>
          <p:nvPr/>
        </p:nvSpPr>
        <p:spPr>
          <a:xfrm>
            <a:off x="4498848" y="4878324"/>
            <a:ext cx="68580" cy="68580"/>
          </a:xfrm>
          <a:prstGeom prst="ellipse">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4700016" y="4809744"/>
            <a:ext cx="2907792" cy="256032"/>
          </a:xfrm>
          <a:prstGeom prst="rect">
            <a:avLst/>
          </a:prstGeom>
          <a:noFill/>
        </p:spPr>
        <p:txBody>
          <a:bodyPr wrap="square" lIns="0" rIns="0" tIns="0" bIns="0" anchor="t">
            <a:spAutoFit/>
          </a:bodyPr>
          <a:lstStyle/>
          <a:p>
            <a:pPr algn="l">
              <a:lnSpc>
                <a:spcPct val="100000"/>
              </a:lnSpc>
              <a:spcAft>
                <a:spcPts val="400"/>
              </a:spcAft>
            </a:pPr>
            <a:r>
              <a:rPr sz="1100" b="1">
                <a:solidFill>
                  <a:srgbClr val="0F172A"/>
                </a:solidFill>
                <a:latin typeface="Segoe UI"/>
              </a:rPr>
              <a:t>Strata cross-section</a:t>
            </a:r>
          </a:p>
        </p:txBody>
      </p:sp>
      <p:sp>
        <p:nvSpPr>
          <p:cNvPr id="45" name="TextBox 44"/>
          <p:cNvSpPr txBox="1"/>
          <p:nvPr/>
        </p:nvSpPr>
        <p:spPr>
          <a:xfrm>
            <a:off x="4700016" y="5029200"/>
            <a:ext cx="2907792" cy="237744"/>
          </a:xfrm>
          <a:prstGeom prst="rect">
            <a:avLst/>
          </a:prstGeom>
          <a:noFill/>
        </p:spPr>
        <p:txBody>
          <a:bodyPr wrap="square" lIns="0" rIns="0" tIns="0" bIns="0" anchor="t">
            <a:spAutoFit/>
          </a:bodyPr>
          <a:lstStyle/>
          <a:p>
            <a:pPr algn="l">
              <a:lnSpc>
                <a:spcPct val="100000"/>
              </a:lnSpc>
              <a:spcAft>
                <a:spcPts val="400"/>
              </a:spcAft>
            </a:pPr>
            <a:r>
              <a:rPr sz="950" b="0">
                <a:solidFill>
                  <a:srgbClr val="64748B"/>
                </a:solidFill>
                <a:latin typeface="Segoe UI"/>
              </a:rPr>
              <a:t>where the table is going, in m and ₹</a:t>
            </a:r>
          </a:p>
        </p:txBody>
      </p:sp>
      <p:sp>
        <p:nvSpPr>
          <p:cNvPr id="46" name="Rounded Rectangle 45"/>
          <p:cNvSpPr/>
          <p:nvPr/>
        </p:nvSpPr>
        <p:spPr>
          <a:xfrm>
            <a:off x="7991856" y="2029968"/>
            <a:ext cx="3529584" cy="3950208"/>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Rectangle 46"/>
          <p:cNvSpPr/>
          <p:nvPr/>
        </p:nvSpPr>
        <p:spPr>
          <a:xfrm>
            <a:off x="7991856" y="2029968"/>
            <a:ext cx="3529584"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8193024" y="2231136"/>
            <a:ext cx="3127248" cy="310896"/>
          </a:xfrm>
          <a:prstGeom prst="rect">
            <a:avLst/>
          </a:prstGeom>
          <a:noFill/>
        </p:spPr>
        <p:txBody>
          <a:bodyPr wrap="square" lIns="0" rIns="0" tIns="0" bIns="0" anchor="t">
            <a:spAutoFit/>
          </a:bodyPr>
          <a:lstStyle/>
          <a:p>
            <a:pPr algn="l">
              <a:lnSpc>
                <a:spcPct val="100000"/>
              </a:lnSpc>
              <a:spcAft>
                <a:spcPts val="400"/>
              </a:spcAft>
            </a:pPr>
            <a:r>
              <a:rPr sz="1500" b="1">
                <a:solidFill>
                  <a:srgbClr val="0F172A"/>
                </a:solidFill>
                <a:latin typeface="Segoe UI"/>
              </a:rPr>
              <a:t>🏛️  Administrator &amp; Finserv</a:t>
            </a:r>
          </a:p>
        </p:txBody>
      </p:sp>
      <p:sp>
        <p:nvSpPr>
          <p:cNvPr id="49" name="Oval 48"/>
          <p:cNvSpPr/>
          <p:nvPr/>
        </p:nvSpPr>
        <p:spPr>
          <a:xfrm>
            <a:off x="8211312" y="2738628"/>
            <a:ext cx="68580" cy="68580"/>
          </a:xfrm>
          <a:prstGeom prst="ellipse">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TextBox 49"/>
          <p:cNvSpPr txBox="1"/>
          <p:nvPr/>
        </p:nvSpPr>
        <p:spPr>
          <a:xfrm>
            <a:off x="8412480" y="2670048"/>
            <a:ext cx="2907792" cy="256032"/>
          </a:xfrm>
          <a:prstGeom prst="rect">
            <a:avLst/>
          </a:prstGeom>
          <a:noFill/>
        </p:spPr>
        <p:txBody>
          <a:bodyPr wrap="square" lIns="0" rIns="0" tIns="0" bIns="0" anchor="t">
            <a:spAutoFit/>
          </a:bodyPr>
          <a:lstStyle/>
          <a:p>
            <a:pPr algn="l">
              <a:lnSpc>
                <a:spcPct val="100000"/>
              </a:lnSpc>
              <a:spcAft>
                <a:spcPts val="400"/>
              </a:spcAft>
            </a:pPr>
            <a:r>
              <a:rPr sz="1100" b="1">
                <a:solidFill>
                  <a:srgbClr val="0F172A"/>
                </a:solidFill>
                <a:latin typeface="Segoe UI"/>
              </a:rPr>
              <a:t>Wells, lithology, dependency arcs</a:t>
            </a:r>
          </a:p>
        </p:txBody>
      </p:sp>
      <p:sp>
        <p:nvSpPr>
          <p:cNvPr id="51" name="TextBox 50"/>
          <p:cNvSpPr txBox="1"/>
          <p:nvPr/>
        </p:nvSpPr>
        <p:spPr>
          <a:xfrm>
            <a:off x="8412480" y="2889504"/>
            <a:ext cx="2907792" cy="237744"/>
          </a:xfrm>
          <a:prstGeom prst="rect">
            <a:avLst/>
          </a:prstGeom>
          <a:noFill/>
        </p:spPr>
        <p:txBody>
          <a:bodyPr wrap="square" lIns="0" rIns="0" tIns="0" bIns="0" anchor="t">
            <a:spAutoFit/>
          </a:bodyPr>
          <a:lstStyle/>
          <a:p>
            <a:pPr algn="l">
              <a:lnSpc>
                <a:spcPct val="100000"/>
              </a:lnSpc>
              <a:spcAft>
                <a:spcPts val="400"/>
              </a:spcAft>
            </a:pPr>
            <a:r>
              <a:rPr sz="950" b="0">
                <a:solidFill>
                  <a:srgbClr val="64748B"/>
                </a:solidFill>
                <a:latin typeface="Segoe UI"/>
              </a:rPr>
              <a:t>click a well, see its cone</a:t>
            </a:r>
          </a:p>
        </p:txBody>
      </p:sp>
      <p:sp>
        <p:nvSpPr>
          <p:cNvPr id="52" name="Oval 51"/>
          <p:cNvSpPr/>
          <p:nvPr/>
        </p:nvSpPr>
        <p:spPr>
          <a:xfrm>
            <a:off x="8211312" y="3273552"/>
            <a:ext cx="68580" cy="68580"/>
          </a:xfrm>
          <a:prstGeom prst="ellipse">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TextBox 52"/>
          <p:cNvSpPr txBox="1"/>
          <p:nvPr/>
        </p:nvSpPr>
        <p:spPr>
          <a:xfrm>
            <a:off x="8412480" y="3204972"/>
            <a:ext cx="2907792" cy="256032"/>
          </a:xfrm>
          <a:prstGeom prst="rect">
            <a:avLst/>
          </a:prstGeom>
          <a:noFill/>
        </p:spPr>
        <p:txBody>
          <a:bodyPr wrap="square" lIns="0" rIns="0" tIns="0" bIns="0" anchor="t">
            <a:spAutoFit/>
          </a:bodyPr>
          <a:lstStyle/>
          <a:p>
            <a:pPr algn="l">
              <a:lnSpc>
                <a:spcPct val="100000"/>
              </a:lnSpc>
              <a:spcAft>
                <a:spcPts val="400"/>
              </a:spcAft>
            </a:pPr>
            <a:r>
              <a:rPr sz="1100" b="1">
                <a:solidFill>
                  <a:srgbClr val="0F172A"/>
                </a:solidFill>
                <a:latin typeface="Segoe UI"/>
              </a:rPr>
              <a:t>Block stress heatmap</a:t>
            </a:r>
          </a:p>
        </p:txBody>
      </p:sp>
      <p:sp>
        <p:nvSpPr>
          <p:cNvPr id="54" name="TextBox 53"/>
          <p:cNvSpPr txBox="1"/>
          <p:nvPr/>
        </p:nvSpPr>
        <p:spPr>
          <a:xfrm>
            <a:off x="8412480" y="3424428"/>
            <a:ext cx="2907792" cy="237744"/>
          </a:xfrm>
          <a:prstGeom prst="rect">
            <a:avLst/>
          </a:prstGeom>
          <a:noFill/>
        </p:spPr>
        <p:txBody>
          <a:bodyPr wrap="square" lIns="0" rIns="0" tIns="0" bIns="0" anchor="t">
            <a:spAutoFit/>
          </a:bodyPr>
          <a:lstStyle/>
          <a:p>
            <a:pPr algn="l">
              <a:lnSpc>
                <a:spcPct val="100000"/>
              </a:lnSpc>
              <a:spcAft>
                <a:spcPts val="400"/>
              </a:spcAft>
            </a:pPr>
            <a:r>
              <a:rPr sz="950" b="0">
                <a:solidFill>
                  <a:srgbClr val="64748B"/>
                </a:solidFill>
                <a:latin typeface="Segoe UI"/>
              </a:rPr>
              <a:t>real blocks, real wells</a:t>
            </a:r>
          </a:p>
        </p:txBody>
      </p:sp>
      <p:sp>
        <p:nvSpPr>
          <p:cNvPr id="55" name="Oval 54"/>
          <p:cNvSpPr/>
          <p:nvPr/>
        </p:nvSpPr>
        <p:spPr>
          <a:xfrm>
            <a:off x="8211312" y="3808476"/>
            <a:ext cx="68580" cy="68580"/>
          </a:xfrm>
          <a:prstGeom prst="ellipse">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TextBox 55"/>
          <p:cNvSpPr txBox="1"/>
          <p:nvPr/>
        </p:nvSpPr>
        <p:spPr>
          <a:xfrm>
            <a:off x="8412480" y="3739896"/>
            <a:ext cx="2907792" cy="256032"/>
          </a:xfrm>
          <a:prstGeom prst="rect">
            <a:avLst/>
          </a:prstGeom>
          <a:noFill/>
        </p:spPr>
        <p:txBody>
          <a:bodyPr wrap="square" lIns="0" rIns="0" tIns="0" bIns="0" anchor="t">
            <a:spAutoFit/>
          </a:bodyPr>
          <a:lstStyle/>
          <a:p>
            <a:pPr algn="l">
              <a:lnSpc>
                <a:spcPct val="100000"/>
              </a:lnSpc>
              <a:spcAft>
                <a:spcPts val="400"/>
              </a:spcAft>
            </a:pPr>
            <a:r>
              <a:rPr sz="1100" b="1">
                <a:solidFill>
                  <a:srgbClr val="0F172A"/>
                </a:solidFill>
                <a:latin typeface="Segoe UI"/>
              </a:rPr>
              <a:t>Portfolio at risk in ₹ Crore</a:t>
            </a:r>
          </a:p>
        </p:txBody>
      </p:sp>
      <p:sp>
        <p:nvSpPr>
          <p:cNvPr id="57" name="TextBox 56"/>
          <p:cNvSpPr txBox="1"/>
          <p:nvPr/>
        </p:nvSpPr>
        <p:spPr>
          <a:xfrm>
            <a:off x="8412480" y="3959352"/>
            <a:ext cx="2907792" cy="237744"/>
          </a:xfrm>
          <a:prstGeom prst="rect">
            <a:avLst/>
          </a:prstGeom>
          <a:noFill/>
        </p:spPr>
        <p:txBody>
          <a:bodyPr wrap="square" lIns="0" rIns="0" tIns="0" bIns="0" anchor="t">
            <a:spAutoFit/>
          </a:bodyPr>
          <a:lstStyle/>
          <a:p>
            <a:pPr algn="l">
              <a:lnSpc>
                <a:spcPct val="100000"/>
              </a:lnSpc>
              <a:spcAft>
                <a:spcPts val="400"/>
              </a:spcAft>
            </a:pPr>
            <a:r>
              <a:rPr sz="950" b="0">
                <a:solidFill>
                  <a:srgbClr val="64748B"/>
                </a:solidFill>
                <a:latin typeface="Segoe UI"/>
              </a:rPr>
              <a:t>over-exploited vs critical</a:t>
            </a:r>
          </a:p>
        </p:txBody>
      </p:sp>
      <p:sp>
        <p:nvSpPr>
          <p:cNvPr id="58" name="Oval 57"/>
          <p:cNvSpPr/>
          <p:nvPr/>
        </p:nvSpPr>
        <p:spPr>
          <a:xfrm>
            <a:off x="8211312" y="4343400"/>
            <a:ext cx="68580" cy="68580"/>
          </a:xfrm>
          <a:prstGeom prst="ellipse">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9" name="TextBox 58"/>
          <p:cNvSpPr txBox="1"/>
          <p:nvPr/>
        </p:nvSpPr>
        <p:spPr>
          <a:xfrm>
            <a:off x="8412480" y="4274820"/>
            <a:ext cx="2907792" cy="256032"/>
          </a:xfrm>
          <a:prstGeom prst="rect">
            <a:avLst/>
          </a:prstGeom>
          <a:noFill/>
        </p:spPr>
        <p:txBody>
          <a:bodyPr wrap="square" lIns="0" rIns="0" tIns="0" bIns="0" anchor="t">
            <a:spAutoFit/>
          </a:bodyPr>
          <a:lstStyle/>
          <a:p>
            <a:pPr algn="l">
              <a:lnSpc>
                <a:spcPct val="100000"/>
              </a:lnSpc>
              <a:spcAft>
                <a:spcPts val="400"/>
              </a:spcAft>
            </a:pPr>
            <a:r>
              <a:rPr sz="1100" b="1">
                <a:solidFill>
                  <a:srgbClr val="0F172A"/>
                </a:solidFill>
                <a:latin typeface="Segoe UI"/>
              </a:rPr>
              <a:t>Deepening vs drip NPV</a:t>
            </a:r>
          </a:p>
        </p:txBody>
      </p:sp>
      <p:sp>
        <p:nvSpPr>
          <p:cNvPr id="60" name="TextBox 59"/>
          <p:cNvSpPr txBox="1"/>
          <p:nvPr/>
        </p:nvSpPr>
        <p:spPr>
          <a:xfrm>
            <a:off x="8412480" y="4494276"/>
            <a:ext cx="2907792" cy="237744"/>
          </a:xfrm>
          <a:prstGeom prst="rect">
            <a:avLst/>
          </a:prstGeom>
          <a:noFill/>
        </p:spPr>
        <p:txBody>
          <a:bodyPr wrap="square" lIns="0" rIns="0" tIns="0" bIns="0" anchor="t">
            <a:spAutoFit/>
          </a:bodyPr>
          <a:lstStyle/>
          <a:p>
            <a:pPr algn="l">
              <a:lnSpc>
                <a:spcPct val="100000"/>
              </a:lnSpc>
              <a:spcAft>
                <a:spcPts val="400"/>
              </a:spcAft>
            </a:pPr>
            <a:r>
              <a:rPr sz="950" b="0">
                <a:solidFill>
                  <a:srgbClr val="64748B"/>
                </a:solidFill>
                <a:latin typeface="Segoe UI"/>
              </a:rPr>
              <a:t>which one do we finance?</a:t>
            </a:r>
          </a:p>
        </p:txBody>
      </p:sp>
      <p:sp>
        <p:nvSpPr>
          <p:cNvPr id="61" name="Oval 60"/>
          <p:cNvSpPr/>
          <p:nvPr/>
        </p:nvSpPr>
        <p:spPr>
          <a:xfrm>
            <a:off x="8211312" y="4878324"/>
            <a:ext cx="68580" cy="68580"/>
          </a:xfrm>
          <a:prstGeom prst="ellipse">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2" name="TextBox 61"/>
          <p:cNvSpPr txBox="1"/>
          <p:nvPr/>
        </p:nvSpPr>
        <p:spPr>
          <a:xfrm>
            <a:off x="8412480" y="4809744"/>
            <a:ext cx="2907792" cy="256032"/>
          </a:xfrm>
          <a:prstGeom prst="rect">
            <a:avLst/>
          </a:prstGeom>
          <a:noFill/>
        </p:spPr>
        <p:txBody>
          <a:bodyPr wrap="square" lIns="0" rIns="0" tIns="0" bIns="0" anchor="t">
            <a:spAutoFit/>
          </a:bodyPr>
          <a:lstStyle/>
          <a:p>
            <a:pPr algn="l">
              <a:lnSpc>
                <a:spcPct val="100000"/>
              </a:lnSpc>
              <a:spcAft>
                <a:spcPts val="400"/>
              </a:spcAft>
            </a:pPr>
            <a:r>
              <a:rPr sz="1100" b="1">
                <a:solidFill>
                  <a:srgbClr val="0F172A"/>
                </a:solidFill>
                <a:latin typeface="Segoe UI"/>
              </a:rPr>
              <a:t>8-hour supply optimiser</a:t>
            </a:r>
          </a:p>
        </p:txBody>
      </p:sp>
      <p:sp>
        <p:nvSpPr>
          <p:cNvPr id="63" name="TextBox 62"/>
          <p:cNvSpPr txBox="1"/>
          <p:nvPr/>
        </p:nvSpPr>
        <p:spPr>
          <a:xfrm>
            <a:off x="8412480" y="5029200"/>
            <a:ext cx="2907792" cy="237744"/>
          </a:xfrm>
          <a:prstGeom prst="rect">
            <a:avLst/>
          </a:prstGeom>
          <a:noFill/>
        </p:spPr>
        <p:txBody>
          <a:bodyPr wrap="square" lIns="0" rIns="0" tIns="0" bIns="0" anchor="t">
            <a:spAutoFit/>
          </a:bodyPr>
          <a:lstStyle/>
          <a:p>
            <a:pPr algn="l">
              <a:lnSpc>
                <a:spcPct val="100000"/>
              </a:lnSpc>
              <a:spcAft>
                <a:spcPts val="400"/>
              </a:spcAft>
            </a:pPr>
            <a:r>
              <a:rPr sz="950" b="0">
                <a:solidFill>
                  <a:srgbClr val="64748B"/>
                </a:solidFill>
                <a:latin typeface="Segoe UI"/>
              </a:rPr>
              <a:t>rotate feeders against crop stage</a:t>
            </a:r>
          </a:p>
        </p:txBody>
      </p:sp>
      <p:sp>
        <p:nvSpPr>
          <p:cNvPr id="64" name="TextBox 63"/>
          <p:cNvSpPr txBox="1"/>
          <p:nvPr/>
        </p:nvSpPr>
        <p:spPr>
          <a:xfrm>
            <a:off x="566928" y="6419088"/>
            <a:ext cx="8229600" cy="237744"/>
          </a:xfrm>
          <a:prstGeom prst="rect">
            <a:avLst/>
          </a:prstGeom>
          <a:noFill/>
        </p:spPr>
        <p:txBody>
          <a:bodyPr wrap="square" lIns="0" rIns="0" tIns="0" bIns="0" anchor="t">
            <a:spAutoFit/>
          </a:bodyPr>
          <a:lstStyle/>
          <a:p>
            <a:pPr algn="l">
              <a:lnSpc>
                <a:spcPct val="100000"/>
              </a:lnSpc>
              <a:spcAft>
                <a:spcPts val="400"/>
              </a:spcAft>
            </a:pPr>
            <a:r>
              <a:rPr sz="850" b="0">
                <a:solidFill>
                  <a:srgbClr val="94A3B8"/>
                </a:solidFill>
                <a:latin typeface="Segoe UI"/>
              </a:rPr>
              <a:t>AquaCast-Punjab  ·  Sankalp — Climate-Smart Agriculture, Water &amp; Rural Credit</a:t>
            </a:r>
          </a:p>
        </p:txBody>
      </p:sp>
      <p:sp>
        <p:nvSpPr>
          <p:cNvPr id="65" name="TextBox 64"/>
          <p:cNvSpPr txBox="1"/>
          <p:nvPr/>
        </p:nvSpPr>
        <p:spPr>
          <a:xfrm>
            <a:off x="10972800" y="6419088"/>
            <a:ext cx="685800" cy="237744"/>
          </a:xfrm>
          <a:prstGeom prst="rect">
            <a:avLst/>
          </a:prstGeom>
          <a:noFill/>
        </p:spPr>
        <p:txBody>
          <a:bodyPr wrap="square" lIns="0" rIns="0" tIns="0" bIns="0" anchor="t">
            <a:spAutoFit/>
          </a:bodyPr>
          <a:lstStyle/>
          <a:p>
            <a:pPr algn="r">
              <a:lnSpc>
                <a:spcPct val="100000"/>
              </a:lnSpc>
              <a:spcAft>
                <a:spcPts val="400"/>
              </a:spcAft>
            </a:pPr>
            <a:r>
              <a:rPr sz="850" b="1">
                <a:solidFill>
                  <a:srgbClr val="94A3B8"/>
                </a:solidFill>
                <a:latin typeface="Segoe UI"/>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11064240" cy="256032"/>
          </a:xfrm>
          <a:prstGeom prst="rect">
            <a:avLst/>
          </a:prstGeom>
          <a:noFill/>
        </p:spPr>
        <p:txBody>
          <a:bodyPr wrap="square" lIns="0" rIns="0" tIns="0" bIns="0" anchor="t">
            <a:spAutoFit/>
          </a:bodyPr>
          <a:lstStyle/>
          <a:p>
            <a:pPr algn="l">
              <a:lnSpc>
                <a:spcPct val="100000"/>
              </a:lnSpc>
              <a:spcAft>
                <a:spcPts val="400"/>
              </a:spcAft>
            </a:pPr>
            <a:r>
              <a:rPr sz="1050" b="1">
                <a:solidFill>
                  <a:srgbClr val="0369A1"/>
                </a:solidFill>
                <a:latin typeface="Segoe UI"/>
              </a:rPr>
              <a:t>MODULES A &amp; B</a:t>
            </a:r>
          </a:p>
        </p:txBody>
      </p:sp>
      <p:sp>
        <p:nvSpPr>
          <p:cNvPr id="4" name="TextBox 3"/>
          <p:cNvSpPr txBox="1"/>
          <p:nvPr/>
        </p:nvSpPr>
        <p:spPr>
          <a:xfrm>
            <a:off x="566928" y="640080"/>
            <a:ext cx="11064240" cy="658368"/>
          </a:xfrm>
          <a:prstGeom prst="rect">
            <a:avLst/>
          </a:prstGeom>
          <a:noFill/>
        </p:spPr>
        <p:txBody>
          <a:bodyPr wrap="square" lIns="0" rIns="0" tIns="0" bIns="0" anchor="t">
            <a:spAutoFit/>
          </a:bodyPr>
          <a:lstStyle/>
          <a:p>
            <a:pPr algn="l">
              <a:lnSpc>
                <a:spcPct val="100000"/>
              </a:lnSpc>
              <a:spcAft>
                <a:spcPts val="400"/>
              </a:spcAft>
            </a:pPr>
            <a:r>
              <a:rPr sz="2500" b="1">
                <a:solidFill>
                  <a:srgbClr val="0F172A"/>
                </a:solidFill>
                <a:latin typeface="Segoe UI"/>
              </a:rPr>
              <a:t>The physics: nobody's pump is the problem, everybody's is</a:t>
            </a:r>
          </a:p>
        </p:txBody>
      </p:sp>
      <p:sp>
        <p:nvSpPr>
          <p:cNvPr id="5" name="Rectangle 4"/>
          <p:cNvSpPr/>
          <p:nvPr/>
        </p:nvSpPr>
        <p:spPr>
          <a:xfrm>
            <a:off x="566928" y="1335024"/>
            <a:ext cx="658368"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ounded Rectangle 5"/>
          <p:cNvSpPr/>
          <p:nvPr/>
        </p:nvSpPr>
        <p:spPr>
          <a:xfrm>
            <a:off x="566928" y="1554480"/>
            <a:ext cx="2615184" cy="1170432"/>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566928" y="1554480"/>
            <a:ext cx="50292" cy="1170432"/>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22960" y="1737360"/>
            <a:ext cx="2203704" cy="603504"/>
          </a:xfrm>
          <a:prstGeom prst="rect">
            <a:avLst/>
          </a:prstGeom>
          <a:noFill/>
        </p:spPr>
        <p:txBody>
          <a:bodyPr wrap="square" lIns="0" rIns="0" tIns="0" bIns="0" anchor="t">
            <a:spAutoFit/>
          </a:bodyPr>
          <a:lstStyle/>
          <a:p>
            <a:pPr algn="l">
              <a:lnSpc>
                <a:spcPct val="100000"/>
              </a:lnSpc>
              <a:spcAft>
                <a:spcPts val="400"/>
              </a:spcAft>
            </a:pPr>
            <a:r>
              <a:rPr sz="3000" b="1">
                <a:solidFill>
                  <a:srgbClr val="94A3B8"/>
                </a:solidFill>
                <a:latin typeface="Segoe UI"/>
              </a:rPr>
              <a:t>0.046 m</a:t>
            </a:r>
          </a:p>
        </p:txBody>
      </p:sp>
      <p:sp>
        <p:nvSpPr>
          <p:cNvPr id="9" name="TextBox 8"/>
          <p:cNvSpPr txBox="1"/>
          <p:nvPr/>
        </p:nvSpPr>
        <p:spPr>
          <a:xfrm>
            <a:off x="822960" y="2340864"/>
            <a:ext cx="2203704" cy="457200"/>
          </a:xfrm>
          <a:prstGeom prst="rect">
            <a:avLst/>
          </a:prstGeom>
          <a:noFill/>
        </p:spPr>
        <p:txBody>
          <a:bodyPr wrap="square" lIns="0" rIns="0" tIns="0" bIns="0" anchor="t">
            <a:spAutoFit/>
          </a:bodyPr>
          <a:lstStyle/>
          <a:p>
            <a:pPr algn="l">
              <a:lnSpc>
                <a:spcPct val="95000"/>
              </a:lnSpc>
              <a:spcAft>
                <a:spcPts val="400"/>
              </a:spcAft>
            </a:pPr>
            <a:r>
              <a:rPr sz="1050" b="0">
                <a:solidFill>
                  <a:srgbClr val="64748B"/>
                </a:solidFill>
                <a:latin typeface="Segoe UI"/>
              </a:rPr>
              <a:t>one tubewell moves a neighbour's piezometer</a:t>
            </a:r>
          </a:p>
        </p:txBody>
      </p:sp>
      <p:sp>
        <p:nvSpPr>
          <p:cNvPr id="10" name="TextBox 9"/>
          <p:cNvSpPr txBox="1"/>
          <p:nvPr/>
        </p:nvSpPr>
        <p:spPr>
          <a:xfrm>
            <a:off x="822960" y="2304288"/>
            <a:ext cx="2203704" cy="274320"/>
          </a:xfrm>
          <a:prstGeom prst="rect">
            <a:avLst/>
          </a:prstGeom>
          <a:noFill/>
        </p:spPr>
        <p:txBody>
          <a:bodyPr wrap="square" lIns="0" rIns="0" tIns="0" bIns="0" anchor="t">
            <a:spAutoFit/>
          </a:bodyPr>
          <a:lstStyle/>
          <a:p>
            <a:pPr algn="l">
              <a:lnSpc>
                <a:spcPct val="100000"/>
              </a:lnSpc>
              <a:spcAft>
                <a:spcPts val="400"/>
              </a:spcAft>
            </a:pPr>
            <a:r>
              <a:rPr sz="900" b="1">
                <a:solidFill>
                  <a:srgbClr val="94A3B8"/>
                </a:solidFill>
                <a:latin typeface="Segoe UI"/>
              </a:rPr>
              <a:t>690 bores · 15 village clusters</a:t>
            </a:r>
          </a:p>
        </p:txBody>
      </p:sp>
      <p:sp>
        <p:nvSpPr>
          <p:cNvPr id="11" name="Rounded Rectangle 10"/>
          <p:cNvSpPr/>
          <p:nvPr/>
        </p:nvSpPr>
        <p:spPr>
          <a:xfrm>
            <a:off x="3401568" y="1554480"/>
            <a:ext cx="2615184" cy="1170432"/>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3401568" y="1554480"/>
            <a:ext cx="50292" cy="1170432"/>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3657600" y="1737360"/>
            <a:ext cx="2203704" cy="603504"/>
          </a:xfrm>
          <a:prstGeom prst="rect">
            <a:avLst/>
          </a:prstGeom>
          <a:noFill/>
        </p:spPr>
        <p:txBody>
          <a:bodyPr wrap="square" lIns="0" rIns="0" tIns="0" bIns="0" anchor="t">
            <a:spAutoFit/>
          </a:bodyPr>
          <a:lstStyle/>
          <a:p>
            <a:pPr algn="l">
              <a:lnSpc>
                <a:spcPct val="100000"/>
              </a:lnSpc>
              <a:spcAft>
                <a:spcPts val="400"/>
              </a:spcAft>
            </a:pPr>
            <a:r>
              <a:rPr sz="3000" b="1">
                <a:solidFill>
                  <a:srgbClr val="EF4444"/>
                </a:solidFill>
                <a:latin typeface="Segoe UI"/>
              </a:rPr>
              <a:t>0.96 m</a:t>
            </a:r>
          </a:p>
        </p:txBody>
      </p:sp>
      <p:sp>
        <p:nvSpPr>
          <p:cNvPr id="14" name="TextBox 13"/>
          <p:cNvSpPr txBox="1"/>
          <p:nvPr/>
        </p:nvSpPr>
        <p:spPr>
          <a:xfrm>
            <a:off x="3657600" y="2340864"/>
            <a:ext cx="2203704" cy="457200"/>
          </a:xfrm>
          <a:prstGeom prst="rect">
            <a:avLst/>
          </a:prstGeom>
          <a:noFill/>
        </p:spPr>
        <p:txBody>
          <a:bodyPr wrap="square" lIns="0" rIns="0" tIns="0" bIns="0" anchor="t">
            <a:spAutoFit/>
          </a:bodyPr>
          <a:lstStyle/>
          <a:p>
            <a:pPr algn="l">
              <a:lnSpc>
                <a:spcPct val="95000"/>
              </a:lnSpc>
              <a:spcAft>
                <a:spcPts val="400"/>
              </a:spcAft>
            </a:pPr>
            <a:r>
              <a:rPr sz="1050" b="0">
                <a:solidFill>
                  <a:srgbClr val="64748B"/>
                </a:solidFill>
                <a:latin typeface="Segoe UI"/>
              </a:rPr>
              <a:t>the same village, superposed</a:t>
            </a:r>
          </a:p>
        </p:txBody>
      </p:sp>
      <p:sp>
        <p:nvSpPr>
          <p:cNvPr id="15" name="TextBox 14"/>
          <p:cNvSpPr txBox="1"/>
          <p:nvPr/>
        </p:nvSpPr>
        <p:spPr>
          <a:xfrm>
            <a:off x="3657600" y="2304288"/>
            <a:ext cx="2203704" cy="274320"/>
          </a:xfrm>
          <a:prstGeom prst="rect">
            <a:avLst/>
          </a:prstGeom>
          <a:noFill/>
        </p:spPr>
        <p:txBody>
          <a:bodyPr wrap="square" lIns="0" rIns="0" tIns="0" bIns="0" anchor="t">
            <a:spAutoFit/>
          </a:bodyPr>
          <a:lstStyle/>
          <a:p>
            <a:pPr algn="l">
              <a:lnSpc>
                <a:spcPct val="100000"/>
              </a:lnSpc>
              <a:spcAft>
                <a:spcPts val="400"/>
              </a:spcAft>
            </a:pPr>
            <a:r>
              <a:rPr sz="900" b="1">
                <a:solidFill>
                  <a:srgbClr val="EF4444"/>
                </a:solidFill>
                <a:latin typeface="Segoe UI"/>
              </a:rPr>
              <a:t>a 0.8% sample of 92,000 real bores</a:t>
            </a:r>
          </a:p>
        </p:txBody>
      </p:sp>
      <p:sp>
        <p:nvSpPr>
          <p:cNvPr id="16" name="Rounded Rectangle 15"/>
          <p:cNvSpPr/>
          <p:nvPr/>
        </p:nvSpPr>
        <p:spPr>
          <a:xfrm>
            <a:off x="6236208" y="1554480"/>
            <a:ext cx="2615184" cy="1170432"/>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6236208" y="1554480"/>
            <a:ext cx="50292" cy="11704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6492240" y="1737360"/>
            <a:ext cx="2203704" cy="603504"/>
          </a:xfrm>
          <a:prstGeom prst="rect">
            <a:avLst/>
          </a:prstGeom>
          <a:noFill/>
        </p:spPr>
        <p:txBody>
          <a:bodyPr wrap="square" lIns="0" rIns="0" tIns="0" bIns="0" anchor="t">
            <a:spAutoFit/>
          </a:bodyPr>
          <a:lstStyle/>
          <a:p>
            <a:pPr algn="l">
              <a:lnSpc>
                <a:spcPct val="100000"/>
              </a:lnSpc>
              <a:spcAft>
                <a:spcPts val="400"/>
              </a:spcAft>
            </a:pPr>
            <a:r>
              <a:rPr sz="3000" b="1">
                <a:solidFill>
                  <a:srgbClr val="F59E0B"/>
                </a:solidFill>
                <a:latin typeface="Segoe UI"/>
              </a:rPr>
              <a:t>59%</a:t>
            </a:r>
          </a:p>
        </p:txBody>
      </p:sp>
      <p:sp>
        <p:nvSpPr>
          <p:cNvPr id="19" name="TextBox 18"/>
          <p:cNvSpPr txBox="1"/>
          <p:nvPr/>
        </p:nvSpPr>
        <p:spPr>
          <a:xfrm>
            <a:off x="6492240" y="2340864"/>
            <a:ext cx="2203704" cy="457200"/>
          </a:xfrm>
          <a:prstGeom prst="rect">
            <a:avLst/>
          </a:prstGeom>
          <a:noFill/>
        </p:spPr>
        <p:txBody>
          <a:bodyPr wrap="square" lIns="0" rIns="0" tIns="0" bIns="0" anchor="t">
            <a:spAutoFit/>
          </a:bodyPr>
          <a:lstStyle/>
          <a:p>
            <a:pPr algn="l">
              <a:lnSpc>
                <a:spcPct val="95000"/>
              </a:lnSpc>
              <a:spcAft>
                <a:spcPts val="400"/>
              </a:spcAft>
            </a:pPr>
            <a:r>
              <a:rPr sz="1050" b="0">
                <a:solidFill>
                  <a:srgbClr val="64748B"/>
                </a:solidFill>
                <a:latin typeface="Segoe UI"/>
              </a:rPr>
              <a:t>of the year's draft pumped before wheat sowing</a:t>
            </a:r>
          </a:p>
        </p:txBody>
      </p:sp>
      <p:sp>
        <p:nvSpPr>
          <p:cNvPr id="20" name="TextBox 19"/>
          <p:cNvSpPr txBox="1"/>
          <p:nvPr/>
        </p:nvSpPr>
        <p:spPr>
          <a:xfrm>
            <a:off x="6492240" y="2304288"/>
            <a:ext cx="2203704" cy="274320"/>
          </a:xfrm>
          <a:prstGeom prst="rect">
            <a:avLst/>
          </a:prstGeom>
          <a:noFill/>
        </p:spPr>
        <p:txBody>
          <a:bodyPr wrap="square" lIns="0" rIns="0" tIns="0" bIns="0" anchor="t">
            <a:spAutoFit/>
          </a:bodyPr>
          <a:lstStyle/>
          <a:p>
            <a:pPr algn="l">
              <a:lnSpc>
                <a:spcPct val="100000"/>
              </a:lnSpc>
              <a:spcAft>
                <a:spcPts val="400"/>
              </a:spcAft>
            </a:pPr>
            <a:r>
              <a:rPr sz="900" b="1">
                <a:solidFill>
                  <a:srgbClr val="F59E0B"/>
                </a:solidFill>
                <a:latin typeface="Segoe UI"/>
              </a:rPr>
              <a:t>1,468 MCM, 1 Jun → 1 Nov</a:t>
            </a:r>
          </a:p>
        </p:txBody>
      </p:sp>
      <p:sp>
        <p:nvSpPr>
          <p:cNvPr id="21" name="Rounded Rectangle 20"/>
          <p:cNvSpPr/>
          <p:nvPr/>
        </p:nvSpPr>
        <p:spPr>
          <a:xfrm>
            <a:off x="9070848" y="1554480"/>
            <a:ext cx="2615184" cy="1170432"/>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9070848" y="1554480"/>
            <a:ext cx="50292" cy="117043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9326880" y="1737360"/>
            <a:ext cx="2203704" cy="603504"/>
          </a:xfrm>
          <a:prstGeom prst="rect">
            <a:avLst/>
          </a:prstGeom>
          <a:noFill/>
        </p:spPr>
        <p:txBody>
          <a:bodyPr wrap="square" lIns="0" rIns="0" tIns="0" bIns="0" anchor="t">
            <a:spAutoFit/>
          </a:bodyPr>
          <a:lstStyle/>
          <a:p>
            <a:pPr algn="l">
              <a:lnSpc>
                <a:spcPct val="100000"/>
              </a:lnSpc>
              <a:spcAft>
                <a:spcPts val="400"/>
              </a:spcAft>
            </a:pPr>
            <a:r>
              <a:rPr sz="3000" b="1">
                <a:solidFill>
                  <a:srgbClr val="0369A1"/>
                </a:solidFill>
                <a:latin typeface="Segoe UI"/>
              </a:rPr>
              <a:t>0.85 m</a:t>
            </a:r>
          </a:p>
        </p:txBody>
      </p:sp>
      <p:sp>
        <p:nvSpPr>
          <p:cNvPr id="24" name="TextBox 23"/>
          <p:cNvSpPr txBox="1"/>
          <p:nvPr/>
        </p:nvSpPr>
        <p:spPr>
          <a:xfrm>
            <a:off x="9326880" y="2340864"/>
            <a:ext cx="2203704" cy="457200"/>
          </a:xfrm>
          <a:prstGeom prst="rect">
            <a:avLst/>
          </a:prstGeom>
          <a:noFill/>
        </p:spPr>
        <p:txBody>
          <a:bodyPr wrap="square" lIns="0" rIns="0" tIns="0" bIns="0" anchor="t">
            <a:spAutoFit/>
          </a:bodyPr>
          <a:lstStyle/>
          <a:p>
            <a:pPr algn="l">
              <a:lnSpc>
                <a:spcPct val="95000"/>
              </a:lnSpc>
              <a:spcAft>
                <a:spcPts val="400"/>
              </a:spcAft>
            </a:pPr>
            <a:r>
              <a:rPr sz="1050" b="0">
                <a:solidFill>
                  <a:srgbClr val="64748B"/>
                </a:solidFill>
                <a:latin typeface="Segoe UI"/>
              </a:rPr>
              <a:t>annual swing, on top of 0.65 m/yr</a:t>
            </a:r>
          </a:p>
        </p:txBody>
      </p:sp>
      <p:sp>
        <p:nvSpPr>
          <p:cNvPr id="25" name="TextBox 24"/>
          <p:cNvSpPr txBox="1"/>
          <p:nvPr/>
        </p:nvSpPr>
        <p:spPr>
          <a:xfrm>
            <a:off x="9326880" y="2304288"/>
            <a:ext cx="2203704" cy="274320"/>
          </a:xfrm>
          <a:prstGeom prst="rect">
            <a:avLst/>
          </a:prstGeom>
          <a:noFill/>
        </p:spPr>
        <p:txBody>
          <a:bodyPr wrap="square" lIns="0" rIns="0" tIns="0" bIns="0" anchor="t">
            <a:spAutoFit/>
          </a:bodyPr>
          <a:lstStyle/>
          <a:p>
            <a:pPr algn="l">
              <a:lnSpc>
                <a:spcPct val="100000"/>
              </a:lnSpc>
              <a:spcAft>
                <a:spcPts val="400"/>
              </a:spcAft>
            </a:pPr>
            <a:r>
              <a:rPr sz="900" b="1">
                <a:solidFill>
                  <a:srgbClr val="0369A1"/>
                </a:solidFill>
                <a:latin typeface="Segoe UI"/>
              </a:rPr>
              <a:t>deepest Jul · shallowest Dec</a:t>
            </a:r>
          </a:p>
        </p:txBody>
      </p:sp>
      <p:sp>
        <p:nvSpPr>
          <p:cNvPr id="26" name="Rounded Rectangle 25"/>
          <p:cNvSpPr/>
          <p:nvPr/>
        </p:nvSpPr>
        <p:spPr>
          <a:xfrm>
            <a:off x="566928" y="3035808"/>
            <a:ext cx="5532120" cy="2212848"/>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566928" y="3035808"/>
            <a:ext cx="50292" cy="2212848"/>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804672" y="3218688"/>
            <a:ext cx="5029200" cy="274320"/>
          </a:xfrm>
          <a:prstGeom prst="rect">
            <a:avLst/>
          </a:prstGeom>
          <a:noFill/>
        </p:spPr>
        <p:txBody>
          <a:bodyPr wrap="square" lIns="0" rIns="0" tIns="0" bIns="0" anchor="t">
            <a:spAutoFit/>
          </a:bodyPr>
          <a:lstStyle/>
          <a:p>
            <a:pPr algn="l">
              <a:lnSpc>
                <a:spcPct val="100000"/>
              </a:lnSpc>
              <a:spcAft>
                <a:spcPts val="400"/>
              </a:spcAft>
            </a:pPr>
            <a:r>
              <a:rPr sz="1400" b="1">
                <a:solidFill>
                  <a:srgbClr val="0F172A"/>
                </a:solidFill>
                <a:latin typeface="Segoe UI"/>
              </a:rPr>
              <a:t>Full-year rotation, priced</a:t>
            </a:r>
          </a:p>
        </p:txBody>
      </p:sp>
      <p:sp>
        <p:nvSpPr>
          <p:cNvPr id="29" name="Oval 28"/>
          <p:cNvSpPr/>
          <p:nvPr/>
        </p:nvSpPr>
        <p:spPr>
          <a:xfrm>
            <a:off x="804672" y="3671316"/>
            <a:ext cx="77724" cy="77724"/>
          </a:xfrm>
          <a:prstGeom prst="ellipse">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1042416" y="3575304"/>
            <a:ext cx="4700016" cy="274320"/>
          </a:xfrm>
          <a:prstGeom prst="rect">
            <a:avLst/>
          </a:prstGeom>
          <a:noFill/>
        </p:spPr>
        <p:txBody>
          <a:bodyPr wrap="square" lIns="0" rIns="0" tIns="0" bIns="0" anchor="t">
            <a:spAutoFit/>
          </a:bodyPr>
          <a:lstStyle/>
          <a:p>
            <a:pPr algn="l">
              <a:lnSpc>
                <a:spcPct val="100000"/>
              </a:lnSpc>
              <a:spcAft>
                <a:spcPts val="400"/>
              </a:spcAft>
            </a:pPr>
            <a:r>
              <a:rPr sz="1050" b="1">
                <a:solidFill>
                  <a:srgbClr val="0F172A"/>
                </a:solidFill>
                <a:latin typeface="Segoe UI"/>
              </a:rPr>
              <a:t>Rabi wheat</a:t>
            </a:r>
          </a:p>
        </p:txBody>
      </p:sp>
      <p:sp>
        <p:nvSpPr>
          <p:cNvPr id="31" name="TextBox 30"/>
          <p:cNvSpPr txBox="1"/>
          <p:nvPr/>
        </p:nvSpPr>
        <p:spPr>
          <a:xfrm>
            <a:off x="1042416" y="3817620"/>
            <a:ext cx="4700016" cy="548640"/>
          </a:xfrm>
          <a:prstGeom prst="rect">
            <a:avLst/>
          </a:prstGeom>
          <a:noFill/>
        </p:spPr>
        <p:txBody>
          <a:bodyPr wrap="square" lIns="0" rIns="0" tIns="0" bIns="0" anchor="t">
            <a:spAutoFit/>
          </a:bodyPr>
          <a:lstStyle/>
          <a:p>
            <a:pPr algn="l">
              <a:lnSpc>
                <a:spcPct val="98000"/>
              </a:lnSpc>
              <a:spcAft>
                <a:spcPts val="400"/>
              </a:spcAft>
            </a:pPr>
            <a:r>
              <a:rPr sz="900" b="0">
                <a:solidFill>
                  <a:srgbClr val="64748B"/>
                </a:solidFill>
                <a:latin typeface="Segoe UI"/>
              </a:rPr>
              <a:t>350 mm → 980 MCM</a:t>
            </a:r>
          </a:p>
        </p:txBody>
      </p:sp>
      <p:sp>
        <p:nvSpPr>
          <p:cNvPr id="32" name="Oval 31"/>
          <p:cNvSpPr/>
          <p:nvPr/>
        </p:nvSpPr>
        <p:spPr>
          <a:xfrm>
            <a:off x="804672" y="4274819"/>
            <a:ext cx="77724" cy="77724"/>
          </a:xfrm>
          <a:prstGeom prst="ellipse">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1042416" y="4178807"/>
            <a:ext cx="4700016" cy="274320"/>
          </a:xfrm>
          <a:prstGeom prst="rect">
            <a:avLst/>
          </a:prstGeom>
          <a:noFill/>
        </p:spPr>
        <p:txBody>
          <a:bodyPr wrap="square" lIns="0" rIns="0" tIns="0" bIns="0" anchor="t">
            <a:spAutoFit/>
          </a:bodyPr>
          <a:lstStyle/>
          <a:p>
            <a:pPr algn="l">
              <a:lnSpc>
                <a:spcPct val="100000"/>
              </a:lnSpc>
              <a:spcAft>
                <a:spcPts val="400"/>
              </a:spcAft>
            </a:pPr>
            <a:r>
              <a:rPr sz="1050" b="1">
                <a:solidFill>
                  <a:srgbClr val="0F172A"/>
                </a:solidFill>
                <a:latin typeface="Segoe UI"/>
              </a:rPr>
              <a:t>Kharif paddy</a:t>
            </a:r>
          </a:p>
        </p:txBody>
      </p:sp>
      <p:sp>
        <p:nvSpPr>
          <p:cNvPr id="34" name="TextBox 33"/>
          <p:cNvSpPr txBox="1"/>
          <p:nvPr/>
        </p:nvSpPr>
        <p:spPr>
          <a:xfrm>
            <a:off x="1042416" y="4421123"/>
            <a:ext cx="4700016" cy="548640"/>
          </a:xfrm>
          <a:prstGeom prst="rect">
            <a:avLst/>
          </a:prstGeom>
          <a:noFill/>
        </p:spPr>
        <p:txBody>
          <a:bodyPr wrap="square" lIns="0" rIns="0" tIns="0" bIns="0" anchor="t">
            <a:spAutoFit/>
          </a:bodyPr>
          <a:lstStyle/>
          <a:p>
            <a:pPr algn="l">
              <a:lnSpc>
                <a:spcPct val="98000"/>
              </a:lnSpc>
              <a:spcAft>
                <a:spcPts val="400"/>
              </a:spcAft>
            </a:pPr>
            <a:r>
              <a:rPr sz="900" b="0">
                <a:solidFill>
                  <a:srgbClr val="64748B"/>
                </a:solidFill>
                <a:latin typeface="Segoe UI"/>
              </a:rPr>
              <a:t>550 mm → 1,441 MCM, ponded</a:t>
            </a:r>
          </a:p>
        </p:txBody>
      </p:sp>
      <p:sp>
        <p:nvSpPr>
          <p:cNvPr id="35" name="Oval 34"/>
          <p:cNvSpPr/>
          <p:nvPr/>
        </p:nvSpPr>
        <p:spPr>
          <a:xfrm>
            <a:off x="804672" y="4878322"/>
            <a:ext cx="77724" cy="77724"/>
          </a:xfrm>
          <a:prstGeom prst="ellipse">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1042416" y="4782310"/>
            <a:ext cx="4700016" cy="274320"/>
          </a:xfrm>
          <a:prstGeom prst="rect">
            <a:avLst/>
          </a:prstGeom>
          <a:noFill/>
        </p:spPr>
        <p:txBody>
          <a:bodyPr wrap="square" lIns="0" rIns="0" tIns="0" bIns="0" anchor="t">
            <a:spAutoFit/>
          </a:bodyPr>
          <a:lstStyle/>
          <a:p>
            <a:pPr algn="l">
              <a:lnSpc>
                <a:spcPct val="100000"/>
              </a:lnSpc>
              <a:spcAft>
                <a:spcPts val="400"/>
              </a:spcAft>
            </a:pPr>
            <a:r>
              <a:rPr sz="1050" b="1">
                <a:solidFill>
                  <a:srgbClr val="0F172A"/>
                </a:solidFill>
                <a:latin typeface="Segoe UI"/>
              </a:rPr>
              <a:t>Zaid summer</a:t>
            </a:r>
          </a:p>
        </p:txBody>
      </p:sp>
      <p:sp>
        <p:nvSpPr>
          <p:cNvPr id="37" name="TextBox 36"/>
          <p:cNvSpPr txBox="1"/>
          <p:nvPr/>
        </p:nvSpPr>
        <p:spPr>
          <a:xfrm>
            <a:off x="1042416" y="5024626"/>
            <a:ext cx="4700016" cy="548640"/>
          </a:xfrm>
          <a:prstGeom prst="rect">
            <a:avLst/>
          </a:prstGeom>
          <a:noFill/>
        </p:spPr>
        <p:txBody>
          <a:bodyPr wrap="square" lIns="0" rIns="0" tIns="0" bIns="0" anchor="t">
            <a:spAutoFit/>
          </a:bodyPr>
          <a:lstStyle/>
          <a:p>
            <a:pPr algn="l">
              <a:lnSpc>
                <a:spcPct val="98000"/>
              </a:lnSpc>
              <a:spcAft>
                <a:spcPts val="400"/>
              </a:spcAft>
            </a:pPr>
            <a:r>
              <a:rPr sz="900" b="0">
                <a:solidFill>
                  <a:srgbClr val="64748B"/>
                </a:solidFill>
                <a:latin typeface="Segoe UI"/>
              </a:rPr>
              <a:t>70 MCM on a minority of holdings</a:t>
            </a:r>
          </a:p>
        </p:txBody>
      </p:sp>
      <p:sp>
        <p:nvSpPr>
          <p:cNvPr id="38" name="Oval 37"/>
          <p:cNvSpPr/>
          <p:nvPr/>
        </p:nvSpPr>
        <p:spPr>
          <a:xfrm>
            <a:off x="804672" y="5481825"/>
            <a:ext cx="77724" cy="77724"/>
          </a:xfrm>
          <a:prstGeom prst="ellipse">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1042416" y="5385813"/>
            <a:ext cx="4700016" cy="274320"/>
          </a:xfrm>
          <a:prstGeom prst="rect">
            <a:avLst/>
          </a:prstGeom>
          <a:noFill/>
        </p:spPr>
        <p:txBody>
          <a:bodyPr wrap="square" lIns="0" rIns="0" tIns="0" bIns="0" anchor="t">
            <a:spAutoFit/>
          </a:bodyPr>
          <a:lstStyle/>
          <a:p>
            <a:pPr algn="l">
              <a:lnSpc>
                <a:spcPct val="100000"/>
              </a:lnSpc>
              <a:spcAft>
                <a:spcPts val="400"/>
              </a:spcAft>
            </a:pPr>
            <a:r>
              <a:rPr sz="1050" b="1">
                <a:solidFill>
                  <a:srgbClr val="0F172A"/>
                </a:solidFill>
                <a:latin typeface="Segoe UI"/>
              </a:rPr>
              <a:t>Reconciles with the twin</a:t>
            </a:r>
          </a:p>
        </p:txBody>
      </p:sp>
      <p:sp>
        <p:nvSpPr>
          <p:cNvPr id="40" name="TextBox 39"/>
          <p:cNvSpPr txBox="1"/>
          <p:nvPr/>
        </p:nvSpPr>
        <p:spPr>
          <a:xfrm>
            <a:off x="1042416" y="5628129"/>
            <a:ext cx="4700016" cy="548640"/>
          </a:xfrm>
          <a:prstGeom prst="rect">
            <a:avLst/>
          </a:prstGeom>
          <a:noFill/>
        </p:spPr>
        <p:txBody>
          <a:bodyPr wrap="square" lIns="0" rIns="0" tIns="0" bIns="0" anchor="t">
            <a:spAutoFit/>
          </a:bodyPr>
          <a:lstStyle/>
          <a:p>
            <a:pPr algn="l">
              <a:lnSpc>
                <a:spcPct val="98000"/>
              </a:lnSpc>
              <a:spcAft>
                <a:spcPts val="400"/>
              </a:spcAft>
            </a:pPr>
            <a:r>
              <a:rPr sz="900" b="0">
                <a:solidFill>
                  <a:srgbClr val="64748B"/>
                </a:solidFill>
                <a:latin typeface="Segoe UI"/>
              </a:rPr>
              <a:t>2,491 MCM/yr vs its 2,488</a:t>
            </a:r>
          </a:p>
        </p:txBody>
      </p:sp>
      <p:sp>
        <p:nvSpPr>
          <p:cNvPr id="41" name="Rounded Rectangle 40"/>
          <p:cNvSpPr/>
          <p:nvPr/>
        </p:nvSpPr>
        <p:spPr>
          <a:xfrm>
            <a:off x="6355080" y="3035808"/>
            <a:ext cx="5285232" cy="2212848"/>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Rectangle 41"/>
          <p:cNvSpPr/>
          <p:nvPr/>
        </p:nvSpPr>
        <p:spPr>
          <a:xfrm>
            <a:off x="6355080" y="3035808"/>
            <a:ext cx="50292" cy="22128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6592824" y="3218688"/>
            <a:ext cx="4846320" cy="274320"/>
          </a:xfrm>
          <a:prstGeom prst="rect">
            <a:avLst/>
          </a:prstGeom>
          <a:noFill/>
        </p:spPr>
        <p:txBody>
          <a:bodyPr wrap="square" lIns="0" rIns="0" tIns="0" bIns="0" anchor="t">
            <a:spAutoFit/>
          </a:bodyPr>
          <a:lstStyle/>
          <a:p>
            <a:pPr algn="l">
              <a:lnSpc>
                <a:spcPct val="100000"/>
              </a:lnSpc>
              <a:spcAft>
                <a:spcPts val="400"/>
              </a:spcAft>
            </a:pPr>
            <a:r>
              <a:rPr sz="1400" b="1">
                <a:solidFill>
                  <a:srgbClr val="0F172A"/>
                </a:solidFill>
                <a:latin typeface="Segoe UI"/>
              </a:rPr>
              <a:t>We checked the brief against the data</a:t>
            </a:r>
          </a:p>
        </p:txBody>
      </p:sp>
      <p:sp>
        <p:nvSpPr>
          <p:cNvPr id="44" name="TextBox 43"/>
          <p:cNvSpPr txBox="1"/>
          <p:nvPr/>
        </p:nvSpPr>
        <p:spPr>
          <a:xfrm>
            <a:off x="6592824" y="3584448"/>
            <a:ext cx="4846320" cy="1554480"/>
          </a:xfrm>
          <a:prstGeom prst="rect">
            <a:avLst/>
          </a:prstGeom>
          <a:noFill/>
        </p:spPr>
        <p:txBody>
          <a:bodyPr wrap="square" lIns="0" rIns="0" tIns="0" bIns="0" anchor="t">
            <a:spAutoFit/>
          </a:bodyPr>
          <a:lstStyle/>
          <a:p>
            <a:pPr algn="l">
              <a:lnSpc>
                <a:spcPct val="122000"/>
              </a:lnSpc>
              <a:spcAft>
                <a:spcPts val="400"/>
              </a:spcAft>
            </a:pPr>
            <a:r>
              <a:rPr sz="1100" b="1">
                <a:solidFill>
                  <a:srgbClr val="0F172A"/>
                </a:solidFill>
                <a:latin typeface="Segoe UI"/>
              </a:rPr>
              <a:t>“Monsoon flooding depletes the aquifer before November sowing.” — it does not.</a:t>
            </a:r>
            <a:r>
              <a:rPr sz="1050" b="0">
                <a:solidFill>
                  <a:srgbClr val="64748B"/>
                </a:solidFill>
                <a:latin typeface="Segoe UI"/>
              </a:rPr>
              <a:t>The detrended hydrograph bottoms out in Jul and peaks in Dec. The monsoon refills the aquifer; the Rabi wheat season drains it into the summer trough. The monsoon refills but does not restore — each November starts 0.65 m deeper than the last.</a:t>
            </a:r>
          </a:p>
        </p:txBody>
      </p:sp>
      <p:sp>
        <p:nvSpPr>
          <p:cNvPr id="45" name="TextBox 44"/>
          <p:cNvSpPr txBox="1"/>
          <p:nvPr/>
        </p:nvSpPr>
        <p:spPr>
          <a:xfrm>
            <a:off x="566928" y="6419088"/>
            <a:ext cx="8229600" cy="237744"/>
          </a:xfrm>
          <a:prstGeom prst="rect">
            <a:avLst/>
          </a:prstGeom>
          <a:noFill/>
        </p:spPr>
        <p:txBody>
          <a:bodyPr wrap="square" lIns="0" rIns="0" tIns="0" bIns="0" anchor="t">
            <a:spAutoFit/>
          </a:bodyPr>
          <a:lstStyle/>
          <a:p>
            <a:pPr algn="l">
              <a:lnSpc>
                <a:spcPct val="100000"/>
              </a:lnSpc>
              <a:spcAft>
                <a:spcPts val="400"/>
              </a:spcAft>
            </a:pPr>
            <a:r>
              <a:rPr sz="850" b="0">
                <a:solidFill>
                  <a:srgbClr val="94A3B8"/>
                </a:solidFill>
                <a:latin typeface="Segoe UI"/>
              </a:rPr>
              <a:t>AquaCast-Punjab  ·  Sankalp — Climate-Smart Agriculture, Water &amp; Rural Credit</a:t>
            </a:r>
          </a:p>
        </p:txBody>
      </p:sp>
      <p:sp>
        <p:nvSpPr>
          <p:cNvPr id="46" name="TextBox 45"/>
          <p:cNvSpPr txBox="1"/>
          <p:nvPr/>
        </p:nvSpPr>
        <p:spPr>
          <a:xfrm>
            <a:off x="10972800" y="6419088"/>
            <a:ext cx="685800" cy="237744"/>
          </a:xfrm>
          <a:prstGeom prst="rect">
            <a:avLst/>
          </a:prstGeom>
          <a:noFill/>
        </p:spPr>
        <p:txBody>
          <a:bodyPr wrap="square" lIns="0" rIns="0" tIns="0" bIns="0" anchor="t">
            <a:spAutoFit/>
          </a:bodyPr>
          <a:lstStyle/>
          <a:p>
            <a:pPr algn="r">
              <a:lnSpc>
                <a:spcPct val="100000"/>
              </a:lnSpc>
              <a:spcAft>
                <a:spcPts val="400"/>
              </a:spcAft>
            </a:pPr>
            <a:r>
              <a:rPr sz="850" b="1">
                <a:solidFill>
                  <a:srgbClr val="94A3B8"/>
                </a:solidFill>
                <a:latin typeface="Segoe UI"/>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11064240" cy="256032"/>
          </a:xfrm>
          <a:prstGeom prst="rect">
            <a:avLst/>
          </a:prstGeom>
          <a:noFill/>
        </p:spPr>
        <p:txBody>
          <a:bodyPr wrap="square" lIns="0" rIns="0" tIns="0" bIns="0" anchor="t">
            <a:spAutoFit/>
          </a:bodyPr>
          <a:lstStyle/>
          <a:p>
            <a:pPr algn="l">
              <a:lnSpc>
                <a:spcPct val="100000"/>
              </a:lnSpc>
              <a:spcAft>
                <a:spcPts val="400"/>
              </a:spcAft>
            </a:pPr>
            <a:r>
              <a:rPr sz="1050" b="1">
                <a:solidFill>
                  <a:srgbClr val="0369A1"/>
                </a:solidFill>
                <a:latin typeface="Segoe UI"/>
              </a:rPr>
              <a:t>MODULE C</a:t>
            </a:r>
          </a:p>
        </p:txBody>
      </p:sp>
      <p:sp>
        <p:nvSpPr>
          <p:cNvPr id="4" name="TextBox 3"/>
          <p:cNvSpPr txBox="1"/>
          <p:nvPr/>
        </p:nvSpPr>
        <p:spPr>
          <a:xfrm>
            <a:off x="566928" y="640080"/>
            <a:ext cx="11064240" cy="658368"/>
          </a:xfrm>
          <a:prstGeom prst="rect">
            <a:avLst/>
          </a:prstGeom>
          <a:noFill/>
        </p:spPr>
        <p:txBody>
          <a:bodyPr wrap="square" lIns="0" rIns="0" tIns="0" bIns="0" anchor="t">
            <a:spAutoFit/>
          </a:bodyPr>
          <a:lstStyle/>
          <a:p>
            <a:pPr algn="l">
              <a:lnSpc>
                <a:spcPct val="100000"/>
              </a:lnSpc>
              <a:spcAft>
                <a:spcPts val="400"/>
              </a:spcAft>
            </a:pPr>
            <a:r>
              <a:rPr sz="2500" b="1">
                <a:solidFill>
                  <a:srgbClr val="0F172A"/>
                </a:solidFill>
                <a:latin typeface="Segoe UI"/>
              </a:rPr>
              <a:t>The ground: 8.0 m from the next aquifer, 10.0 years away</a:t>
            </a:r>
          </a:p>
        </p:txBody>
      </p:sp>
      <p:sp>
        <p:nvSpPr>
          <p:cNvPr id="5" name="Rectangle 4"/>
          <p:cNvSpPr/>
          <p:nvPr/>
        </p:nvSpPr>
        <p:spPr>
          <a:xfrm>
            <a:off x="566928" y="1335024"/>
            <a:ext cx="658368"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566928" y="1554480"/>
            <a:ext cx="11064240" cy="310896"/>
          </a:xfrm>
          <a:prstGeom prst="rect">
            <a:avLst/>
          </a:prstGeom>
          <a:noFill/>
        </p:spPr>
        <p:txBody>
          <a:bodyPr wrap="square" lIns="0" rIns="0" tIns="0" bIns="0" anchor="t">
            <a:spAutoFit/>
          </a:bodyPr>
          <a:lstStyle/>
          <a:p>
            <a:pPr algn="l">
              <a:lnSpc>
                <a:spcPct val="100000"/>
              </a:lnSpc>
              <a:spcAft>
                <a:spcPts val="400"/>
              </a:spcAft>
            </a:pPr>
            <a:r>
              <a:rPr sz="1200" b="0">
                <a:solidFill>
                  <a:srgbClr val="64748B"/>
                </a:solidFill>
                <a:latin typeface="Segoe UI"/>
              </a:rPr>
              <a:t>Sangrur is pumping from L1 today. At 0.8 m/yr it crosses into L2 around 2036 — and the step is not free.</a:t>
            </a:r>
          </a:p>
        </p:txBody>
      </p:sp>
      <p:graphicFrame>
        <p:nvGraphicFramePr>
          <p:cNvPr id="7" name="Table 6"/>
          <p:cNvGraphicFramePr>
            <a:graphicFrameLocks noGrp="1"/>
          </p:cNvGraphicFramePr>
          <p:nvPr/>
        </p:nvGraphicFramePr>
        <p:xfrm>
          <a:off x="566928" y="2011680"/>
          <a:ext cx="6766559" cy="1499616"/>
        </p:xfrm>
        <a:graphic>
          <a:graphicData uri="http://schemas.openxmlformats.org/drawingml/2006/table">
            <a:tbl>
              <a:tblPr firstRow="1" bandRow="1">
                <a:tableStyleId>{5C22544A-7EE6-4342-B048-85BDC9FD1C3A}</a:tableStyleId>
              </a:tblPr>
              <a:tblGrid>
                <a:gridCol w="2121408"/>
                <a:gridCol w="1042415"/>
                <a:gridCol w="1700784"/>
                <a:gridCol w="822960"/>
                <a:gridCol w="1078992"/>
              </a:tblGrid>
              <a:tr h="402336">
                <a:tc>
                  <a:txBody>
                    <a:bodyPr wrap="square"/>
                    <a:lstStyle/>
                    <a:p>
                      <a:pPr algn="l"/>
                      <a:r>
                        <a:rPr sz="1100" b="1">
                          <a:solidFill>
                            <a:srgbClr val="FFFFFF"/>
                          </a:solidFill>
                          <a:latin typeface="Segoe UI"/>
                        </a:rPr>
                        <a:t>Unit</a:t>
                      </a:r>
                    </a:p>
                  </a:txBody>
                  <a:tcPr marL="91440" marR="91440" marT="27432" marB="27432" anchor="ctr">
                    <a:solidFill>
                      <a:srgbClr val="0B1E30"/>
                    </a:solidFill>
                  </a:tcPr>
                </a:tc>
                <a:tc>
                  <a:txBody>
                    <a:bodyPr wrap="square"/>
                    <a:lstStyle/>
                    <a:p>
                      <a:pPr algn="ctr"/>
                      <a:r>
                        <a:rPr sz="1100" b="1">
                          <a:solidFill>
                            <a:srgbClr val="FFFFFF"/>
                          </a:solidFill>
                          <a:latin typeface="Segoe UI"/>
                        </a:rPr>
                        <a:t>Depth</a:t>
                      </a:r>
                    </a:p>
                  </a:txBody>
                  <a:tcPr marL="91440" marR="91440" marT="27432" marB="27432" anchor="ctr">
                    <a:solidFill>
                      <a:srgbClr val="0B1E30"/>
                    </a:solidFill>
                  </a:tcPr>
                </a:tc>
                <a:tc>
                  <a:txBody>
                    <a:bodyPr wrap="square"/>
                    <a:lstStyle/>
                    <a:p>
                      <a:pPr algn="ctr"/>
                      <a:r>
                        <a:rPr sz="1100" b="1">
                          <a:solidFill>
                            <a:srgbClr val="FFFFFF"/>
                          </a:solidFill>
                          <a:latin typeface="Segoe UI"/>
                        </a:rPr>
                        <a:t>Pump</a:t>
                      </a:r>
                    </a:p>
                  </a:txBody>
                  <a:tcPr marL="91440" marR="91440" marT="27432" marB="27432" anchor="ctr">
                    <a:solidFill>
                      <a:srgbClr val="0B1E30"/>
                    </a:solidFill>
                  </a:tcPr>
                </a:tc>
                <a:tc>
                  <a:txBody>
                    <a:bodyPr wrap="square"/>
                    <a:lstStyle/>
                    <a:p>
                      <a:pPr algn="ctr"/>
                      <a:r>
                        <a:rPr sz="1100" b="1">
                          <a:solidFill>
                            <a:srgbClr val="FFFFFF"/>
                          </a:solidFill>
                          <a:latin typeface="Segoe UI"/>
                        </a:rPr>
                        <a:t>Duty</a:t>
                      </a:r>
                    </a:p>
                  </a:txBody>
                  <a:tcPr marL="91440" marR="91440" marT="27432" marB="27432" anchor="ctr">
                    <a:solidFill>
                      <a:srgbClr val="0B1E30"/>
                    </a:solidFill>
                  </a:tcPr>
                </a:tc>
                <a:tc>
                  <a:txBody>
                    <a:bodyPr wrap="square"/>
                    <a:lstStyle/>
                    <a:p>
                      <a:pPr algn="ctr"/>
                      <a:r>
                        <a:rPr sz="1100" b="1">
                          <a:solidFill>
                            <a:srgbClr val="FFFFFF"/>
                          </a:solidFill>
                          <a:latin typeface="Segoe UI"/>
                        </a:rPr>
                        <a:t>Bore cost</a:t>
                      </a:r>
                    </a:p>
                  </a:txBody>
                  <a:tcPr marL="91440" marR="91440" marT="27432" marB="27432" anchor="ctr">
                    <a:solidFill>
                      <a:srgbClr val="0B1E30"/>
                    </a:solidFill>
                  </a:tcPr>
                </a:tc>
              </a:tr>
              <a:tr h="365760">
                <a:tc>
                  <a:txBody>
                    <a:bodyPr wrap="square"/>
                    <a:lstStyle/>
                    <a:p>
                      <a:pPr algn="l"/>
                      <a:r>
                        <a:rPr sz="1100" b="0">
                          <a:solidFill>
                            <a:srgbClr val="0F172A"/>
                          </a:solidFill>
                          <a:latin typeface="Segoe UI"/>
                        </a:rPr>
                        <a:t>L1  Shallow unconfined</a:t>
                      </a:r>
                    </a:p>
                  </a:txBody>
                  <a:tcPr marL="91440" marR="91440" marT="27432" marB="27432" anchor="ctr">
                    <a:solidFill>
                      <a:srgbClr val="FFFFFF"/>
                    </a:solidFill>
                  </a:tcPr>
                </a:tc>
                <a:tc>
                  <a:txBody>
                    <a:bodyPr wrap="square"/>
                    <a:lstStyle/>
                    <a:p>
                      <a:pPr algn="ctr"/>
                      <a:r>
                        <a:rPr sz="1100" b="0">
                          <a:solidFill>
                            <a:srgbClr val="0F172A"/>
                          </a:solidFill>
                          <a:latin typeface="Segoe UI"/>
                        </a:rPr>
                        <a:t>0–40 m</a:t>
                      </a:r>
                    </a:p>
                  </a:txBody>
                  <a:tcPr marL="91440" marR="91440" marT="27432" marB="27432" anchor="ctr">
                    <a:solidFill>
                      <a:srgbClr val="FFFFFF"/>
                    </a:solidFill>
                  </a:tcPr>
                </a:tc>
                <a:tc>
                  <a:txBody>
                    <a:bodyPr wrap="square"/>
                    <a:lstStyle/>
                    <a:p>
                      <a:pPr algn="ctr"/>
                      <a:r>
                        <a:rPr sz="1100" b="0">
                          <a:solidFill>
                            <a:srgbClr val="0F172A"/>
                          </a:solidFill>
                          <a:latin typeface="Segoe UI"/>
                        </a:rPr>
                        <a:t>Submersible</a:t>
                      </a:r>
                    </a:p>
                  </a:txBody>
                  <a:tcPr marL="91440" marR="91440" marT="27432" marB="27432" anchor="ctr">
                    <a:solidFill>
                      <a:srgbClr val="FFFFFF"/>
                    </a:solidFill>
                  </a:tcPr>
                </a:tc>
                <a:tc>
                  <a:txBody>
                    <a:bodyPr wrap="square"/>
                    <a:lstStyle/>
                    <a:p>
                      <a:pPr algn="ctr"/>
                      <a:r>
                        <a:rPr sz="1100" b="0">
                          <a:solidFill>
                            <a:srgbClr val="0F172A"/>
                          </a:solidFill>
                          <a:latin typeface="Segoe UI"/>
                        </a:rPr>
                        <a:t>8.6 HP</a:t>
                      </a:r>
                    </a:p>
                  </a:txBody>
                  <a:tcPr marL="91440" marR="91440" marT="27432" marB="27432" anchor="ctr">
                    <a:solidFill>
                      <a:srgbClr val="FFFFFF"/>
                    </a:solidFill>
                  </a:tcPr>
                </a:tc>
                <a:tc>
                  <a:txBody>
                    <a:bodyPr wrap="square"/>
                    <a:lstStyle/>
                    <a:p>
                      <a:pPr algn="ctr"/>
                      <a:r>
                        <a:rPr sz="1100" b="0">
                          <a:solidFill>
                            <a:srgbClr val="0F172A"/>
                          </a:solidFill>
                          <a:latin typeface="Segoe UI"/>
                        </a:rPr>
                        <a:t>—</a:t>
                      </a:r>
                    </a:p>
                  </a:txBody>
                  <a:tcPr marL="91440" marR="91440" marT="27432" marB="27432" anchor="ctr">
                    <a:solidFill>
                      <a:srgbClr val="FFFFFF"/>
                    </a:solidFill>
                  </a:tcPr>
                </a:tc>
              </a:tr>
              <a:tr h="365760">
                <a:tc>
                  <a:txBody>
                    <a:bodyPr wrap="square"/>
                    <a:lstStyle/>
                    <a:p>
                      <a:pPr algn="l"/>
                      <a:r>
                        <a:rPr sz="1100" b="0">
                          <a:solidFill>
                            <a:srgbClr val="0F172A"/>
                          </a:solidFill>
                          <a:latin typeface="Segoe UI"/>
                        </a:rPr>
                        <a:t>L2  Semi-confined</a:t>
                      </a:r>
                    </a:p>
                  </a:txBody>
                  <a:tcPr marL="91440" marR="91440" marT="27432" marB="27432" anchor="ctr">
                    <a:solidFill>
                      <a:srgbClr val="F8FAFC"/>
                    </a:solidFill>
                  </a:tcPr>
                </a:tc>
                <a:tc>
                  <a:txBody>
                    <a:bodyPr wrap="square"/>
                    <a:lstStyle/>
                    <a:p>
                      <a:pPr algn="ctr"/>
                      <a:r>
                        <a:rPr sz="1100" b="0">
                          <a:solidFill>
                            <a:srgbClr val="0F172A"/>
                          </a:solidFill>
                          <a:latin typeface="Segoe UI"/>
                        </a:rPr>
                        <a:t>40–90 m</a:t>
                      </a:r>
                    </a:p>
                  </a:txBody>
                  <a:tcPr marL="91440" marR="91440" marT="27432" marB="27432" anchor="ctr">
                    <a:solidFill>
                      <a:srgbClr val="F8FAFC"/>
                    </a:solidFill>
                  </a:tcPr>
                </a:tc>
                <a:tc>
                  <a:txBody>
                    <a:bodyPr wrap="square"/>
                    <a:lstStyle/>
                    <a:p>
                      <a:pPr algn="ctr"/>
                      <a:r>
                        <a:rPr sz="1100" b="0">
                          <a:solidFill>
                            <a:srgbClr val="0F172A"/>
                          </a:solidFill>
                          <a:latin typeface="Segoe UI"/>
                        </a:rPr>
                        <a:t>Submersible</a:t>
                      </a:r>
                    </a:p>
                  </a:txBody>
                  <a:tcPr marL="91440" marR="91440" marT="27432" marB="27432" anchor="ctr">
                    <a:solidFill>
                      <a:srgbClr val="F8FAFC"/>
                    </a:solidFill>
                  </a:tcPr>
                </a:tc>
                <a:tc>
                  <a:txBody>
                    <a:bodyPr wrap="square"/>
                    <a:lstStyle/>
                    <a:p>
                      <a:pPr algn="ctr"/>
                      <a:r>
                        <a:rPr sz="1100" b="0">
                          <a:solidFill>
                            <a:srgbClr val="0F172A"/>
                          </a:solidFill>
                          <a:latin typeface="Segoe UI"/>
                        </a:rPr>
                        <a:t>15.3 HP</a:t>
                      </a:r>
                    </a:p>
                  </a:txBody>
                  <a:tcPr marL="91440" marR="91440" marT="27432" marB="27432" anchor="ctr">
                    <a:solidFill>
                      <a:srgbClr val="F8FAFC"/>
                    </a:solidFill>
                  </a:tcPr>
                </a:tc>
                <a:tc>
                  <a:txBody>
                    <a:bodyPr wrap="square"/>
                    <a:lstStyle/>
                    <a:p>
                      <a:pPr algn="ctr"/>
                      <a:r>
                        <a:rPr sz="1100" b="0">
                          <a:solidFill>
                            <a:srgbClr val="0F172A"/>
                          </a:solidFill>
                          <a:latin typeface="Segoe UI"/>
                        </a:rPr>
                        <a:t>+₹1.36 L</a:t>
                      </a:r>
                    </a:p>
                  </a:txBody>
                  <a:tcPr marL="91440" marR="91440" marT="27432" marB="27432" anchor="ctr">
                    <a:solidFill>
                      <a:srgbClr val="F8FAFC"/>
                    </a:solidFill>
                  </a:tcPr>
                </a:tc>
              </a:tr>
              <a:tr h="365760">
                <a:tc>
                  <a:txBody>
                    <a:bodyPr wrap="square"/>
                    <a:lstStyle/>
                    <a:p>
                      <a:pPr algn="l"/>
                      <a:r>
                        <a:rPr sz="1100" b="0">
                          <a:solidFill>
                            <a:srgbClr val="0F172A"/>
                          </a:solidFill>
                          <a:latin typeface="Segoe UI"/>
                        </a:rPr>
                        <a:t>L3  Deep confined</a:t>
                      </a:r>
                    </a:p>
                  </a:txBody>
                  <a:tcPr marL="91440" marR="91440" marT="27432" marB="27432" anchor="ctr">
                    <a:solidFill>
                      <a:srgbClr val="FFFFFF"/>
                    </a:solidFill>
                  </a:tcPr>
                </a:tc>
                <a:tc>
                  <a:txBody>
                    <a:bodyPr wrap="square"/>
                    <a:lstStyle/>
                    <a:p>
                      <a:pPr algn="ctr"/>
                      <a:r>
                        <a:rPr sz="1100" b="0">
                          <a:solidFill>
                            <a:srgbClr val="0F172A"/>
                          </a:solidFill>
                          <a:latin typeface="Segoe UI"/>
                        </a:rPr>
                        <a:t>&gt; 90 m</a:t>
                      </a:r>
                    </a:p>
                  </a:txBody>
                  <a:tcPr marL="91440" marR="91440" marT="27432" marB="27432" anchor="ctr">
                    <a:solidFill>
                      <a:srgbClr val="FFFFFF"/>
                    </a:solidFill>
                  </a:tcPr>
                </a:tc>
                <a:tc>
                  <a:txBody>
                    <a:bodyPr wrap="square"/>
                    <a:lstStyle/>
                    <a:p>
                      <a:pPr algn="ctr"/>
                      <a:r>
                        <a:rPr sz="1100" b="0">
                          <a:solidFill>
                            <a:srgbClr val="0F172A"/>
                          </a:solidFill>
                          <a:latin typeface="Segoe UI"/>
                        </a:rPr>
                        <a:t>High-head submersible</a:t>
                      </a:r>
                    </a:p>
                  </a:txBody>
                  <a:tcPr marL="91440" marR="91440" marT="27432" marB="27432" anchor="ctr">
                    <a:solidFill>
                      <a:srgbClr val="FFFFFF"/>
                    </a:solidFill>
                  </a:tcPr>
                </a:tc>
                <a:tc>
                  <a:txBody>
                    <a:bodyPr wrap="square"/>
                    <a:lstStyle/>
                    <a:p>
                      <a:pPr algn="ctr"/>
                      <a:r>
                        <a:rPr sz="1100" b="0">
                          <a:solidFill>
                            <a:srgbClr val="0F172A"/>
                          </a:solidFill>
                          <a:latin typeface="Segoe UI"/>
                        </a:rPr>
                        <a:t>25–40 HP</a:t>
                      </a:r>
                    </a:p>
                  </a:txBody>
                  <a:tcPr marL="91440" marR="91440" marT="27432" marB="27432" anchor="ctr">
                    <a:solidFill>
                      <a:srgbClr val="FFFFFF"/>
                    </a:solidFill>
                  </a:tcPr>
                </a:tc>
                <a:tc>
                  <a:txBody>
                    <a:bodyPr wrap="square"/>
                    <a:lstStyle/>
                    <a:p>
                      <a:pPr algn="ctr"/>
                      <a:r>
                        <a:rPr sz="1100" b="0">
                          <a:solidFill>
                            <a:srgbClr val="0F172A"/>
                          </a:solidFill>
                          <a:latin typeface="Segoe UI"/>
                        </a:rPr>
                        <a:t>+₹1.6 L more</a:t>
                      </a:r>
                    </a:p>
                  </a:txBody>
                  <a:tcPr marL="91440" marR="91440" marT="27432" marB="27432" anchor="ctr">
                    <a:solidFill>
                      <a:srgbClr val="FFFFFF"/>
                    </a:solidFill>
                  </a:tcPr>
                </a:tc>
              </a:tr>
            </a:tbl>
          </a:graphicData>
        </a:graphic>
      </p:graphicFrame>
      <p:sp>
        <p:nvSpPr>
          <p:cNvPr id="8" name="TextBox 7"/>
          <p:cNvSpPr txBox="1"/>
          <p:nvPr/>
        </p:nvSpPr>
        <p:spPr>
          <a:xfrm>
            <a:off x="566928" y="4096511"/>
            <a:ext cx="6766560" cy="1371600"/>
          </a:xfrm>
          <a:prstGeom prst="rect">
            <a:avLst/>
          </a:prstGeom>
          <a:noFill/>
        </p:spPr>
        <p:txBody>
          <a:bodyPr wrap="square" lIns="0" rIns="0" tIns="0" bIns="0" anchor="t">
            <a:spAutoFit/>
          </a:bodyPr>
          <a:lstStyle/>
          <a:p>
            <a:pPr algn="l">
              <a:lnSpc>
                <a:spcPct val="125000"/>
              </a:lnSpc>
              <a:spcAft>
                <a:spcPts val="400"/>
              </a:spcAft>
            </a:pPr>
            <a:r>
              <a:rPr sz="1100" b="1">
                <a:solidFill>
                  <a:srgbClr val="0F172A"/>
                </a:solidFill>
                <a:latin typeface="Segoe UI"/>
              </a:rPr>
              <a:t>Measured, not assumed — 25 real CGWB lithologs in Sangrur:</a:t>
            </a:r>
            <a:r>
              <a:rPr sz="1050" b="0">
                <a:solidFill>
                  <a:srgbClr val="64748B"/>
                </a:solidFill>
                <a:latin typeface="Segoe UI"/>
              </a:rPr>
              <a:t>median transmissivity 1,620 m²/d · median drilled depth 210 m · median EC 733 µS/cm · 0.0% above the saline threshold.</a:t>
            </a:r>
            <a:r>
              <a:rPr sz="1050" b="0">
                <a:solidFill>
                  <a:srgbClr val="64748B"/>
                </a:solidFill>
                <a:latin typeface="Segoe UI"/>
              </a:rPr>
              <a:t>We do not claim the deep water is saltier. EC correlates with drilled depth at r = +0.024 — no relationship. Salinity is flagged as a literature risk, never as a finding.</a:t>
            </a:r>
          </a:p>
        </p:txBody>
      </p:sp>
      <p:sp>
        <p:nvSpPr>
          <p:cNvPr id="9" name="Rounded Rectangle 8"/>
          <p:cNvSpPr/>
          <p:nvPr/>
        </p:nvSpPr>
        <p:spPr>
          <a:xfrm>
            <a:off x="7607808" y="2011680"/>
            <a:ext cx="4032504" cy="3017520"/>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607808" y="2011680"/>
            <a:ext cx="50292" cy="3017520"/>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7845552" y="2194560"/>
            <a:ext cx="3566160" cy="274320"/>
          </a:xfrm>
          <a:prstGeom prst="rect">
            <a:avLst/>
          </a:prstGeom>
          <a:noFill/>
        </p:spPr>
        <p:txBody>
          <a:bodyPr wrap="square" lIns="0" rIns="0" tIns="0" bIns="0" anchor="t">
            <a:spAutoFit/>
          </a:bodyPr>
          <a:lstStyle/>
          <a:p>
            <a:pPr algn="l">
              <a:lnSpc>
                <a:spcPct val="100000"/>
              </a:lnSpc>
              <a:spcAft>
                <a:spcPts val="400"/>
              </a:spcAft>
            </a:pPr>
            <a:r>
              <a:rPr sz="1400" b="1">
                <a:solidFill>
                  <a:srgbClr val="0F172A"/>
                </a:solidFill>
                <a:latin typeface="Segoe UI"/>
              </a:rPr>
              <a:t>Why deepening compounds</a:t>
            </a:r>
          </a:p>
        </p:txBody>
      </p:sp>
      <p:sp>
        <p:nvSpPr>
          <p:cNvPr id="12" name="Oval 11"/>
          <p:cNvSpPr/>
          <p:nvPr/>
        </p:nvSpPr>
        <p:spPr>
          <a:xfrm>
            <a:off x="7845552" y="2647188"/>
            <a:ext cx="77724" cy="77724"/>
          </a:xfrm>
          <a:prstGeom prst="ellipse">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083296" y="2551176"/>
            <a:ext cx="3328416" cy="274320"/>
          </a:xfrm>
          <a:prstGeom prst="rect">
            <a:avLst/>
          </a:prstGeom>
          <a:noFill/>
        </p:spPr>
        <p:txBody>
          <a:bodyPr wrap="square" lIns="0" rIns="0" tIns="0" bIns="0" anchor="t">
            <a:spAutoFit/>
          </a:bodyPr>
          <a:lstStyle/>
          <a:p>
            <a:pPr algn="l">
              <a:lnSpc>
                <a:spcPct val="100000"/>
              </a:lnSpc>
              <a:spcAft>
                <a:spcPts val="400"/>
              </a:spcAft>
            </a:pPr>
            <a:r>
              <a:rPr sz="1050" b="1">
                <a:solidFill>
                  <a:srgbClr val="0F172A"/>
                </a:solidFill>
                <a:latin typeface="Segoe UI"/>
              </a:rPr>
              <a:t>The pump must change</a:t>
            </a:r>
          </a:p>
        </p:txBody>
      </p:sp>
      <p:sp>
        <p:nvSpPr>
          <p:cNvPr id="14" name="TextBox 13"/>
          <p:cNvSpPr txBox="1"/>
          <p:nvPr/>
        </p:nvSpPr>
        <p:spPr>
          <a:xfrm>
            <a:off x="8083296" y="2793492"/>
            <a:ext cx="3328416" cy="548640"/>
          </a:xfrm>
          <a:prstGeom prst="rect">
            <a:avLst/>
          </a:prstGeom>
          <a:noFill/>
        </p:spPr>
        <p:txBody>
          <a:bodyPr wrap="square" lIns="0" rIns="0" tIns="0" bIns="0" anchor="t">
            <a:spAutoFit/>
          </a:bodyPr>
          <a:lstStyle/>
          <a:p>
            <a:pPr algn="l">
              <a:lnSpc>
                <a:spcPct val="98000"/>
              </a:lnSpc>
              <a:spcAft>
                <a:spcPts val="400"/>
              </a:spcAft>
            </a:pPr>
            <a:r>
              <a:rPr sz="900" b="0">
                <a:solidFill>
                  <a:srgbClr val="64748B"/>
                </a:solidFill>
                <a:latin typeface="Segoe UI"/>
              </a:rPr>
              <a:t>8.6 → 15.3 HP</a:t>
            </a:r>
          </a:p>
        </p:txBody>
      </p:sp>
      <p:sp>
        <p:nvSpPr>
          <p:cNvPr id="15" name="Oval 14"/>
          <p:cNvSpPr/>
          <p:nvPr/>
        </p:nvSpPr>
        <p:spPr>
          <a:xfrm>
            <a:off x="7845552" y="3287268"/>
            <a:ext cx="77724" cy="77724"/>
          </a:xfrm>
          <a:prstGeom prst="ellipse">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8083296" y="3191256"/>
            <a:ext cx="3328416" cy="274320"/>
          </a:xfrm>
          <a:prstGeom prst="rect">
            <a:avLst/>
          </a:prstGeom>
          <a:noFill/>
        </p:spPr>
        <p:txBody>
          <a:bodyPr wrap="square" lIns="0" rIns="0" tIns="0" bIns="0" anchor="t">
            <a:spAutoFit/>
          </a:bodyPr>
          <a:lstStyle/>
          <a:p>
            <a:pPr algn="l">
              <a:lnSpc>
                <a:spcPct val="100000"/>
              </a:lnSpc>
              <a:spcAft>
                <a:spcPts val="400"/>
              </a:spcAft>
            </a:pPr>
            <a:r>
              <a:rPr sz="1050" b="1">
                <a:solidFill>
                  <a:srgbClr val="0F172A"/>
                </a:solidFill>
                <a:latin typeface="Segoe UI"/>
              </a:rPr>
              <a:t>The bore must be cased deeper</a:t>
            </a:r>
          </a:p>
        </p:txBody>
      </p:sp>
      <p:sp>
        <p:nvSpPr>
          <p:cNvPr id="17" name="TextBox 16"/>
          <p:cNvSpPr txBox="1"/>
          <p:nvPr/>
        </p:nvSpPr>
        <p:spPr>
          <a:xfrm>
            <a:off x="8083296" y="3433572"/>
            <a:ext cx="3328416" cy="548640"/>
          </a:xfrm>
          <a:prstGeom prst="rect">
            <a:avLst/>
          </a:prstGeom>
          <a:noFill/>
        </p:spPr>
        <p:txBody>
          <a:bodyPr wrap="square" lIns="0" rIns="0" tIns="0" bIns="0" anchor="t">
            <a:spAutoFit/>
          </a:bodyPr>
          <a:lstStyle/>
          <a:p>
            <a:pPr algn="l">
              <a:lnSpc>
                <a:spcPct val="98000"/>
              </a:lnSpc>
              <a:spcAft>
                <a:spcPts val="400"/>
              </a:spcAft>
            </a:pPr>
            <a:r>
              <a:rPr sz="900" b="0">
                <a:solidFill>
                  <a:srgbClr val="64748B"/>
                </a:solidFill>
                <a:latin typeface="Segoe UI"/>
              </a:rPr>
              <a:t>casing dominates the bill</a:t>
            </a:r>
          </a:p>
        </p:txBody>
      </p:sp>
      <p:sp>
        <p:nvSpPr>
          <p:cNvPr id="18" name="Oval 17"/>
          <p:cNvSpPr/>
          <p:nvPr/>
        </p:nvSpPr>
        <p:spPr>
          <a:xfrm>
            <a:off x="7845552" y="3927348"/>
            <a:ext cx="77724" cy="77724"/>
          </a:xfrm>
          <a:prstGeom prst="ellipse">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083296" y="3831336"/>
            <a:ext cx="3328416" cy="274320"/>
          </a:xfrm>
          <a:prstGeom prst="rect">
            <a:avLst/>
          </a:prstGeom>
          <a:noFill/>
        </p:spPr>
        <p:txBody>
          <a:bodyPr wrap="square" lIns="0" rIns="0" tIns="0" bIns="0" anchor="t">
            <a:spAutoFit/>
          </a:bodyPr>
          <a:lstStyle/>
          <a:p>
            <a:pPr algn="l">
              <a:lnSpc>
                <a:spcPct val="100000"/>
              </a:lnSpc>
              <a:spcAft>
                <a:spcPts val="400"/>
              </a:spcAft>
            </a:pPr>
            <a:r>
              <a:rPr sz="1050" b="1">
                <a:solidFill>
                  <a:srgbClr val="0F172A"/>
                </a:solidFill>
                <a:latin typeface="Segoe UI"/>
              </a:rPr>
              <a:t>And it is a depleting asset</a:t>
            </a:r>
          </a:p>
        </p:txBody>
      </p:sp>
      <p:sp>
        <p:nvSpPr>
          <p:cNvPr id="20" name="TextBox 19"/>
          <p:cNvSpPr txBox="1"/>
          <p:nvPr/>
        </p:nvSpPr>
        <p:spPr>
          <a:xfrm>
            <a:off x="8083296" y="4073652"/>
            <a:ext cx="3328416" cy="548640"/>
          </a:xfrm>
          <a:prstGeom prst="rect">
            <a:avLst/>
          </a:prstGeom>
          <a:noFill/>
        </p:spPr>
        <p:txBody>
          <a:bodyPr wrap="square" lIns="0" rIns="0" tIns="0" bIns="0" anchor="t">
            <a:spAutoFit/>
          </a:bodyPr>
          <a:lstStyle/>
          <a:p>
            <a:pPr algn="l">
              <a:lnSpc>
                <a:spcPct val="98000"/>
              </a:lnSpc>
              <a:spcAft>
                <a:spcPts val="400"/>
              </a:spcAft>
            </a:pPr>
            <a:r>
              <a:rPr sz="900" b="0">
                <a:solidFill>
                  <a:srgbClr val="64748B"/>
                </a:solidFill>
                <a:latin typeface="Segoe UI"/>
              </a:rPr>
              <a:t>you buy N years, then repeat</a:t>
            </a:r>
          </a:p>
        </p:txBody>
      </p:sp>
      <p:sp>
        <p:nvSpPr>
          <p:cNvPr id="21" name="Oval 20"/>
          <p:cNvSpPr/>
          <p:nvPr/>
        </p:nvSpPr>
        <p:spPr>
          <a:xfrm>
            <a:off x="7845552" y="4567428"/>
            <a:ext cx="77724" cy="77724"/>
          </a:xfrm>
          <a:prstGeom prst="ellipse">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8083296" y="4471416"/>
            <a:ext cx="3328416" cy="274320"/>
          </a:xfrm>
          <a:prstGeom prst="rect">
            <a:avLst/>
          </a:prstGeom>
          <a:noFill/>
        </p:spPr>
        <p:txBody>
          <a:bodyPr wrap="square" lIns="0" rIns="0" tIns="0" bIns="0" anchor="t">
            <a:spAutoFit/>
          </a:bodyPr>
          <a:lstStyle/>
          <a:p>
            <a:pPr algn="l">
              <a:lnSpc>
                <a:spcPct val="100000"/>
              </a:lnSpc>
              <a:spcAft>
                <a:spcPts val="400"/>
              </a:spcAft>
            </a:pPr>
            <a:r>
              <a:rPr sz="1050" b="1">
                <a:solidFill>
                  <a:srgbClr val="0F172A"/>
                </a:solidFill>
                <a:latin typeface="Segoe UI"/>
              </a:rPr>
              <a:t>Real bores already go deep</a:t>
            </a:r>
          </a:p>
        </p:txBody>
      </p:sp>
      <p:sp>
        <p:nvSpPr>
          <p:cNvPr id="23" name="TextBox 22"/>
          <p:cNvSpPr txBox="1"/>
          <p:nvPr/>
        </p:nvSpPr>
        <p:spPr>
          <a:xfrm>
            <a:off x="8083296" y="4713732"/>
            <a:ext cx="3328416" cy="548640"/>
          </a:xfrm>
          <a:prstGeom prst="rect">
            <a:avLst/>
          </a:prstGeom>
          <a:noFill/>
        </p:spPr>
        <p:txBody>
          <a:bodyPr wrap="square" lIns="0" rIns="0" tIns="0" bIns="0" anchor="t">
            <a:spAutoFit/>
          </a:bodyPr>
          <a:lstStyle/>
          <a:p>
            <a:pPr algn="l">
              <a:lnSpc>
                <a:spcPct val="98000"/>
              </a:lnSpc>
              <a:spcAft>
                <a:spcPts val="400"/>
              </a:spcAft>
            </a:pPr>
            <a:r>
              <a:rPr sz="900" b="0">
                <a:solidFill>
                  <a:srgbClr val="64748B"/>
                </a:solidFill>
                <a:latin typeface="Segoe UI"/>
              </a:rPr>
              <a:t>median 210 m in the logs</a:t>
            </a:r>
          </a:p>
        </p:txBody>
      </p:sp>
      <p:sp>
        <p:nvSpPr>
          <p:cNvPr id="24" name="TextBox 23"/>
          <p:cNvSpPr txBox="1"/>
          <p:nvPr/>
        </p:nvSpPr>
        <p:spPr>
          <a:xfrm>
            <a:off x="566928" y="6419088"/>
            <a:ext cx="8229600" cy="237744"/>
          </a:xfrm>
          <a:prstGeom prst="rect">
            <a:avLst/>
          </a:prstGeom>
          <a:noFill/>
        </p:spPr>
        <p:txBody>
          <a:bodyPr wrap="square" lIns="0" rIns="0" tIns="0" bIns="0" anchor="t">
            <a:spAutoFit/>
          </a:bodyPr>
          <a:lstStyle/>
          <a:p>
            <a:pPr algn="l">
              <a:lnSpc>
                <a:spcPct val="100000"/>
              </a:lnSpc>
              <a:spcAft>
                <a:spcPts val="400"/>
              </a:spcAft>
            </a:pPr>
            <a:r>
              <a:rPr sz="850" b="0">
                <a:solidFill>
                  <a:srgbClr val="94A3B8"/>
                </a:solidFill>
                <a:latin typeface="Segoe UI"/>
              </a:rPr>
              <a:t>AquaCast-Punjab  ·  Sankalp — Climate-Smart Agriculture, Water &amp; Rural Credit</a:t>
            </a:r>
          </a:p>
        </p:txBody>
      </p:sp>
      <p:sp>
        <p:nvSpPr>
          <p:cNvPr id="25" name="TextBox 24"/>
          <p:cNvSpPr txBox="1"/>
          <p:nvPr/>
        </p:nvSpPr>
        <p:spPr>
          <a:xfrm>
            <a:off x="10972800" y="6419088"/>
            <a:ext cx="685800" cy="237744"/>
          </a:xfrm>
          <a:prstGeom prst="rect">
            <a:avLst/>
          </a:prstGeom>
          <a:noFill/>
        </p:spPr>
        <p:txBody>
          <a:bodyPr wrap="square" lIns="0" rIns="0" tIns="0" bIns="0" anchor="t">
            <a:spAutoFit/>
          </a:bodyPr>
          <a:lstStyle/>
          <a:p>
            <a:pPr algn="r">
              <a:lnSpc>
                <a:spcPct val="100000"/>
              </a:lnSpc>
              <a:spcAft>
                <a:spcPts val="400"/>
              </a:spcAft>
            </a:pPr>
            <a:r>
              <a:rPr sz="850" b="1">
                <a:solidFill>
                  <a:srgbClr val="94A3B8"/>
                </a:solidFill>
                <a:latin typeface="Segoe UI"/>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11064240" cy="256032"/>
          </a:xfrm>
          <a:prstGeom prst="rect">
            <a:avLst/>
          </a:prstGeom>
          <a:noFill/>
        </p:spPr>
        <p:txBody>
          <a:bodyPr wrap="square" lIns="0" rIns="0" tIns="0" bIns="0" anchor="t">
            <a:spAutoFit/>
          </a:bodyPr>
          <a:lstStyle/>
          <a:p>
            <a:pPr algn="l">
              <a:lnSpc>
                <a:spcPct val="100000"/>
              </a:lnSpc>
              <a:spcAft>
                <a:spcPts val="400"/>
              </a:spcAft>
            </a:pPr>
            <a:r>
              <a:rPr sz="1050" b="1">
                <a:solidFill>
                  <a:srgbClr val="0369A1"/>
                </a:solidFill>
                <a:latin typeface="Segoe UI"/>
              </a:rPr>
              <a:t>MODULES D &amp; F</a:t>
            </a:r>
          </a:p>
        </p:txBody>
      </p:sp>
      <p:sp>
        <p:nvSpPr>
          <p:cNvPr id="4" name="TextBox 3"/>
          <p:cNvSpPr txBox="1"/>
          <p:nvPr/>
        </p:nvSpPr>
        <p:spPr>
          <a:xfrm>
            <a:off x="566928" y="640080"/>
            <a:ext cx="11064240" cy="658368"/>
          </a:xfrm>
          <a:prstGeom prst="rect">
            <a:avLst/>
          </a:prstGeom>
          <a:noFill/>
        </p:spPr>
        <p:txBody>
          <a:bodyPr wrap="square" lIns="0" rIns="0" tIns="0" bIns="0" anchor="t">
            <a:spAutoFit/>
          </a:bodyPr>
          <a:lstStyle/>
          <a:p>
            <a:pPr algn="l">
              <a:lnSpc>
                <a:spcPct val="100000"/>
              </a:lnSpc>
              <a:spcAft>
                <a:spcPts val="400"/>
              </a:spcAft>
            </a:pPr>
            <a:r>
              <a:rPr sz="2500" b="1">
                <a:solidFill>
                  <a:srgbClr val="0F172A"/>
                </a:solidFill>
                <a:latin typeface="Segoe UI"/>
              </a:rPr>
              <a:t>The money: what should the lender actually finance?</a:t>
            </a:r>
          </a:p>
        </p:txBody>
      </p:sp>
      <p:sp>
        <p:nvSpPr>
          <p:cNvPr id="5" name="Rectangle 4"/>
          <p:cNvSpPr/>
          <p:nvPr/>
        </p:nvSpPr>
        <p:spPr>
          <a:xfrm>
            <a:off x="566928" y="1335024"/>
            <a:ext cx="658368"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ounded Rectangle 5"/>
          <p:cNvSpPr/>
          <p:nvPr/>
        </p:nvSpPr>
        <p:spPr>
          <a:xfrm>
            <a:off x="566928" y="1554480"/>
            <a:ext cx="2615184" cy="1225296"/>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566928" y="1554480"/>
            <a:ext cx="50292" cy="1225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22960" y="1737360"/>
            <a:ext cx="2203704" cy="603504"/>
          </a:xfrm>
          <a:prstGeom prst="rect">
            <a:avLst/>
          </a:prstGeom>
          <a:noFill/>
        </p:spPr>
        <p:txBody>
          <a:bodyPr wrap="square" lIns="0" rIns="0" tIns="0" bIns="0" anchor="t">
            <a:spAutoFit/>
          </a:bodyPr>
          <a:lstStyle/>
          <a:p>
            <a:pPr algn="l">
              <a:lnSpc>
                <a:spcPct val="100000"/>
              </a:lnSpc>
              <a:spcAft>
                <a:spcPts val="400"/>
              </a:spcAft>
            </a:pPr>
            <a:r>
              <a:rPr sz="3000" b="1">
                <a:solidFill>
                  <a:srgbClr val="F59E0B"/>
                </a:solidFill>
                <a:latin typeface="Segoe UI"/>
              </a:rPr>
              <a:t>21.2 yr</a:t>
            </a:r>
          </a:p>
        </p:txBody>
      </p:sp>
      <p:sp>
        <p:nvSpPr>
          <p:cNvPr id="9" name="TextBox 8"/>
          <p:cNvSpPr txBox="1"/>
          <p:nvPr/>
        </p:nvSpPr>
        <p:spPr>
          <a:xfrm>
            <a:off x="822960" y="2340864"/>
            <a:ext cx="2203704" cy="457200"/>
          </a:xfrm>
          <a:prstGeom prst="rect">
            <a:avLst/>
          </a:prstGeom>
          <a:noFill/>
        </p:spPr>
        <p:txBody>
          <a:bodyPr wrap="square" lIns="0" rIns="0" tIns="0" bIns="0" anchor="t">
            <a:spAutoFit/>
          </a:bodyPr>
          <a:lstStyle/>
          <a:p>
            <a:pPr algn="l">
              <a:lnSpc>
                <a:spcPct val="95000"/>
              </a:lnSpc>
              <a:spcAft>
                <a:spcPts val="400"/>
              </a:spcAft>
            </a:pPr>
            <a:r>
              <a:rPr sz="1050" b="0">
                <a:solidFill>
                  <a:srgbClr val="64748B"/>
                </a:solidFill>
                <a:latin typeface="Segoe UI"/>
              </a:rPr>
              <a:t>until the existing bore stops delivering</a:t>
            </a:r>
          </a:p>
        </p:txBody>
      </p:sp>
      <p:sp>
        <p:nvSpPr>
          <p:cNvPr id="10" name="TextBox 9"/>
          <p:cNvSpPr txBox="1"/>
          <p:nvPr/>
        </p:nvSpPr>
        <p:spPr>
          <a:xfrm>
            <a:off x="822960" y="2359152"/>
            <a:ext cx="2203704" cy="274320"/>
          </a:xfrm>
          <a:prstGeom prst="rect">
            <a:avLst/>
          </a:prstGeom>
          <a:noFill/>
        </p:spPr>
        <p:txBody>
          <a:bodyPr wrap="square" lIns="0" rIns="0" tIns="0" bIns="0" anchor="t">
            <a:spAutoFit/>
          </a:bodyPr>
          <a:lstStyle/>
          <a:p>
            <a:pPr algn="l">
              <a:lnSpc>
                <a:spcPct val="100000"/>
              </a:lnSpc>
              <a:spcAft>
                <a:spcPts val="400"/>
              </a:spcAft>
            </a:pPr>
            <a:r>
              <a:rPr sz="900" b="1">
                <a:solidFill>
                  <a:srgbClr val="F59E0B"/>
                </a:solidFill>
                <a:latin typeface="Segoe UI"/>
              </a:rPr>
              <a:t>at 0.8 m/yr</a:t>
            </a:r>
          </a:p>
        </p:txBody>
      </p:sp>
      <p:sp>
        <p:nvSpPr>
          <p:cNvPr id="11" name="Rounded Rectangle 10"/>
          <p:cNvSpPr/>
          <p:nvPr/>
        </p:nvSpPr>
        <p:spPr>
          <a:xfrm>
            <a:off x="3401568" y="1554480"/>
            <a:ext cx="2615184" cy="1225296"/>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3401568" y="1554480"/>
            <a:ext cx="50292" cy="1225296"/>
          </a:xfrm>
          <a:prstGeom prst="rect">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3657600" y="1737360"/>
            <a:ext cx="2203704" cy="603504"/>
          </a:xfrm>
          <a:prstGeom prst="rect">
            <a:avLst/>
          </a:prstGeom>
          <a:noFill/>
        </p:spPr>
        <p:txBody>
          <a:bodyPr wrap="square" lIns="0" rIns="0" tIns="0" bIns="0" anchor="t">
            <a:spAutoFit/>
          </a:bodyPr>
          <a:lstStyle/>
          <a:p>
            <a:pPr algn="l">
              <a:lnSpc>
                <a:spcPct val="100000"/>
              </a:lnSpc>
              <a:spcAft>
                <a:spcPts val="400"/>
              </a:spcAft>
            </a:pPr>
            <a:r>
              <a:rPr sz="3000" b="1">
                <a:solidFill>
                  <a:srgbClr val="22C55E"/>
                </a:solidFill>
                <a:latin typeface="Segoe UI"/>
              </a:rPr>
              <a:t>₹1.1 L</a:t>
            </a:r>
          </a:p>
        </p:txBody>
      </p:sp>
      <p:sp>
        <p:nvSpPr>
          <p:cNvPr id="14" name="TextBox 13"/>
          <p:cNvSpPr txBox="1"/>
          <p:nvPr/>
        </p:nvSpPr>
        <p:spPr>
          <a:xfrm>
            <a:off x="3657600" y="2340864"/>
            <a:ext cx="2203704" cy="457200"/>
          </a:xfrm>
          <a:prstGeom prst="rect">
            <a:avLst/>
          </a:prstGeom>
          <a:noFill/>
        </p:spPr>
        <p:txBody>
          <a:bodyPr wrap="square" lIns="0" rIns="0" tIns="0" bIns="0" anchor="t">
            <a:spAutoFit/>
          </a:bodyPr>
          <a:lstStyle/>
          <a:p>
            <a:pPr algn="l">
              <a:lnSpc>
                <a:spcPct val="95000"/>
              </a:lnSpc>
              <a:spcAft>
                <a:spcPts val="400"/>
              </a:spcAft>
            </a:pPr>
            <a:r>
              <a:rPr sz="1050" b="0">
                <a:solidFill>
                  <a:srgbClr val="64748B"/>
                </a:solidFill>
                <a:latin typeface="Segoe UI"/>
              </a:rPr>
              <a:t>drip on the existing grid connection</a:t>
            </a:r>
          </a:p>
        </p:txBody>
      </p:sp>
      <p:sp>
        <p:nvSpPr>
          <p:cNvPr id="15" name="TextBox 14"/>
          <p:cNvSpPr txBox="1"/>
          <p:nvPr/>
        </p:nvSpPr>
        <p:spPr>
          <a:xfrm>
            <a:off x="3657600" y="2359152"/>
            <a:ext cx="2203704" cy="274320"/>
          </a:xfrm>
          <a:prstGeom prst="rect">
            <a:avLst/>
          </a:prstGeom>
          <a:noFill/>
        </p:spPr>
        <p:txBody>
          <a:bodyPr wrap="square" lIns="0" rIns="0" tIns="0" bIns="0" anchor="t">
            <a:spAutoFit/>
          </a:bodyPr>
          <a:lstStyle/>
          <a:p>
            <a:pPr algn="l">
              <a:lnSpc>
                <a:spcPct val="100000"/>
              </a:lnSpc>
              <a:spcAft>
                <a:spcPts val="400"/>
              </a:spcAft>
            </a:pPr>
            <a:r>
              <a:rPr sz="900" b="1">
                <a:solidFill>
                  <a:srgbClr val="22C55E"/>
                </a:solidFill>
                <a:latin typeface="Segoe UI"/>
              </a:rPr>
              <a:t>payback 3.7 yr · NPV ₹119,471</a:t>
            </a:r>
          </a:p>
        </p:txBody>
      </p:sp>
      <p:sp>
        <p:nvSpPr>
          <p:cNvPr id="16" name="Rounded Rectangle 15"/>
          <p:cNvSpPr/>
          <p:nvPr/>
        </p:nvSpPr>
        <p:spPr>
          <a:xfrm>
            <a:off x="6236208" y="1554480"/>
            <a:ext cx="2615184" cy="1225296"/>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6236208" y="1554480"/>
            <a:ext cx="50292" cy="1225296"/>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6492240" y="1737360"/>
            <a:ext cx="2203704" cy="603504"/>
          </a:xfrm>
          <a:prstGeom prst="rect">
            <a:avLst/>
          </a:prstGeom>
          <a:noFill/>
        </p:spPr>
        <p:txBody>
          <a:bodyPr wrap="square" lIns="0" rIns="0" tIns="0" bIns="0" anchor="t">
            <a:spAutoFit/>
          </a:bodyPr>
          <a:lstStyle/>
          <a:p>
            <a:pPr algn="l">
              <a:lnSpc>
                <a:spcPct val="100000"/>
              </a:lnSpc>
              <a:spcAft>
                <a:spcPts val="400"/>
              </a:spcAft>
            </a:pPr>
            <a:r>
              <a:rPr sz="3000" b="1">
                <a:solidFill>
                  <a:srgbClr val="EF4444"/>
                </a:solidFill>
                <a:latin typeface="Segoe UI"/>
              </a:rPr>
              <a:t>₹2.1 L</a:t>
            </a:r>
          </a:p>
        </p:txBody>
      </p:sp>
      <p:sp>
        <p:nvSpPr>
          <p:cNvPr id="19" name="TextBox 18"/>
          <p:cNvSpPr txBox="1"/>
          <p:nvPr/>
        </p:nvSpPr>
        <p:spPr>
          <a:xfrm>
            <a:off x="6492240" y="2340864"/>
            <a:ext cx="2203704" cy="457200"/>
          </a:xfrm>
          <a:prstGeom prst="rect">
            <a:avLst/>
          </a:prstGeom>
          <a:noFill/>
        </p:spPr>
        <p:txBody>
          <a:bodyPr wrap="square" lIns="0" rIns="0" tIns="0" bIns="0" anchor="t">
            <a:spAutoFit/>
          </a:bodyPr>
          <a:lstStyle/>
          <a:p>
            <a:pPr algn="l">
              <a:lnSpc>
                <a:spcPct val="95000"/>
              </a:lnSpc>
              <a:spcAft>
                <a:spcPts val="400"/>
              </a:spcAft>
            </a:pPr>
            <a:r>
              <a:rPr sz="1050" b="0">
                <a:solidFill>
                  <a:srgbClr val="64748B"/>
                </a:solidFill>
                <a:latin typeface="Segoe UI"/>
              </a:rPr>
              <a:t>deepening the bore instead</a:t>
            </a:r>
          </a:p>
        </p:txBody>
      </p:sp>
      <p:sp>
        <p:nvSpPr>
          <p:cNvPr id="20" name="TextBox 19"/>
          <p:cNvSpPr txBox="1"/>
          <p:nvPr/>
        </p:nvSpPr>
        <p:spPr>
          <a:xfrm>
            <a:off x="6492240" y="2359152"/>
            <a:ext cx="2203704" cy="274320"/>
          </a:xfrm>
          <a:prstGeom prst="rect">
            <a:avLst/>
          </a:prstGeom>
          <a:noFill/>
        </p:spPr>
        <p:txBody>
          <a:bodyPr wrap="square" lIns="0" rIns="0" tIns="0" bIns="0" anchor="t">
            <a:spAutoFit/>
          </a:bodyPr>
          <a:lstStyle/>
          <a:p>
            <a:pPr algn="l">
              <a:lnSpc>
                <a:spcPct val="100000"/>
              </a:lnSpc>
              <a:spcAft>
                <a:spcPts val="400"/>
              </a:spcAft>
            </a:pPr>
            <a:r>
              <a:rPr sz="900" b="1">
                <a:solidFill>
                  <a:srgbClr val="EF4444"/>
                </a:solidFill>
                <a:latin typeface="Segoe UI"/>
              </a:rPr>
              <a:t>payback 22.9 yr · NPV ₹-82,315</a:t>
            </a:r>
          </a:p>
        </p:txBody>
      </p:sp>
      <p:sp>
        <p:nvSpPr>
          <p:cNvPr id="21" name="Rounded Rectangle 20"/>
          <p:cNvSpPr/>
          <p:nvPr/>
        </p:nvSpPr>
        <p:spPr>
          <a:xfrm>
            <a:off x="9070848" y="1554480"/>
            <a:ext cx="2615184" cy="1225296"/>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9070848" y="1554480"/>
            <a:ext cx="50292" cy="1225296"/>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9326880" y="1737360"/>
            <a:ext cx="2203704" cy="603504"/>
          </a:xfrm>
          <a:prstGeom prst="rect">
            <a:avLst/>
          </a:prstGeom>
          <a:noFill/>
        </p:spPr>
        <p:txBody>
          <a:bodyPr wrap="square" lIns="0" rIns="0" tIns="0" bIns="0" anchor="t">
            <a:spAutoFit/>
          </a:bodyPr>
          <a:lstStyle/>
          <a:p>
            <a:pPr algn="l">
              <a:lnSpc>
                <a:spcPct val="100000"/>
              </a:lnSpc>
              <a:spcAft>
                <a:spcPts val="400"/>
              </a:spcAft>
            </a:pPr>
            <a:r>
              <a:rPr sz="3000" b="1">
                <a:solidFill>
                  <a:srgbClr val="0369A1"/>
                </a:solidFill>
                <a:latin typeface="Segoe UI"/>
              </a:rPr>
              <a:t>269×</a:t>
            </a:r>
          </a:p>
        </p:txBody>
      </p:sp>
      <p:sp>
        <p:nvSpPr>
          <p:cNvPr id="24" name="TextBox 23"/>
          <p:cNvSpPr txBox="1"/>
          <p:nvPr/>
        </p:nvSpPr>
        <p:spPr>
          <a:xfrm>
            <a:off x="9326880" y="2340864"/>
            <a:ext cx="2203704" cy="457200"/>
          </a:xfrm>
          <a:prstGeom prst="rect">
            <a:avLst/>
          </a:prstGeom>
          <a:noFill/>
        </p:spPr>
        <p:txBody>
          <a:bodyPr wrap="square" lIns="0" rIns="0" tIns="0" bIns="0" anchor="t">
            <a:spAutoFit/>
          </a:bodyPr>
          <a:lstStyle/>
          <a:p>
            <a:pPr algn="l">
              <a:lnSpc>
                <a:spcPct val="95000"/>
              </a:lnSpc>
              <a:spcAft>
                <a:spcPts val="400"/>
              </a:spcAft>
            </a:pPr>
            <a:r>
              <a:rPr sz="1050" b="0">
                <a:solidFill>
                  <a:srgbClr val="64748B"/>
                </a:solidFill>
                <a:latin typeface="Segoe UI"/>
              </a:rPr>
              <a:t>finer than a GRACE cell, linearly</a:t>
            </a:r>
          </a:p>
        </p:txBody>
      </p:sp>
      <p:sp>
        <p:nvSpPr>
          <p:cNvPr id="25" name="TextBox 24"/>
          <p:cNvSpPr txBox="1"/>
          <p:nvPr/>
        </p:nvSpPr>
        <p:spPr>
          <a:xfrm>
            <a:off x="9326880" y="2359152"/>
            <a:ext cx="2203704" cy="274320"/>
          </a:xfrm>
          <a:prstGeom prst="rect">
            <a:avLst/>
          </a:prstGeom>
          <a:noFill/>
        </p:spPr>
        <p:txBody>
          <a:bodyPr wrap="square" lIns="0" rIns="0" tIns="0" bIns="0" anchor="t">
            <a:spAutoFit/>
          </a:bodyPr>
          <a:lstStyle/>
          <a:p>
            <a:pPr algn="l">
              <a:lnSpc>
                <a:spcPct val="100000"/>
              </a:lnSpc>
              <a:spcAft>
                <a:spcPts val="400"/>
              </a:spcAft>
            </a:pPr>
            <a:r>
              <a:rPr sz="900" b="1">
                <a:solidFill>
                  <a:srgbClr val="0369A1"/>
                </a:solidFill>
                <a:latin typeface="Segoe UI"/>
              </a:rPr>
              <a:t>384 m inputs vs 10,677 km²</a:t>
            </a:r>
          </a:p>
        </p:txBody>
      </p:sp>
      <p:sp>
        <p:nvSpPr>
          <p:cNvPr id="26" name="Rounded Rectangle 25"/>
          <p:cNvSpPr/>
          <p:nvPr/>
        </p:nvSpPr>
        <p:spPr>
          <a:xfrm>
            <a:off x="566928" y="3090672"/>
            <a:ext cx="5532120" cy="2377440"/>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566928" y="3090672"/>
            <a:ext cx="50292" cy="2377440"/>
          </a:xfrm>
          <a:prstGeom prst="rect">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804672" y="3273552"/>
            <a:ext cx="5029200" cy="274320"/>
          </a:xfrm>
          <a:prstGeom prst="rect">
            <a:avLst/>
          </a:prstGeom>
          <a:noFill/>
        </p:spPr>
        <p:txBody>
          <a:bodyPr wrap="square" lIns="0" rIns="0" tIns="0" bIns="0" anchor="t">
            <a:spAutoFit/>
          </a:bodyPr>
          <a:lstStyle/>
          <a:p>
            <a:pPr algn="l">
              <a:lnSpc>
                <a:spcPct val="100000"/>
              </a:lnSpc>
              <a:spcAft>
                <a:spcPts val="400"/>
              </a:spcAft>
            </a:pPr>
            <a:r>
              <a:rPr sz="1400" b="1">
                <a:solidFill>
                  <a:srgbClr val="0F172A"/>
                </a:solidFill>
                <a:latin typeface="Segoe UI"/>
              </a:rPr>
              <a:t>Verdict: Drip Only</a:t>
            </a:r>
          </a:p>
        </p:txBody>
      </p:sp>
      <p:sp>
        <p:nvSpPr>
          <p:cNvPr id="29" name="TextBox 28"/>
          <p:cNvSpPr txBox="1"/>
          <p:nvPr/>
        </p:nvSpPr>
        <p:spPr>
          <a:xfrm>
            <a:off x="804672" y="3657600"/>
            <a:ext cx="5029200" cy="1691640"/>
          </a:xfrm>
          <a:prstGeom prst="rect">
            <a:avLst/>
          </a:prstGeom>
          <a:noFill/>
        </p:spPr>
        <p:txBody>
          <a:bodyPr wrap="square" lIns="0" rIns="0" tIns="0" bIns="0" anchor="t">
            <a:spAutoFit/>
          </a:bodyPr>
          <a:lstStyle/>
          <a:p>
            <a:pPr algn="l">
              <a:lnSpc>
                <a:spcPct val="124000"/>
              </a:lnSpc>
              <a:spcAft>
                <a:spcPts val="400"/>
              </a:spcAft>
            </a:pPr>
            <a:r>
              <a:rPr sz="1100" b="0">
                <a:solidFill>
                  <a:srgbClr val="64748B"/>
                </a:solidFill>
                <a:latin typeface="Segoe UI"/>
              </a:rPr>
              <a:t>Deepening is not wrong, it is just badly timed. It costs ₹213,348 and its benefit does not begin until year 21.2 — after which it buys 28.8 years, and then you repeat.</a:t>
            </a:r>
            <a:r>
              <a:rPr sz="1100" b="0">
                <a:solidFill>
                  <a:srgbClr val="64748B"/>
                </a:solidFill>
                <a:latin typeface="Segoe UI"/>
              </a:rPr>
              <a:t>Drip pays from year one, and cut the draft that causes the decline: +13.0 years of bore life on the existing pump.</a:t>
            </a:r>
            <a:r>
              <a:rPr sz="1100" b="1">
                <a:solidFill>
                  <a:srgbClr val="0F172A"/>
                </a:solidFill>
                <a:latin typeface="Segoe UI"/>
              </a:rPr>
              <a:t>The solar pump is the worst of the three (NPV ₹-206,029) — not because solar is bad, but because Punjab's farm power is subsidised to ~zero, so it displaces electricity nobody was paying for.</a:t>
            </a:r>
          </a:p>
        </p:txBody>
      </p:sp>
      <p:graphicFrame>
        <p:nvGraphicFramePr>
          <p:cNvPr id="30" name="Table 29"/>
          <p:cNvGraphicFramePr>
            <a:graphicFrameLocks noGrp="1"/>
          </p:cNvGraphicFramePr>
          <p:nvPr/>
        </p:nvGraphicFramePr>
        <p:xfrm>
          <a:off x="6355080" y="3090672"/>
          <a:ext cx="5285232" cy="1865376"/>
        </p:xfrm>
        <a:graphic>
          <a:graphicData uri="http://schemas.openxmlformats.org/drawingml/2006/table">
            <a:tbl>
              <a:tblPr firstRow="1" bandRow="1">
                <a:tableStyleId>{5C22544A-7EE6-4342-B048-85BDC9FD1C3A}</a:tableStyleId>
              </a:tblPr>
              <a:tblGrid>
                <a:gridCol w="1481328"/>
                <a:gridCol w="1389888"/>
                <a:gridCol w="1243584"/>
                <a:gridCol w="1170432"/>
              </a:tblGrid>
              <a:tr h="402336">
                <a:tc>
                  <a:txBody>
                    <a:bodyPr wrap="square"/>
                    <a:lstStyle/>
                    <a:p>
                      <a:pPr algn="l"/>
                      <a:r>
                        <a:rPr sz="1000" b="1">
                          <a:solidFill>
                            <a:srgbClr val="FFFFFF"/>
                          </a:solidFill>
                          <a:latin typeface="Segoe UI"/>
                        </a:rPr>
                        <a:t>System</a:t>
                      </a:r>
                    </a:p>
                  </a:txBody>
                  <a:tcPr marL="91440" marR="91440" marT="27432" marB="27432" anchor="ctr">
                    <a:solidFill>
                      <a:srgbClr val="0B1E30"/>
                    </a:solidFill>
                  </a:tcPr>
                </a:tc>
                <a:tc>
                  <a:txBody>
                    <a:bodyPr wrap="square"/>
                    <a:lstStyle/>
                    <a:p>
                      <a:pPr algn="ctr"/>
                      <a:r>
                        <a:rPr sz="1000" b="1">
                          <a:solidFill>
                            <a:srgbClr val="FFFFFF"/>
                          </a:solidFill>
                          <a:latin typeface="Segoe UI"/>
                        </a:rPr>
                        <a:t>Resolution</a:t>
                      </a:r>
                    </a:p>
                  </a:txBody>
                  <a:tcPr marL="91440" marR="91440" marT="27432" marB="27432" anchor="ctr">
                    <a:solidFill>
                      <a:srgbClr val="0B1E30"/>
                    </a:solidFill>
                  </a:tcPr>
                </a:tc>
                <a:tc>
                  <a:txBody>
                    <a:bodyPr wrap="square"/>
                    <a:lstStyle/>
                    <a:p>
                      <a:pPr algn="ctr"/>
                      <a:r>
                        <a:rPr sz="1000" b="1">
                          <a:solidFill>
                            <a:srgbClr val="FFFFFF"/>
                          </a:solidFill>
                          <a:latin typeface="Segoe UI"/>
                        </a:rPr>
                        <a:t>Lead time</a:t>
                      </a:r>
                    </a:p>
                  </a:txBody>
                  <a:tcPr marL="91440" marR="91440" marT="27432" marB="27432" anchor="ctr">
                    <a:solidFill>
                      <a:srgbClr val="0B1E30"/>
                    </a:solidFill>
                  </a:tcPr>
                </a:tc>
                <a:tc>
                  <a:txBody>
                    <a:bodyPr wrap="square"/>
                    <a:lstStyle/>
                    <a:p>
                      <a:pPr algn="ctr"/>
                      <a:r>
                        <a:rPr sz="1000" b="1">
                          <a:solidFill>
                            <a:srgbClr val="FFFFFF"/>
                          </a:solidFill>
                          <a:latin typeface="Segoe UI"/>
                        </a:rPr>
                        <a:t>Ends in an action?</a:t>
                      </a:r>
                    </a:p>
                  </a:txBody>
                  <a:tcPr marL="91440" marR="91440" marT="27432" marB="27432" anchor="ctr">
                    <a:solidFill>
                      <a:srgbClr val="0B1E30"/>
                    </a:solidFill>
                  </a:tcPr>
                </a:tc>
              </a:tr>
              <a:tr h="365760">
                <a:tc>
                  <a:txBody>
                    <a:bodyPr wrap="square"/>
                    <a:lstStyle/>
                    <a:p>
                      <a:pPr algn="l"/>
                      <a:r>
                        <a:rPr sz="1000" b="0">
                          <a:solidFill>
                            <a:srgbClr val="0F172A"/>
                          </a:solidFill>
                          <a:latin typeface="Segoe UI"/>
                        </a:rPr>
                        <a:t>NASA GRACE</a:t>
                      </a:r>
                    </a:p>
                  </a:txBody>
                  <a:tcPr marL="91440" marR="91440" marT="27432" marB="27432" anchor="ctr">
                    <a:solidFill>
                      <a:srgbClr val="FFFFFF"/>
                    </a:solidFill>
                  </a:tcPr>
                </a:tc>
                <a:tc>
                  <a:txBody>
                    <a:bodyPr wrap="square"/>
                    <a:lstStyle/>
                    <a:p>
                      <a:pPr algn="ctr"/>
                      <a:r>
                        <a:rPr sz="1000" b="0">
                          <a:solidFill>
                            <a:srgbClr val="0F172A"/>
                          </a:solidFill>
                          <a:latin typeface="Segoe UI"/>
                        </a:rPr>
                        <a:t>~10,677 km²/cell</a:t>
                      </a:r>
                    </a:p>
                  </a:txBody>
                  <a:tcPr marL="91440" marR="91440" marT="27432" marB="27432" anchor="ctr">
                    <a:solidFill>
                      <a:srgbClr val="FFFFFF"/>
                    </a:solidFill>
                  </a:tcPr>
                </a:tc>
                <a:tc>
                  <a:txBody>
                    <a:bodyPr wrap="square"/>
                    <a:lstStyle/>
                    <a:p>
                      <a:pPr algn="ctr"/>
                      <a:r>
                        <a:rPr sz="1000" b="0">
                          <a:solidFill>
                            <a:srgbClr val="0F172A"/>
                          </a:solidFill>
                          <a:latin typeface="Segoe UI"/>
                        </a:rPr>
                        <a:t>None — retrospective</a:t>
                      </a:r>
                    </a:p>
                  </a:txBody>
                  <a:tcPr marL="91440" marR="91440" marT="27432" marB="27432" anchor="ctr">
                    <a:solidFill>
                      <a:srgbClr val="FFFFFF"/>
                    </a:solidFill>
                  </a:tcPr>
                </a:tc>
                <a:tc>
                  <a:txBody>
                    <a:bodyPr wrap="square"/>
                    <a:lstStyle/>
                    <a:p>
                      <a:pPr algn="ctr"/>
                      <a:r>
                        <a:rPr sz="1000" b="0">
                          <a:solidFill>
                            <a:srgbClr val="0F172A"/>
                          </a:solidFill>
                          <a:latin typeface="Segoe UI"/>
                        </a:rPr>
                        <a:t>No</a:t>
                      </a:r>
                    </a:p>
                  </a:txBody>
                  <a:tcPr marL="91440" marR="91440" marT="27432" marB="27432" anchor="ctr">
                    <a:solidFill>
                      <a:srgbClr val="FFFFFF"/>
                    </a:solidFill>
                  </a:tcPr>
                </a:tc>
              </a:tr>
              <a:tr h="365760">
                <a:tc>
                  <a:txBody>
                    <a:bodyPr wrap="square"/>
                    <a:lstStyle/>
                    <a:p>
                      <a:pPr algn="l"/>
                      <a:r>
                        <a:rPr sz="1000" b="0">
                          <a:solidFill>
                            <a:srgbClr val="0F172A"/>
                          </a:solidFill>
                          <a:latin typeface="Segoe UI"/>
                        </a:rPr>
                        <a:t>CGWB India-WRIS</a:t>
                      </a:r>
                    </a:p>
                  </a:txBody>
                  <a:tcPr marL="91440" marR="91440" marT="27432" marB="27432" anchor="ctr">
                    <a:solidFill>
                      <a:srgbClr val="F8FAFC"/>
                    </a:solidFill>
                  </a:tcPr>
                </a:tc>
                <a:tc>
                  <a:txBody>
                    <a:bodyPr wrap="square"/>
                    <a:lstStyle/>
                    <a:p>
                      <a:pPr algn="ctr"/>
                      <a:r>
                        <a:rPr sz="1000" b="0">
                          <a:solidFill>
                            <a:srgbClr val="0F172A"/>
                          </a:solidFill>
                          <a:latin typeface="Segoe UI"/>
                        </a:rPr>
                        <a:t>point wells, 4×/yr</a:t>
                      </a:r>
                    </a:p>
                  </a:txBody>
                  <a:tcPr marL="91440" marR="91440" marT="27432" marB="27432" anchor="ctr">
                    <a:solidFill>
                      <a:srgbClr val="F8FAFC"/>
                    </a:solidFill>
                  </a:tcPr>
                </a:tc>
                <a:tc>
                  <a:txBody>
                    <a:bodyPr wrap="square"/>
                    <a:lstStyle/>
                    <a:p>
                      <a:pPr algn="ctr"/>
                      <a:r>
                        <a:rPr sz="1000" b="0">
                          <a:solidFill>
                            <a:srgbClr val="0F172A"/>
                          </a:solidFill>
                          <a:latin typeface="Segoe UI"/>
                        </a:rPr>
                        <a:t>None — 6–12 mo lag</a:t>
                      </a:r>
                    </a:p>
                  </a:txBody>
                  <a:tcPr marL="91440" marR="91440" marT="27432" marB="27432" anchor="ctr">
                    <a:solidFill>
                      <a:srgbClr val="F8FAFC"/>
                    </a:solidFill>
                  </a:tcPr>
                </a:tc>
                <a:tc>
                  <a:txBody>
                    <a:bodyPr wrap="square"/>
                    <a:lstStyle/>
                    <a:p>
                      <a:pPr algn="ctr"/>
                      <a:r>
                        <a:rPr sz="1000" b="0">
                          <a:solidFill>
                            <a:srgbClr val="0F172A"/>
                          </a:solidFill>
                          <a:latin typeface="Segoe UI"/>
                        </a:rPr>
                        <a:t>No</a:t>
                      </a:r>
                    </a:p>
                  </a:txBody>
                  <a:tcPr marL="91440" marR="91440" marT="27432" marB="27432" anchor="ctr">
                    <a:solidFill>
                      <a:srgbClr val="F8FAFC"/>
                    </a:solidFill>
                  </a:tcPr>
                </a:tc>
              </a:tr>
              <a:tr h="365760">
                <a:tc>
                  <a:txBody>
                    <a:bodyPr wrap="square"/>
                    <a:lstStyle/>
                    <a:p>
                      <a:pPr algn="l"/>
                      <a:r>
                        <a:rPr sz="1000" b="0">
                          <a:solidFill>
                            <a:srgbClr val="0F172A"/>
                          </a:solidFill>
                          <a:latin typeface="Segoe UI"/>
                        </a:rPr>
                        <a:t>PAU tensiometer</a:t>
                      </a:r>
                    </a:p>
                  </a:txBody>
                  <a:tcPr marL="91440" marR="91440" marT="27432" marB="27432" anchor="ctr">
                    <a:solidFill>
                      <a:srgbClr val="FFFFFF"/>
                    </a:solidFill>
                  </a:tcPr>
                </a:tc>
                <a:tc>
                  <a:txBody>
                    <a:bodyPr wrap="square"/>
                    <a:lstStyle/>
                    <a:p>
                      <a:pPr algn="ctr"/>
                      <a:r>
                        <a:rPr sz="1000" b="0">
                          <a:solidFill>
                            <a:srgbClr val="0F172A"/>
                          </a:solidFill>
                          <a:latin typeface="Segoe UI"/>
                        </a:rPr>
                        <a:t>one field</a:t>
                      </a:r>
                    </a:p>
                  </a:txBody>
                  <a:tcPr marL="91440" marR="91440" marT="27432" marB="27432" anchor="ctr">
                    <a:solidFill>
                      <a:srgbClr val="FFFFFF"/>
                    </a:solidFill>
                  </a:tcPr>
                </a:tc>
                <a:tc>
                  <a:txBody>
                    <a:bodyPr wrap="square"/>
                    <a:lstStyle/>
                    <a:p>
                      <a:pPr algn="ctr"/>
                      <a:r>
                        <a:rPr sz="1000" b="0">
                          <a:solidFill>
                            <a:srgbClr val="0F172A"/>
                          </a:solidFill>
                          <a:latin typeface="Segoe UI"/>
                        </a:rPr>
                        <a:t>Same day</a:t>
                      </a:r>
                    </a:p>
                  </a:txBody>
                  <a:tcPr marL="91440" marR="91440" marT="27432" marB="27432" anchor="ctr">
                    <a:solidFill>
                      <a:srgbClr val="FFFFFF"/>
                    </a:solidFill>
                  </a:tcPr>
                </a:tc>
                <a:tc>
                  <a:txBody>
                    <a:bodyPr wrap="square"/>
                    <a:lstStyle/>
                    <a:p>
                      <a:pPr algn="ctr"/>
                      <a:r>
                        <a:rPr sz="1000" b="0">
                          <a:solidFill>
                            <a:srgbClr val="0F172A"/>
                          </a:solidFill>
                          <a:latin typeface="Segoe UI"/>
                        </a:rPr>
                        <a:t>Irrigate now</a:t>
                      </a:r>
                    </a:p>
                  </a:txBody>
                  <a:tcPr marL="91440" marR="91440" marT="27432" marB="27432" anchor="ctr">
                    <a:solidFill>
                      <a:srgbClr val="FFFFFF"/>
                    </a:solidFill>
                  </a:tcPr>
                </a:tc>
              </a:tr>
              <a:tr h="365760">
                <a:tc>
                  <a:txBody>
                    <a:bodyPr wrap="square"/>
                    <a:lstStyle/>
                    <a:p>
                      <a:pPr algn="l"/>
                      <a:r>
                        <a:rPr sz="1000" b="0">
                          <a:solidFill>
                            <a:srgbClr val="0F172A"/>
                          </a:solidFill>
                          <a:latin typeface="Segoe UI"/>
                        </a:rPr>
                        <a:t>AquaCast</a:t>
                      </a:r>
                    </a:p>
                  </a:txBody>
                  <a:tcPr marL="91440" marR="91440" marT="27432" marB="27432" anchor="ctr">
                    <a:solidFill>
                      <a:srgbClr val="F8FAFC"/>
                    </a:solidFill>
                  </a:tcPr>
                </a:tc>
                <a:tc>
                  <a:txBody>
                    <a:bodyPr wrap="square"/>
                    <a:lstStyle/>
                    <a:p>
                      <a:pPr algn="ctr"/>
                      <a:r>
                        <a:rPr sz="1000" b="0">
                          <a:solidFill>
                            <a:srgbClr val="0F172A"/>
                          </a:solidFill>
                          <a:latin typeface="Segoe UI"/>
                        </a:rPr>
                        <a:t>384 m inputs</a:t>
                      </a:r>
                    </a:p>
                  </a:txBody>
                  <a:tcPr marL="91440" marR="91440" marT="27432" marB="27432" anchor="ctr">
                    <a:solidFill>
                      <a:srgbClr val="F8FAFC"/>
                    </a:solidFill>
                  </a:tcPr>
                </a:tc>
                <a:tc>
                  <a:txBody>
                    <a:bodyPr wrap="square"/>
                    <a:lstStyle/>
                    <a:p>
                      <a:pPr algn="ctr"/>
                      <a:r>
                        <a:rPr sz="1000" b="0">
                          <a:solidFill>
                            <a:srgbClr val="0F172A"/>
                          </a:solidFill>
                          <a:latin typeface="Segoe UI"/>
                        </a:rPr>
                        <a:t>30 / 60 / 90 days</a:t>
                      </a:r>
                    </a:p>
                  </a:txBody>
                  <a:tcPr marL="91440" marR="91440" marT="27432" marB="27432" anchor="ctr">
                    <a:solidFill>
                      <a:srgbClr val="F8FAFC"/>
                    </a:solidFill>
                  </a:tcPr>
                </a:tc>
                <a:tc>
                  <a:txBody>
                    <a:bodyPr wrap="square"/>
                    <a:lstStyle/>
                    <a:p>
                      <a:pPr algn="ctr"/>
                      <a:r>
                        <a:rPr sz="1000" b="0">
                          <a:solidFill>
                            <a:srgbClr val="0F172A"/>
                          </a:solidFill>
                          <a:latin typeface="Segoe UI"/>
                        </a:rPr>
                        <a:t>Yes — hours &amp; ₹</a:t>
                      </a:r>
                    </a:p>
                  </a:txBody>
                  <a:tcPr marL="91440" marR="91440" marT="27432" marB="27432" anchor="ctr">
                    <a:solidFill>
                      <a:srgbClr val="F8FAFC"/>
                    </a:solidFill>
                  </a:tcPr>
                </a:tc>
              </a:tr>
            </a:tbl>
          </a:graphicData>
        </a:graphic>
      </p:graphicFrame>
      <p:sp>
        <p:nvSpPr>
          <p:cNvPr id="31" name="TextBox 30"/>
          <p:cNvSpPr txBox="1"/>
          <p:nvPr/>
        </p:nvSpPr>
        <p:spPr>
          <a:xfrm>
            <a:off x="566928" y="6419088"/>
            <a:ext cx="8229600" cy="237744"/>
          </a:xfrm>
          <a:prstGeom prst="rect">
            <a:avLst/>
          </a:prstGeom>
          <a:noFill/>
        </p:spPr>
        <p:txBody>
          <a:bodyPr wrap="square" lIns="0" rIns="0" tIns="0" bIns="0" anchor="t">
            <a:spAutoFit/>
          </a:bodyPr>
          <a:lstStyle/>
          <a:p>
            <a:pPr algn="l">
              <a:lnSpc>
                <a:spcPct val="100000"/>
              </a:lnSpc>
              <a:spcAft>
                <a:spcPts val="400"/>
              </a:spcAft>
            </a:pPr>
            <a:r>
              <a:rPr sz="850" b="0">
                <a:solidFill>
                  <a:srgbClr val="94A3B8"/>
                </a:solidFill>
                <a:latin typeface="Segoe UI"/>
              </a:rPr>
              <a:t>AquaCast-Punjab  ·  Sankalp — Climate-Smart Agriculture, Water &amp; Rural Credit</a:t>
            </a:r>
          </a:p>
        </p:txBody>
      </p:sp>
      <p:sp>
        <p:nvSpPr>
          <p:cNvPr id="32" name="TextBox 31"/>
          <p:cNvSpPr txBox="1"/>
          <p:nvPr/>
        </p:nvSpPr>
        <p:spPr>
          <a:xfrm>
            <a:off x="10972800" y="6419088"/>
            <a:ext cx="685800" cy="237744"/>
          </a:xfrm>
          <a:prstGeom prst="rect">
            <a:avLst/>
          </a:prstGeom>
          <a:noFill/>
        </p:spPr>
        <p:txBody>
          <a:bodyPr wrap="square" lIns="0" rIns="0" tIns="0" bIns="0" anchor="t">
            <a:spAutoFit/>
          </a:bodyPr>
          <a:lstStyle/>
          <a:p>
            <a:pPr algn="r">
              <a:lnSpc>
                <a:spcPct val="100000"/>
              </a:lnSpc>
              <a:spcAft>
                <a:spcPts val="400"/>
              </a:spcAft>
            </a:pPr>
            <a:r>
              <a:rPr sz="850" b="1">
                <a:solidFill>
                  <a:srgbClr val="94A3B8"/>
                </a:solidFill>
                <a:latin typeface="Segoe UI"/>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E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395728"/>
            <a:ext cx="12191695" cy="1920240"/>
          </a:xfrm>
          <a:prstGeom prst="rect">
            <a:avLst/>
          </a:prstGeom>
          <a:solidFill>
            <a:srgbClr val="13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2395728"/>
            <a:ext cx="82296" cy="1920240"/>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2670048"/>
            <a:ext cx="10607040" cy="457200"/>
          </a:xfrm>
          <a:prstGeom prst="rect">
            <a:avLst/>
          </a:prstGeom>
          <a:noFill/>
        </p:spPr>
        <p:txBody>
          <a:bodyPr wrap="square" lIns="0" rIns="0" tIns="0" bIns="0" anchor="t">
            <a:spAutoFit/>
          </a:bodyPr>
          <a:lstStyle/>
          <a:p>
            <a:pPr algn="l">
              <a:lnSpc>
                <a:spcPct val="100000"/>
              </a:lnSpc>
              <a:spcAft>
                <a:spcPts val="400"/>
              </a:spcAft>
            </a:pPr>
            <a:r>
              <a:rPr sz="1500" b="1">
                <a:solidFill>
                  <a:srgbClr val="0EA5E9"/>
                </a:solidFill>
                <a:latin typeface="Segoe UI"/>
              </a:rPr>
              <a:t>04</a:t>
            </a:r>
          </a:p>
        </p:txBody>
      </p:sp>
      <p:sp>
        <p:nvSpPr>
          <p:cNvPr id="6" name="TextBox 5"/>
          <p:cNvSpPr txBox="1"/>
          <p:nvPr/>
        </p:nvSpPr>
        <p:spPr>
          <a:xfrm>
            <a:off x="777240" y="2999232"/>
            <a:ext cx="10607040" cy="731520"/>
          </a:xfrm>
          <a:prstGeom prst="rect">
            <a:avLst/>
          </a:prstGeom>
          <a:noFill/>
        </p:spPr>
        <p:txBody>
          <a:bodyPr wrap="square" lIns="0" rIns="0" tIns="0" bIns="0" anchor="t">
            <a:spAutoFit/>
          </a:bodyPr>
          <a:lstStyle/>
          <a:p>
            <a:pPr algn="l">
              <a:lnSpc>
                <a:spcPct val="100000"/>
              </a:lnSpc>
              <a:spcAft>
                <a:spcPts val="400"/>
              </a:spcAft>
            </a:pPr>
            <a:r>
              <a:rPr sz="3400" b="1">
                <a:solidFill>
                  <a:srgbClr val="FFFFFF"/>
                </a:solidFill>
                <a:latin typeface="Segoe UI"/>
              </a:rPr>
              <a:t>The Climate Farm Twin</a:t>
            </a:r>
          </a:p>
        </p:txBody>
      </p:sp>
      <p:sp>
        <p:nvSpPr>
          <p:cNvPr id="7" name="TextBox 6"/>
          <p:cNvSpPr txBox="1"/>
          <p:nvPr/>
        </p:nvSpPr>
        <p:spPr>
          <a:xfrm>
            <a:off x="777240" y="3675887"/>
            <a:ext cx="10607040" cy="457200"/>
          </a:xfrm>
          <a:prstGeom prst="rect">
            <a:avLst/>
          </a:prstGeom>
          <a:noFill/>
        </p:spPr>
        <p:txBody>
          <a:bodyPr wrap="square" lIns="0" rIns="0" tIns="0" bIns="0" anchor="t">
            <a:spAutoFit/>
          </a:bodyPr>
          <a:lstStyle/>
          <a:p>
            <a:pPr algn="l">
              <a:lnSpc>
                <a:spcPct val="100000"/>
              </a:lnSpc>
              <a:spcAft>
                <a:spcPts val="400"/>
              </a:spcAft>
            </a:pPr>
            <a:r>
              <a:rPr sz="1300" b="0">
                <a:solidFill>
                  <a:srgbClr val="9FBAD3"/>
                </a:solidFill>
                <a:latin typeface="Segoe UI"/>
              </a:rPr>
              <a:t>Forecast -&gt; Simulate -&gt; Optimize -&gt; Finance -&gt; Verify</a:t>
            </a:r>
          </a:p>
        </p:txBody>
      </p:sp>
      <p:sp>
        <p:nvSpPr>
          <p:cNvPr id="8" name="TextBox 7"/>
          <p:cNvSpPr txBox="1"/>
          <p:nvPr/>
        </p:nvSpPr>
        <p:spPr>
          <a:xfrm>
            <a:off x="566928" y="6419088"/>
            <a:ext cx="8229600" cy="237744"/>
          </a:xfrm>
          <a:prstGeom prst="rect">
            <a:avLst/>
          </a:prstGeom>
          <a:noFill/>
        </p:spPr>
        <p:txBody>
          <a:bodyPr wrap="square" lIns="0" rIns="0" tIns="0" bIns="0" anchor="t">
            <a:spAutoFit/>
          </a:bodyPr>
          <a:lstStyle/>
          <a:p>
            <a:pPr algn="l">
              <a:lnSpc>
                <a:spcPct val="100000"/>
              </a:lnSpc>
              <a:spcAft>
                <a:spcPts val="400"/>
              </a:spcAft>
            </a:pPr>
            <a:r>
              <a:rPr sz="850" b="0">
                <a:solidFill>
                  <a:srgbClr val="5A7A99"/>
                </a:solidFill>
                <a:latin typeface="Segoe UI"/>
              </a:rPr>
              <a:t>AquaCast-Punjab  ·  Sankalp — Climate-Smart Agriculture, Water &amp; Rural Credit</a:t>
            </a:r>
          </a:p>
        </p:txBody>
      </p:sp>
      <p:sp>
        <p:nvSpPr>
          <p:cNvPr id="9" name="TextBox 8"/>
          <p:cNvSpPr txBox="1"/>
          <p:nvPr/>
        </p:nvSpPr>
        <p:spPr>
          <a:xfrm>
            <a:off x="10972800" y="6419088"/>
            <a:ext cx="685800" cy="237744"/>
          </a:xfrm>
          <a:prstGeom prst="rect">
            <a:avLst/>
          </a:prstGeom>
          <a:noFill/>
        </p:spPr>
        <p:txBody>
          <a:bodyPr wrap="square" lIns="0" rIns="0" tIns="0" bIns="0" anchor="t">
            <a:spAutoFit/>
          </a:bodyPr>
          <a:lstStyle/>
          <a:p>
            <a:pPr algn="r">
              <a:lnSpc>
                <a:spcPct val="100000"/>
              </a:lnSpc>
              <a:spcAft>
                <a:spcPts val="400"/>
              </a:spcAft>
            </a:pPr>
            <a:r>
              <a:rPr sz="850" b="1">
                <a:solidFill>
                  <a:srgbClr val="5A7A99"/>
                </a:solidFill>
                <a:latin typeface="Segoe UI"/>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11064240" cy="256032"/>
          </a:xfrm>
          <a:prstGeom prst="rect">
            <a:avLst/>
          </a:prstGeom>
          <a:noFill/>
        </p:spPr>
        <p:txBody>
          <a:bodyPr wrap="square" lIns="0" rIns="0" tIns="0" bIns="0" anchor="t">
            <a:spAutoFit/>
          </a:bodyPr>
          <a:lstStyle/>
          <a:p>
            <a:pPr algn="l">
              <a:lnSpc>
                <a:spcPct val="100000"/>
              </a:lnSpc>
              <a:spcAft>
                <a:spcPts val="400"/>
              </a:spcAft>
            </a:pPr>
            <a:r>
              <a:rPr sz="1050" b="1">
                <a:solidFill>
                  <a:srgbClr val="0369A1"/>
                </a:solidFill>
                <a:latin typeface="Segoe UI"/>
              </a:rPr>
              <a:t>CLIMATE TWIN · 2 HA · SANGRUR</a:t>
            </a:r>
          </a:p>
        </p:txBody>
      </p:sp>
      <p:sp>
        <p:nvSpPr>
          <p:cNvPr id="4" name="TextBox 3"/>
          <p:cNvSpPr txBox="1"/>
          <p:nvPr/>
        </p:nvSpPr>
        <p:spPr>
          <a:xfrm>
            <a:off x="566928" y="640080"/>
            <a:ext cx="11064240" cy="658368"/>
          </a:xfrm>
          <a:prstGeom prst="rect">
            <a:avLst/>
          </a:prstGeom>
          <a:noFill/>
        </p:spPr>
        <p:txBody>
          <a:bodyPr wrap="square" lIns="0" rIns="0" tIns="0" bIns="0" anchor="t">
            <a:spAutoFit/>
          </a:bodyPr>
          <a:lstStyle/>
          <a:p>
            <a:pPr algn="l">
              <a:lnSpc>
                <a:spcPct val="100000"/>
              </a:lnSpc>
              <a:spcAft>
                <a:spcPts val="400"/>
              </a:spcAft>
            </a:pPr>
            <a:r>
              <a:rPr sz="2500" b="1">
                <a:solidFill>
                  <a:srgbClr val="0F172A"/>
                </a:solidFill>
                <a:latin typeface="Segoe UI"/>
              </a:rPr>
              <a:t>The farm Punjab has today is not the best farm available to it</a:t>
            </a:r>
          </a:p>
        </p:txBody>
      </p:sp>
      <p:sp>
        <p:nvSpPr>
          <p:cNvPr id="5" name="Rectangle 4"/>
          <p:cNvSpPr/>
          <p:nvPr/>
        </p:nvSpPr>
        <p:spPr>
          <a:xfrm>
            <a:off x="566928" y="1335024"/>
            <a:ext cx="658368"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ounded Rectangle 5"/>
          <p:cNvSpPr/>
          <p:nvPr/>
        </p:nvSpPr>
        <p:spPr>
          <a:xfrm>
            <a:off x="566928" y="1554480"/>
            <a:ext cx="2615184" cy="1225296"/>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566928" y="1554480"/>
            <a:ext cx="50292" cy="1225296"/>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22960" y="1737360"/>
            <a:ext cx="2203704" cy="603504"/>
          </a:xfrm>
          <a:prstGeom prst="rect">
            <a:avLst/>
          </a:prstGeom>
          <a:noFill/>
        </p:spPr>
        <p:txBody>
          <a:bodyPr wrap="square" lIns="0" rIns="0" tIns="0" bIns="0" anchor="t">
            <a:spAutoFit/>
          </a:bodyPr>
          <a:lstStyle/>
          <a:p>
            <a:pPr algn="l">
              <a:lnSpc>
                <a:spcPct val="100000"/>
              </a:lnSpc>
              <a:spcAft>
                <a:spcPts val="400"/>
              </a:spcAft>
            </a:pPr>
            <a:r>
              <a:rPr sz="2400" b="1">
                <a:solidFill>
                  <a:srgbClr val="EF4444"/>
                </a:solidFill>
                <a:latin typeface="Segoe UI"/>
              </a:rPr>
              <a:t>18,000 m³</a:t>
            </a:r>
          </a:p>
        </p:txBody>
      </p:sp>
      <p:sp>
        <p:nvSpPr>
          <p:cNvPr id="9" name="TextBox 8"/>
          <p:cNvSpPr txBox="1"/>
          <p:nvPr/>
        </p:nvSpPr>
        <p:spPr>
          <a:xfrm>
            <a:off x="822960" y="2340864"/>
            <a:ext cx="2203704" cy="457200"/>
          </a:xfrm>
          <a:prstGeom prst="rect">
            <a:avLst/>
          </a:prstGeom>
          <a:noFill/>
        </p:spPr>
        <p:txBody>
          <a:bodyPr wrap="square" lIns="0" rIns="0" tIns="0" bIns="0" anchor="t">
            <a:spAutoFit/>
          </a:bodyPr>
          <a:lstStyle/>
          <a:p>
            <a:pPr algn="l">
              <a:lnSpc>
                <a:spcPct val="95000"/>
              </a:lnSpc>
              <a:spcAft>
                <a:spcPts val="400"/>
              </a:spcAft>
            </a:pPr>
            <a:r>
              <a:rPr sz="1050" b="0">
                <a:solidFill>
                  <a:srgbClr val="64748B"/>
                </a:solidFill>
                <a:latin typeface="Segoe UI"/>
              </a:rPr>
              <a:t>groundwater drafted each year</a:t>
            </a:r>
          </a:p>
        </p:txBody>
      </p:sp>
      <p:sp>
        <p:nvSpPr>
          <p:cNvPr id="10" name="TextBox 9"/>
          <p:cNvSpPr txBox="1"/>
          <p:nvPr/>
        </p:nvSpPr>
        <p:spPr>
          <a:xfrm>
            <a:off x="822960" y="2359152"/>
            <a:ext cx="2203704" cy="274320"/>
          </a:xfrm>
          <a:prstGeom prst="rect">
            <a:avLst/>
          </a:prstGeom>
          <a:noFill/>
        </p:spPr>
        <p:txBody>
          <a:bodyPr wrap="square" lIns="0" rIns="0" tIns="0" bIns="0" anchor="t">
            <a:spAutoFit/>
          </a:bodyPr>
          <a:lstStyle/>
          <a:p>
            <a:pPr algn="l">
              <a:lnSpc>
                <a:spcPct val="100000"/>
              </a:lnSpc>
              <a:spcAft>
                <a:spcPts val="400"/>
              </a:spcAft>
            </a:pPr>
            <a:r>
              <a:rPr sz="900" b="1">
                <a:solidFill>
                  <a:srgbClr val="EF4444"/>
                </a:solidFill>
                <a:latin typeface="Segoe UI"/>
              </a:rPr>
              <a:t>paddy–wheat, flood irrigated</a:t>
            </a:r>
          </a:p>
        </p:txBody>
      </p:sp>
      <p:sp>
        <p:nvSpPr>
          <p:cNvPr id="11" name="Rounded Rectangle 10"/>
          <p:cNvSpPr/>
          <p:nvPr/>
        </p:nvSpPr>
        <p:spPr>
          <a:xfrm>
            <a:off x="3401568" y="1554480"/>
            <a:ext cx="2615184" cy="1225296"/>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3401568" y="1554480"/>
            <a:ext cx="50292" cy="1225296"/>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3657600" y="1737360"/>
            <a:ext cx="2203704" cy="603504"/>
          </a:xfrm>
          <a:prstGeom prst="rect">
            <a:avLst/>
          </a:prstGeom>
          <a:noFill/>
        </p:spPr>
        <p:txBody>
          <a:bodyPr wrap="square" lIns="0" rIns="0" tIns="0" bIns="0" anchor="t">
            <a:spAutoFit/>
          </a:bodyPr>
          <a:lstStyle/>
          <a:p>
            <a:pPr algn="l">
              <a:lnSpc>
                <a:spcPct val="100000"/>
              </a:lnSpc>
              <a:spcAft>
                <a:spcPts val="400"/>
              </a:spcAft>
            </a:pPr>
            <a:r>
              <a:rPr sz="2400" b="1">
                <a:solidFill>
                  <a:srgbClr val="EF4444"/>
                </a:solidFill>
                <a:latin typeface="Segoe UI"/>
              </a:rPr>
              <a:t>3.93 m/yr</a:t>
            </a:r>
          </a:p>
        </p:txBody>
      </p:sp>
      <p:sp>
        <p:nvSpPr>
          <p:cNvPr id="14" name="TextBox 13"/>
          <p:cNvSpPr txBox="1"/>
          <p:nvPr/>
        </p:nvSpPr>
        <p:spPr>
          <a:xfrm>
            <a:off x="3657600" y="2340864"/>
            <a:ext cx="2203704" cy="457200"/>
          </a:xfrm>
          <a:prstGeom prst="rect">
            <a:avLst/>
          </a:prstGeom>
          <a:noFill/>
        </p:spPr>
        <p:txBody>
          <a:bodyPr wrap="square" lIns="0" rIns="0" tIns="0" bIns="0" anchor="t">
            <a:spAutoFit/>
          </a:bodyPr>
          <a:lstStyle/>
          <a:p>
            <a:pPr algn="l">
              <a:lnSpc>
                <a:spcPct val="95000"/>
              </a:lnSpc>
              <a:spcAft>
                <a:spcPts val="400"/>
              </a:spcAft>
            </a:pPr>
            <a:r>
              <a:rPr sz="1050" b="0">
                <a:solidFill>
                  <a:srgbClr val="64748B"/>
                </a:solidFill>
                <a:latin typeface="Segoe UI"/>
              </a:rPr>
              <a:t>the water table falls beneath this farm</a:t>
            </a:r>
          </a:p>
        </p:txBody>
      </p:sp>
      <p:sp>
        <p:nvSpPr>
          <p:cNvPr id="15" name="TextBox 14"/>
          <p:cNvSpPr txBox="1"/>
          <p:nvPr/>
        </p:nvSpPr>
        <p:spPr>
          <a:xfrm>
            <a:off x="3657600" y="2359152"/>
            <a:ext cx="2203704" cy="274320"/>
          </a:xfrm>
          <a:prstGeom prst="rect">
            <a:avLst/>
          </a:prstGeom>
          <a:noFill/>
        </p:spPr>
        <p:txBody>
          <a:bodyPr wrap="square" lIns="0" rIns="0" tIns="0" bIns="0" anchor="t">
            <a:spAutoFit/>
          </a:bodyPr>
          <a:lstStyle/>
          <a:p>
            <a:pPr algn="l">
              <a:lnSpc>
                <a:spcPct val="100000"/>
              </a:lnSpc>
              <a:spcAft>
                <a:spcPts val="400"/>
              </a:spcAft>
            </a:pPr>
            <a:r>
              <a:rPr sz="900" b="1">
                <a:solidFill>
                  <a:srgbClr val="EF4444"/>
                </a:solidFill>
                <a:latin typeface="Segoe UI"/>
              </a:rPr>
              <a:t>district average is 0.8 m/yr</a:t>
            </a:r>
          </a:p>
        </p:txBody>
      </p:sp>
      <p:sp>
        <p:nvSpPr>
          <p:cNvPr id="16" name="Rounded Rectangle 15"/>
          <p:cNvSpPr/>
          <p:nvPr/>
        </p:nvSpPr>
        <p:spPr>
          <a:xfrm>
            <a:off x="6236208" y="1554480"/>
            <a:ext cx="2615184" cy="1225296"/>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6236208" y="1554480"/>
            <a:ext cx="50292" cy="1225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6492240" y="1737360"/>
            <a:ext cx="2203704" cy="603504"/>
          </a:xfrm>
          <a:prstGeom prst="rect">
            <a:avLst/>
          </a:prstGeom>
          <a:noFill/>
        </p:spPr>
        <p:txBody>
          <a:bodyPr wrap="square" lIns="0" rIns="0" tIns="0" bIns="0" anchor="t">
            <a:spAutoFit/>
          </a:bodyPr>
          <a:lstStyle/>
          <a:p>
            <a:pPr algn="l">
              <a:lnSpc>
                <a:spcPct val="100000"/>
              </a:lnSpc>
              <a:spcAft>
                <a:spcPts val="400"/>
              </a:spcAft>
            </a:pPr>
            <a:r>
              <a:rPr sz="3000" b="1">
                <a:solidFill>
                  <a:srgbClr val="F59E0B"/>
                </a:solidFill>
                <a:latin typeface="Segoe UI"/>
              </a:rPr>
              <a:t>1.5 yr</a:t>
            </a:r>
          </a:p>
        </p:txBody>
      </p:sp>
      <p:sp>
        <p:nvSpPr>
          <p:cNvPr id="19" name="TextBox 18"/>
          <p:cNvSpPr txBox="1"/>
          <p:nvPr/>
        </p:nvSpPr>
        <p:spPr>
          <a:xfrm>
            <a:off x="6492240" y="2340864"/>
            <a:ext cx="2203704" cy="457200"/>
          </a:xfrm>
          <a:prstGeom prst="rect">
            <a:avLst/>
          </a:prstGeom>
          <a:noFill/>
        </p:spPr>
        <p:txBody>
          <a:bodyPr wrap="square" lIns="0" rIns="0" tIns="0" bIns="0" anchor="t">
            <a:spAutoFit/>
          </a:bodyPr>
          <a:lstStyle/>
          <a:p>
            <a:pPr algn="l">
              <a:lnSpc>
                <a:spcPct val="95000"/>
              </a:lnSpc>
              <a:spcAft>
                <a:spcPts val="400"/>
              </a:spcAft>
            </a:pPr>
            <a:r>
              <a:rPr sz="1050" b="0">
                <a:solidFill>
                  <a:srgbClr val="64748B"/>
                </a:solidFill>
                <a:latin typeface="Segoe UI"/>
              </a:rPr>
              <a:t>before the pump intake runs dry</a:t>
            </a:r>
          </a:p>
        </p:txBody>
      </p:sp>
      <p:sp>
        <p:nvSpPr>
          <p:cNvPr id="20" name="TextBox 19"/>
          <p:cNvSpPr txBox="1"/>
          <p:nvPr/>
        </p:nvSpPr>
        <p:spPr>
          <a:xfrm>
            <a:off x="6492240" y="2359152"/>
            <a:ext cx="2203704" cy="274320"/>
          </a:xfrm>
          <a:prstGeom prst="rect">
            <a:avLst/>
          </a:prstGeom>
          <a:noFill/>
        </p:spPr>
        <p:txBody>
          <a:bodyPr wrap="square" lIns="0" rIns="0" tIns="0" bIns="0" anchor="t">
            <a:spAutoFit/>
          </a:bodyPr>
          <a:lstStyle/>
          <a:p>
            <a:pPr algn="l">
              <a:lnSpc>
                <a:spcPct val="100000"/>
              </a:lnSpc>
              <a:spcAft>
                <a:spcPts val="400"/>
              </a:spcAft>
            </a:pPr>
            <a:r>
              <a:rPr sz="900" b="1">
                <a:solidFill>
                  <a:srgbClr val="F59E0B"/>
                </a:solidFill>
                <a:latin typeface="Segoe UI"/>
              </a:rPr>
              <a:t>2.2 more on the recommended plan</a:t>
            </a:r>
          </a:p>
        </p:txBody>
      </p:sp>
      <p:sp>
        <p:nvSpPr>
          <p:cNvPr id="21" name="Rounded Rectangle 20"/>
          <p:cNvSpPr/>
          <p:nvPr/>
        </p:nvSpPr>
        <p:spPr>
          <a:xfrm>
            <a:off x="9070848" y="1554480"/>
            <a:ext cx="2615184" cy="1225296"/>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9070848" y="1554480"/>
            <a:ext cx="50292" cy="1225296"/>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9326880" y="1737360"/>
            <a:ext cx="2203704" cy="603504"/>
          </a:xfrm>
          <a:prstGeom prst="rect">
            <a:avLst/>
          </a:prstGeom>
          <a:noFill/>
        </p:spPr>
        <p:txBody>
          <a:bodyPr wrap="square" lIns="0" rIns="0" tIns="0" bIns="0" anchor="t">
            <a:spAutoFit/>
          </a:bodyPr>
          <a:lstStyle/>
          <a:p>
            <a:pPr algn="l">
              <a:lnSpc>
                <a:spcPct val="100000"/>
              </a:lnSpc>
              <a:spcAft>
                <a:spcPts val="400"/>
              </a:spcAft>
            </a:pPr>
            <a:r>
              <a:rPr sz="2400" b="1">
                <a:solidFill>
                  <a:srgbClr val="0369A1"/>
                </a:solidFill>
                <a:latin typeface="Segoe UI"/>
              </a:rPr>
              <a:t>₹26,500/acre</a:t>
            </a:r>
          </a:p>
        </p:txBody>
      </p:sp>
      <p:sp>
        <p:nvSpPr>
          <p:cNvPr id="24" name="TextBox 23"/>
          <p:cNvSpPr txBox="1"/>
          <p:nvPr/>
        </p:nvSpPr>
        <p:spPr>
          <a:xfrm>
            <a:off x="9326880" y="2340864"/>
            <a:ext cx="2203704" cy="457200"/>
          </a:xfrm>
          <a:prstGeom prst="rect">
            <a:avLst/>
          </a:prstGeom>
          <a:noFill/>
        </p:spPr>
        <p:txBody>
          <a:bodyPr wrap="square" lIns="0" rIns="0" tIns="0" bIns="0" anchor="t">
            <a:spAutoFit/>
          </a:bodyPr>
          <a:lstStyle/>
          <a:p>
            <a:pPr algn="l">
              <a:lnSpc>
                <a:spcPct val="95000"/>
              </a:lnSpc>
              <a:spcAft>
                <a:spcPts val="400"/>
              </a:spcAft>
            </a:pPr>
            <a:r>
              <a:rPr sz="1050" b="0">
                <a:solidFill>
                  <a:srgbClr val="64748B"/>
                </a:solidFill>
                <a:latin typeface="Segoe UI"/>
              </a:rPr>
              <a:t>net income, over total cost</a:t>
            </a:r>
          </a:p>
        </p:txBody>
      </p:sp>
      <p:sp>
        <p:nvSpPr>
          <p:cNvPr id="25" name="TextBox 24"/>
          <p:cNvSpPr txBox="1"/>
          <p:nvPr/>
        </p:nvSpPr>
        <p:spPr>
          <a:xfrm>
            <a:off x="9326880" y="2359152"/>
            <a:ext cx="2203704" cy="274320"/>
          </a:xfrm>
          <a:prstGeom prst="rect">
            <a:avLst/>
          </a:prstGeom>
          <a:noFill/>
        </p:spPr>
        <p:txBody>
          <a:bodyPr wrap="square" lIns="0" rIns="0" tIns="0" bIns="0" anchor="t">
            <a:spAutoFit/>
          </a:bodyPr>
          <a:lstStyle/>
          <a:p>
            <a:pPr algn="l">
              <a:lnSpc>
                <a:spcPct val="100000"/>
              </a:lnSpc>
              <a:spcAft>
                <a:spcPts val="400"/>
              </a:spcAft>
            </a:pPr>
            <a:r>
              <a:rPr sz="900" b="1">
                <a:solidFill>
                  <a:srgbClr val="0369A1"/>
                </a:solidFill>
                <a:latin typeface="Segoe UI"/>
              </a:rPr>
              <a:t>calibrated to the lender's own constant</a:t>
            </a:r>
          </a:p>
        </p:txBody>
      </p:sp>
      <p:sp>
        <p:nvSpPr>
          <p:cNvPr id="26" name="Rounded Rectangle 25"/>
          <p:cNvSpPr/>
          <p:nvPr/>
        </p:nvSpPr>
        <p:spPr>
          <a:xfrm>
            <a:off x="566928" y="3035808"/>
            <a:ext cx="11064240" cy="1874519"/>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566928" y="3035808"/>
            <a:ext cx="50292" cy="1874519"/>
          </a:xfrm>
          <a:prstGeom prst="rect">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822960" y="3200400"/>
            <a:ext cx="10515600" cy="274320"/>
          </a:xfrm>
          <a:prstGeom prst="rect">
            <a:avLst/>
          </a:prstGeom>
          <a:noFill/>
        </p:spPr>
        <p:txBody>
          <a:bodyPr wrap="square" lIns="0" rIns="0" tIns="0" bIns="0" anchor="t">
            <a:spAutoFit/>
          </a:bodyPr>
          <a:lstStyle/>
          <a:p>
            <a:pPr algn="l">
              <a:lnSpc>
                <a:spcPct val="100000"/>
              </a:lnSpc>
              <a:spcAft>
                <a:spcPts val="400"/>
              </a:spcAft>
            </a:pPr>
            <a:r>
              <a:rPr sz="1500" b="1">
                <a:solidFill>
                  <a:srgbClr val="0F172A"/>
                </a:solidFill>
                <a:latin typeface="Segoe UI"/>
              </a:rPr>
              <a:t>A Punjab farm is a double crop — and modelling it as one understates it by half</a:t>
            </a:r>
          </a:p>
        </p:txBody>
      </p:sp>
      <p:sp>
        <p:nvSpPr>
          <p:cNvPr id="29" name="TextBox 28"/>
          <p:cNvSpPr txBox="1"/>
          <p:nvPr/>
        </p:nvSpPr>
        <p:spPr>
          <a:xfrm>
            <a:off x="822960" y="3602736"/>
            <a:ext cx="10515600" cy="1188720"/>
          </a:xfrm>
          <a:prstGeom prst="rect">
            <a:avLst/>
          </a:prstGeom>
          <a:noFill/>
        </p:spPr>
        <p:txBody>
          <a:bodyPr wrap="square" lIns="0" rIns="0" tIns="0" bIns="0" anchor="t">
            <a:spAutoFit/>
          </a:bodyPr>
          <a:lstStyle/>
          <a:p>
            <a:pPr algn="l">
              <a:lnSpc>
                <a:spcPct val="130000"/>
              </a:lnSpc>
              <a:spcAft>
                <a:spcPts val="400"/>
              </a:spcAft>
            </a:pPr>
            <a:r>
              <a:rPr sz="1150" b="0">
                <a:solidFill>
                  <a:srgbClr val="64748B"/>
                </a:solidFill>
                <a:latin typeface="Segoe UI"/>
              </a:rPr>
              <a:t>Modelled as a single kharif season, 2 ha nets ₹72,000/yr. Modelled as the paddy–wheat rotation it actually is, the same farm nets ₹130,966/yr across 4.0 ha cropped = ₹26,500 per acre.</a:t>
            </a:r>
            <a:r>
              <a:rPr sz="1150" b="1">
                <a:solidFill>
                  <a:srgbClr val="0F172A"/>
                </a:solidFill>
                <a:latin typeface="Segoe UI"/>
              </a:rPr>
              <a:t>That figure is not a coincidence: it is exactly the constant credit_risk_engine was calibrated against. The farmer's twin and the lender's model read the same number, because they cannot be allowed to disagree.</a:t>
            </a:r>
          </a:p>
        </p:txBody>
      </p:sp>
      <p:sp>
        <p:nvSpPr>
          <p:cNvPr id="30" name="TextBox 29"/>
          <p:cNvSpPr txBox="1"/>
          <p:nvPr/>
        </p:nvSpPr>
        <p:spPr>
          <a:xfrm>
            <a:off x="566928" y="6419088"/>
            <a:ext cx="8229600" cy="237744"/>
          </a:xfrm>
          <a:prstGeom prst="rect">
            <a:avLst/>
          </a:prstGeom>
          <a:noFill/>
        </p:spPr>
        <p:txBody>
          <a:bodyPr wrap="square" lIns="0" rIns="0" tIns="0" bIns="0" anchor="t">
            <a:spAutoFit/>
          </a:bodyPr>
          <a:lstStyle/>
          <a:p>
            <a:pPr algn="l">
              <a:lnSpc>
                <a:spcPct val="100000"/>
              </a:lnSpc>
              <a:spcAft>
                <a:spcPts val="400"/>
              </a:spcAft>
            </a:pPr>
            <a:r>
              <a:rPr sz="850" b="0">
                <a:solidFill>
                  <a:srgbClr val="94A3B8"/>
                </a:solidFill>
                <a:latin typeface="Segoe UI"/>
              </a:rPr>
              <a:t>AquaCast-Punjab  ·  Sankalp — Climate-Smart Agriculture, Water &amp; Rural Credit</a:t>
            </a:r>
          </a:p>
        </p:txBody>
      </p:sp>
      <p:sp>
        <p:nvSpPr>
          <p:cNvPr id="31" name="TextBox 30"/>
          <p:cNvSpPr txBox="1"/>
          <p:nvPr/>
        </p:nvSpPr>
        <p:spPr>
          <a:xfrm>
            <a:off x="10972800" y="6419088"/>
            <a:ext cx="685800" cy="237744"/>
          </a:xfrm>
          <a:prstGeom prst="rect">
            <a:avLst/>
          </a:prstGeom>
          <a:noFill/>
        </p:spPr>
        <p:txBody>
          <a:bodyPr wrap="square" lIns="0" rIns="0" tIns="0" bIns="0" anchor="t">
            <a:spAutoFit/>
          </a:bodyPr>
          <a:lstStyle/>
          <a:p>
            <a:pPr algn="r">
              <a:lnSpc>
                <a:spcPct val="100000"/>
              </a:lnSpc>
              <a:spcAft>
                <a:spcPts val="400"/>
              </a:spcAft>
            </a:pPr>
            <a:r>
              <a:rPr sz="850" b="1">
                <a:solidFill>
                  <a:srgbClr val="94A3B8"/>
                </a:solidFill>
                <a:latin typeface="Segoe UI"/>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11064240" cy="256032"/>
          </a:xfrm>
          <a:prstGeom prst="rect">
            <a:avLst/>
          </a:prstGeom>
          <a:noFill/>
        </p:spPr>
        <p:txBody>
          <a:bodyPr wrap="square" lIns="0" rIns="0" tIns="0" bIns="0" anchor="t">
            <a:spAutoFit/>
          </a:bodyPr>
          <a:lstStyle/>
          <a:p>
            <a:pPr algn="l">
              <a:lnSpc>
                <a:spcPct val="100000"/>
              </a:lnSpc>
              <a:spcAft>
                <a:spcPts val="400"/>
              </a:spcAft>
            </a:pPr>
            <a:r>
              <a:rPr sz="1050" b="1">
                <a:solidFill>
                  <a:srgbClr val="0369A1"/>
                </a:solidFill>
                <a:latin typeface="Segoe UI"/>
              </a:rPr>
              <a:t>MULTI-OBJECTIVE SEARCH · 12,584 PLANS EVALUATED</a:t>
            </a:r>
          </a:p>
        </p:txBody>
      </p:sp>
      <p:sp>
        <p:nvSpPr>
          <p:cNvPr id="4" name="TextBox 3"/>
          <p:cNvSpPr txBox="1"/>
          <p:nvPr/>
        </p:nvSpPr>
        <p:spPr>
          <a:xfrm>
            <a:off x="566928" y="640080"/>
            <a:ext cx="11064240" cy="658368"/>
          </a:xfrm>
          <a:prstGeom prst="rect">
            <a:avLst/>
          </a:prstGeom>
          <a:noFill/>
        </p:spPr>
        <p:txBody>
          <a:bodyPr wrap="square" lIns="0" rIns="0" tIns="0" bIns="0" anchor="t">
            <a:spAutoFit/>
          </a:bodyPr>
          <a:lstStyle/>
          <a:p>
            <a:pPr algn="l">
              <a:lnSpc>
                <a:spcPct val="100000"/>
              </a:lnSpc>
              <a:spcAft>
                <a:spcPts val="400"/>
              </a:spcAft>
            </a:pPr>
            <a:r>
              <a:rPr sz="2500" b="1">
                <a:solidFill>
                  <a:srgbClr val="0F172A"/>
                </a:solidFill>
                <a:latin typeface="Segoe UI"/>
              </a:rPr>
              <a:t>The current plan is not a trade-off. It is dominated.</a:t>
            </a:r>
          </a:p>
        </p:txBody>
      </p:sp>
      <p:sp>
        <p:nvSpPr>
          <p:cNvPr id="5" name="Rectangle 4"/>
          <p:cNvSpPr/>
          <p:nvPr/>
        </p:nvSpPr>
        <p:spPr>
          <a:xfrm>
            <a:off x="566928" y="1335024"/>
            <a:ext cx="658368"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ounded Rectangle 5"/>
          <p:cNvSpPr/>
          <p:nvPr/>
        </p:nvSpPr>
        <p:spPr>
          <a:xfrm>
            <a:off x="566928" y="1554480"/>
            <a:ext cx="2615184" cy="1225296"/>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566928" y="1554480"/>
            <a:ext cx="50292" cy="1225296"/>
          </a:xfrm>
          <a:prstGeom prst="rect">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22960" y="1737360"/>
            <a:ext cx="2203704" cy="603504"/>
          </a:xfrm>
          <a:prstGeom prst="rect">
            <a:avLst/>
          </a:prstGeom>
          <a:noFill/>
        </p:spPr>
        <p:txBody>
          <a:bodyPr wrap="square" lIns="0" rIns="0" tIns="0" bIns="0" anchor="t">
            <a:spAutoFit/>
          </a:bodyPr>
          <a:lstStyle/>
          <a:p>
            <a:pPr algn="l">
              <a:lnSpc>
                <a:spcPct val="100000"/>
              </a:lnSpc>
              <a:spcAft>
                <a:spcPts val="400"/>
              </a:spcAft>
            </a:pPr>
            <a:r>
              <a:rPr sz="3000" b="1">
                <a:solidFill>
                  <a:srgbClr val="22C55E"/>
                </a:solidFill>
                <a:latin typeface="Segoe UI"/>
              </a:rPr>
              <a:t>-47%</a:t>
            </a:r>
          </a:p>
        </p:txBody>
      </p:sp>
      <p:sp>
        <p:nvSpPr>
          <p:cNvPr id="9" name="TextBox 8"/>
          <p:cNvSpPr txBox="1"/>
          <p:nvPr/>
        </p:nvSpPr>
        <p:spPr>
          <a:xfrm>
            <a:off x="822960" y="2340864"/>
            <a:ext cx="2203704" cy="457200"/>
          </a:xfrm>
          <a:prstGeom prst="rect">
            <a:avLst/>
          </a:prstGeom>
          <a:noFill/>
        </p:spPr>
        <p:txBody>
          <a:bodyPr wrap="square" lIns="0" rIns="0" tIns="0" bIns="0" anchor="t">
            <a:spAutoFit/>
          </a:bodyPr>
          <a:lstStyle/>
          <a:p>
            <a:pPr algn="l">
              <a:lnSpc>
                <a:spcPct val="95000"/>
              </a:lnSpc>
              <a:spcAft>
                <a:spcPts val="400"/>
              </a:spcAft>
            </a:pPr>
            <a:r>
              <a:rPr sz="1050" b="0">
                <a:solidFill>
                  <a:srgbClr val="64748B"/>
                </a:solidFill>
                <a:latin typeface="Segoe UI"/>
              </a:rPr>
              <a:t>groundwater</a:t>
            </a:r>
          </a:p>
        </p:txBody>
      </p:sp>
      <p:sp>
        <p:nvSpPr>
          <p:cNvPr id="10" name="TextBox 9"/>
          <p:cNvSpPr txBox="1"/>
          <p:nvPr/>
        </p:nvSpPr>
        <p:spPr>
          <a:xfrm>
            <a:off x="822960" y="2359152"/>
            <a:ext cx="2203704" cy="274320"/>
          </a:xfrm>
          <a:prstGeom prst="rect">
            <a:avLst/>
          </a:prstGeom>
          <a:noFill/>
        </p:spPr>
        <p:txBody>
          <a:bodyPr wrap="square" lIns="0" rIns="0" tIns="0" bIns="0" anchor="t">
            <a:spAutoFit/>
          </a:bodyPr>
          <a:lstStyle/>
          <a:p>
            <a:pPr algn="l">
              <a:lnSpc>
                <a:spcPct val="100000"/>
              </a:lnSpc>
              <a:spcAft>
                <a:spcPts val="400"/>
              </a:spcAft>
            </a:pPr>
            <a:r>
              <a:rPr sz="900" b="1">
                <a:solidFill>
                  <a:srgbClr val="22C55E"/>
                </a:solidFill>
                <a:latin typeface="Segoe UI"/>
              </a:rPr>
              <a:t>18,000 → 9,517 m³</a:t>
            </a:r>
          </a:p>
        </p:txBody>
      </p:sp>
      <p:sp>
        <p:nvSpPr>
          <p:cNvPr id="11" name="Rounded Rectangle 10"/>
          <p:cNvSpPr/>
          <p:nvPr/>
        </p:nvSpPr>
        <p:spPr>
          <a:xfrm>
            <a:off x="3401568" y="1554480"/>
            <a:ext cx="2615184" cy="1225296"/>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3401568" y="1554480"/>
            <a:ext cx="50292" cy="1225296"/>
          </a:xfrm>
          <a:prstGeom prst="rect">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3657600" y="1737360"/>
            <a:ext cx="2203704" cy="603504"/>
          </a:xfrm>
          <a:prstGeom prst="rect">
            <a:avLst/>
          </a:prstGeom>
          <a:noFill/>
        </p:spPr>
        <p:txBody>
          <a:bodyPr wrap="square" lIns="0" rIns="0" tIns="0" bIns="0" anchor="t">
            <a:spAutoFit/>
          </a:bodyPr>
          <a:lstStyle/>
          <a:p>
            <a:pPr algn="l">
              <a:lnSpc>
                <a:spcPct val="100000"/>
              </a:lnSpc>
              <a:spcAft>
                <a:spcPts val="400"/>
              </a:spcAft>
            </a:pPr>
            <a:r>
              <a:rPr sz="3000" b="1">
                <a:solidFill>
                  <a:srgbClr val="22C55E"/>
                </a:solidFill>
                <a:latin typeface="Segoe UI"/>
              </a:rPr>
              <a:t>+20.3%</a:t>
            </a:r>
          </a:p>
        </p:txBody>
      </p:sp>
      <p:sp>
        <p:nvSpPr>
          <p:cNvPr id="14" name="TextBox 13"/>
          <p:cNvSpPr txBox="1"/>
          <p:nvPr/>
        </p:nvSpPr>
        <p:spPr>
          <a:xfrm>
            <a:off x="3657600" y="2340864"/>
            <a:ext cx="2203704" cy="457200"/>
          </a:xfrm>
          <a:prstGeom prst="rect">
            <a:avLst/>
          </a:prstGeom>
          <a:noFill/>
        </p:spPr>
        <p:txBody>
          <a:bodyPr wrap="square" lIns="0" rIns="0" tIns="0" bIns="0" anchor="t">
            <a:spAutoFit/>
          </a:bodyPr>
          <a:lstStyle/>
          <a:p>
            <a:pPr algn="l">
              <a:lnSpc>
                <a:spcPct val="95000"/>
              </a:lnSpc>
              <a:spcAft>
                <a:spcPts val="400"/>
              </a:spcAft>
            </a:pPr>
            <a:r>
              <a:rPr sz="1050" b="0">
                <a:solidFill>
                  <a:srgbClr val="64748B"/>
                </a:solidFill>
                <a:latin typeface="Segoe UI"/>
              </a:rPr>
              <a:t>net income</a:t>
            </a:r>
          </a:p>
        </p:txBody>
      </p:sp>
      <p:sp>
        <p:nvSpPr>
          <p:cNvPr id="15" name="TextBox 14"/>
          <p:cNvSpPr txBox="1"/>
          <p:nvPr/>
        </p:nvSpPr>
        <p:spPr>
          <a:xfrm>
            <a:off x="3657600" y="2359152"/>
            <a:ext cx="2203704" cy="274320"/>
          </a:xfrm>
          <a:prstGeom prst="rect">
            <a:avLst/>
          </a:prstGeom>
          <a:noFill/>
        </p:spPr>
        <p:txBody>
          <a:bodyPr wrap="square" lIns="0" rIns="0" tIns="0" bIns="0" anchor="t">
            <a:spAutoFit/>
          </a:bodyPr>
          <a:lstStyle/>
          <a:p>
            <a:pPr algn="l">
              <a:lnSpc>
                <a:spcPct val="100000"/>
              </a:lnSpc>
              <a:spcAft>
                <a:spcPts val="400"/>
              </a:spcAft>
            </a:pPr>
            <a:r>
              <a:rPr sz="900" b="1">
                <a:solidFill>
                  <a:srgbClr val="22C55E"/>
                </a:solidFill>
                <a:latin typeface="Segoe UI"/>
              </a:rPr>
              <a:t>₹130,966 → ₹157,591</a:t>
            </a:r>
          </a:p>
        </p:txBody>
      </p:sp>
      <p:sp>
        <p:nvSpPr>
          <p:cNvPr id="16" name="Rounded Rectangle 15"/>
          <p:cNvSpPr/>
          <p:nvPr/>
        </p:nvSpPr>
        <p:spPr>
          <a:xfrm>
            <a:off x="6236208" y="1554480"/>
            <a:ext cx="2615184" cy="1225296"/>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6236208" y="1554480"/>
            <a:ext cx="50292" cy="1225296"/>
          </a:xfrm>
          <a:prstGeom prst="rect">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6492240" y="1737360"/>
            <a:ext cx="2203704" cy="603504"/>
          </a:xfrm>
          <a:prstGeom prst="rect">
            <a:avLst/>
          </a:prstGeom>
          <a:noFill/>
        </p:spPr>
        <p:txBody>
          <a:bodyPr wrap="square" lIns="0" rIns="0" tIns="0" bIns="0" anchor="t">
            <a:spAutoFit/>
          </a:bodyPr>
          <a:lstStyle/>
          <a:p>
            <a:pPr algn="l">
              <a:lnSpc>
                <a:spcPct val="100000"/>
              </a:lnSpc>
              <a:spcAft>
                <a:spcPts val="400"/>
              </a:spcAft>
            </a:pPr>
            <a:r>
              <a:rPr sz="3000" b="1">
                <a:solidFill>
                  <a:srgbClr val="22C55E"/>
                </a:solidFill>
                <a:latin typeface="Segoe UI"/>
              </a:rPr>
              <a:t>-40%</a:t>
            </a:r>
          </a:p>
        </p:txBody>
      </p:sp>
      <p:sp>
        <p:nvSpPr>
          <p:cNvPr id="19" name="TextBox 18"/>
          <p:cNvSpPr txBox="1"/>
          <p:nvPr/>
        </p:nvSpPr>
        <p:spPr>
          <a:xfrm>
            <a:off x="6492240" y="2340864"/>
            <a:ext cx="2203704" cy="457200"/>
          </a:xfrm>
          <a:prstGeom prst="rect">
            <a:avLst/>
          </a:prstGeom>
          <a:noFill/>
        </p:spPr>
        <p:txBody>
          <a:bodyPr wrap="square" lIns="0" rIns="0" tIns="0" bIns="0" anchor="t">
            <a:spAutoFit/>
          </a:bodyPr>
          <a:lstStyle/>
          <a:p>
            <a:pPr algn="l">
              <a:lnSpc>
                <a:spcPct val="95000"/>
              </a:lnSpc>
              <a:spcAft>
                <a:spcPts val="400"/>
              </a:spcAft>
            </a:pPr>
            <a:r>
              <a:rPr sz="1050" b="0">
                <a:solidFill>
                  <a:srgbClr val="64748B"/>
                </a:solidFill>
                <a:latin typeface="Segoe UI"/>
              </a:rPr>
              <a:t>CO₂e</a:t>
            </a:r>
          </a:p>
        </p:txBody>
      </p:sp>
      <p:sp>
        <p:nvSpPr>
          <p:cNvPr id="20" name="TextBox 19"/>
          <p:cNvSpPr txBox="1"/>
          <p:nvPr/>
        </p:nvSpPr>
        <p:spPr>
          <a:xfrm>
            <a:off x="6492240" y="2359152"/>
            <a:ext cx="2203704" cy="274320"/>
          </a:xfrm>
          <a:prstGeom prst="rect">
            <a:avLst/>
          </a:prstGeom>
          <a:noFill/>
        </p:spPr>
        <p:txBody>
          <a:bodyPr wrap="square" lIns="0" rIns="0" tIns="0" bIns="0" anchor="t">
            <a:spAutoFit/>
          </a:bodyPr>
          <a:lstStyle/>
          <a:p>
            <a:pPr algn="l">
              <a:lnSpc>
                <a:spcPct val="100000"/>
              </a:lnSpc>
              <a:spcAft>
                <a:spcPts val="400"/>
              </a:spcAft>
            </a:pPr>
            <a:r>
              <a:rPr sz="900" b="1">
                <a:solidFill>
                  <a:srgbClr val="22C55E"/>
                </a:solidFill>
                <a:latin typeface="Segoe UI"/>
              </a:rPr>
              <a:t>11.88 → 7.12 t/yr</a:t>
            </a:r>
          </a:p>
        </p:txBody>
      </p:sp>
      <p:sp>
        <p:nvSpPr>
          <p:cNvPr id="21" name="Rounded Rectangle 20"/>
          <p:cNvSpPr/>
          <p:nvPr/>
        </p:nvSpPr>
        <p:spPr>
          <a:xfrm>
            <a:off x="9070848" y="1554480"/>
            <a:ext cx="2615184" cy="1225296"/>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9070848" y="1554480"/>
            <a:ext cx="50292" cy="1225296"/>
          </a:xfrm>
          <a:prstGeom prst="rect">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9326880" y="1737360"/>
            <a:ext cx="2203704" cy="603504"/>
          </a:xfrm>
          <a:prstGeom prst="rect">
            <a:avLst/>
          </a:prstGeom>
          <a:noFill/>
        </p:spPr>
        <p:txBody>
          <a:bodyPr wrap="square" lIns="0" rIns="0" tIns="0" bIns="0" anchor="t">
            <a:spAutoFit/>
          </a:bodyPr>
          <a:lstStyle/>
          <a:p>
            <a:pPr algn="l">
              <a:lnSpc>
                <a:spcPct val="100000"/>
              </a:lnSpc>
              <a:spcAft>
                <a:spcPts val="400"/>
              </a:spcAft>
            </a:pPr>
            <a:r>
              <a:rPr sz="3000" b="1">
                <a:solidFill>
                  <a:srgbClr val="22C55E"/>
                </a:solidFill>
                <a:latin typeface="Segoe UI"/>
              </a:rPr>
              <a:t>-100%</a:t>
            </a:r>
          </a:p>
        </p:txBody>
      </p:sp>
      <p:sp>
        <p:nvSpPr>
          <p:cNvPr id="24" name="TextBox 23"/>
          <p:cNvSpPr txBox="1"/>
          <p:nvPr/>
        </p:nvSpPr>
        <p:spPr>
          <a:xfrm>
            <a:off x="9326880" y="2340864"/>
            <a:ext cx="2203704" cy="457200"/>
          </a:xfrm>
          <a:prstGeom prst="rect">
            <a:avLst/>
          </a:prstGeom>
          <a:noFill/>
        </p:spPr>
        <p:txBody>
          <a:bodyPr wrap="square" lIns="0" rIns="0" tIns="0" bIns="0" anchor="t">
            <a:spAutoFit/>
          </a:bodyPr>
          <a:lstStyle/>
          <a:p>
            <a:pPr algn="l">
              <a:lnSpc>
                <a:spcPct val="95000"/>
              </a:lnSpc>
              <a:spcAft>
                <a:spcPts val="400"/>
              </a:spcAft>
            </a:pPr>
            <a:r>
              <a:rPr sz="1050" b="0">
                <a:solidFill>
                  <a:srgbClr val="64748B"/>
                </a:solidFill>
                <a:latin typeface="Segoe UI"/>
              </a:rPr>
              <a:t>residue burnt</a:t>
            </a:r>
          </a:p>
        </p:txBody>
      </p:sp>
      <p:sp>
        <p:nvSpPr>
          <p:cNvPr id="25" name="TextBox 24"/>
          <p:cNvSpPr txBox="1"/>
          <p:nvPr/>
        </p:nvSpPr>
        <p:spPr>
          <a:xfrm>
            <a:off x="9326880" y="2359152"/>
            <a:ext cx="2203704" cy="274320"/>
          </a:xfrm>
          <a:prstGeom prst="rect">
            <a:avLst/>
          </a:prstGeom>
          <a:noFill/>
        </p:spPr>
        <p:txBody>
          <a:bodyPr wrap="square" lIns="0" rIns="0" tIns="0" bIns="0" anchor="t">
            <a:spAutoFit/>
          </a:bodyPr>
          <a:lstStyle/>
          <a:p>
            <a:pPr algn="l">
              <a:lnSpc>
                <a:spcPct val="100000"/>
              </a:lnSpc>
              <a:spcAft>
                <a:spcPts val="400"/>
              </a:spcAft>
            </a:pPr>
            <a:r>
              <a:rPr sz="900" b="1">
                <a:solidFill>
                  <a:srgbClr val="22C55E"/>
                </a:solidFill>
                <a:latin typeface="Segoe UI"/>
              </a:rPr>
              <a:t>8.6 t → 0 t</a:t>
            </a:r>
          </a:p>
        </p:txBody>
      </p:sp>
      <p:sp>
        <p:nvSpPr>
          <p:cNvPr id="26" name="Rounded Rectangle 25"/>
          <p:cNvSpPr/>
          <p:nvPr/>
        </p:nvSpPr>
        <p:spPr>
          <a:xfrm>
            <a:off x="566928" y="3035808"/>
            <a:ext cx="5532120" cy="2331720"/>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566928" y="3035808"/>
            <a:ext cx="50292" cy="2331720"/>
          </a:xfrm>
          <a:prstGeom prst="rect">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804672" y="3200400"/>
            <a:ext cx="5029200" cy="274320"/>
          </a:xfrm>
          <a:prstGeom prst="rect">
            <a:avLst/>
          </a:prstGeom>
          <a:noFill/>
        </p:spPr>
        <p:txBody>
          <a:bodyPr wrap="square" lIns="0" rIns="0" tIns="0" bIns="0" anchor="t">
            <a:spAutoFit/>
          </a:bodyPr>
          <a:lstStyle/>
          <a:p>
            <a:pPr algn="l">
              <a:lnSpc>
                <a:spcPct val="100000"/>
              </a:lnSpc>
              <a:spcAft>
                <a:spcPts val="400"/>
              </a:spcAft>
            </a:pPr>
            <a:r>
              <a:rPr sz="1400" b="1">
                <a:solidFill>
                  <a:srgbClr val="0F172A"/>
                </a:solidFill>
                <a:latin typeface="Segoe UI"/>
              </a:rPr>
              <a:t>The recommended plan</a:t>
            </a:r>
          </a:p>
        </p:txBody>
      </p:sp>
      <p:sp>
        <p:nvSpPr>
          <p:cNvPr id="29" name="TextBox 28"/>
          <p:cNvSpPr txBox="1"/>
          <p:nvPr/>
        </p:nvSpPr>
        <p:spPr>
          <a:xfrm>
            <a:off x="804672" y="3584448"/>
            <a:ext cx="5029200" cy="1645920"/>
          </a:xfrm>
          <a:prstGeom prst="rect">
            <a:avLst/>
          </a:prstGeom>
          <a:noFill/>
        </p:spPr>
        <p:txBody>
          <a:bodyPr wrap="square" lIns="0" rIns="0" tIns="0" bIns="0" anchor="t">
            <a:spAutoFit/>
          </a:bodyPr>
          <a:lstStyle/>
          <a:p>
            <a:pPr algn="l">
              <a:lnSpc>
                <a:spcPct val="126000"/>
              </a:lnSpc>
              <a:spcAft>
                <a:spcPts val="400"/>
              </a:spcAft>
            </a:pPr>
            <a:r>
              <a:rPr sz="1200" b="1">
                <a:solidFill>
                  <a:srgbClr val="0F172A"/>
                </a:solidFill>
                <a:latin typeface="Segoe UI"/>
              </a:rPr>
              <a:t>Wheat 100%, Cotton 100%, Moong / pulses 100%</a:t>
            </a:r>
            <a:r>
              <a:rPr sz="1150" b="0">
                <a:solidFill>
                  <a:srgbClr val="64748B"/>
                </a:solidFill>
                <a:latin typeface="Segoe UI"/>
              </a:rPr>
              <a:t>Drip · Collect the residue</a:t>
            </a:r>
            <a:r>
              <a:rPr sz="1100" b="0">
                <a:solidFill>
                  <a:srgbClr val="64748B"/>
                </a:solidFill>
                <a:latin typeface="Segoe UI"/>
              </a:rPr>
              <a:t>Best of 12,584 candidate plans — crop mix × irrigation method × residue pathway — scored against four objectives in under half a second.</a:t>
            </a:r>
          </a:p>
        </p:txBody>
      </p:sp>
      <p:sp>
        <p:nvSpPr>
          <p:cNvPr id="30" name="TextBox 29"/>
          <p:cNvSpPr txBox="1"/>
          <p:nvPr/>
        </p:nvSpPr>
        <p:spPr>
          <a:xfrm>
            <a:off x="6355080" y="3035808"/>
            <a:ext cx="5285232" cy="274320"/>
          </a:xfrm>
          <a:prstGeom prst="rect">
            <a:avLst/>
          </a:prstGeom>
          <a:noFill/>
        </p:spPr>
        <p:txBody>
          <a:bodyPr wrap="square" lIns="0" rIns="0" tIns="0" bIns="0" anchor="t">
            <a:spAutoFit/>
          </a:bodyPr>
          <a:lstStyle/>
          <a:p>
            <a:pPr algn="l">
              <a:lnSpc>
                <a:spcPct val="100000"/>
              </a:lnSpc>
              <a:spcAft>
                <a:spcPts val="400"/>
              </a:spcAft>
            </a:pPr>
            <a:r>
              <a:rPr sz="1400" b="1">
                <a:solidFill>
                  <a:srgbClr val="0F172A"/>
                </a:solidFill>
                <a:latin typeface="Segoe UI"/>
              </a:rPr>
              <a:t>Why the frontier matters</a:t>
            </a:r>
          </a:p>
        </p:txBody>
      </p:sp>
      <p:sp>
        <p:nvSpPr>
          <p:cNvPr id="31" name="TextBox 30"/>
          <p:cNvSpPr txBox="1"/>
          <p:nvPr/>
        </p:nvSpPr>
        <p:spPr>
          <a:xfrm>
            <a:off x="6355080" y="3419856"/>
            <a:ext cx="5285232" cy="1920240"/>
          </a:xfrm>
          <a:prstGeom prst="rect">
            <a:avLst/>
          </a:prstGeom>
          <a:noFill/>
        </p:spPr>
        <p:txBody>
          <a:bodyPr wrap="square" lIns="0" rIns="0" tIns="0" bIns="0" anchor="t">
            <a:spAutoFit/>
          </a:bodyPr>
          <a:lstStyle/>
          <a:p>
            <a:pPr algn="l">
              <a:lnSpc>
                <a:spcPct val="128000"/>
              </a:lnSpc>
              <a:spcAft>
                <a:spcPts val="400"/>
              </a:spcAft>
            </a:pPr>
            <a:r>
              <a:rPr sz="1150" b="0">
                <a:solidFill>
                  <a:srgbClr val="64748B"/>
                </a:solidFill>
                <a:latin typeface="Segoe UI"/>
              </a:rPr>
              <a:t>“Should I move out of paddy?” has no single answer, because the objectives fight. So the platform does not prescribe one — it draws the efficient frontier and lets the farmer choose a point on it.</a:t>
            </a:r>
            <a:r>
              <a:rPr sz="1150" b="0">
                <a:solidFill>
                  <a:srgbClr val="64748B"/>
                </a:solidFill>
                <a:latin typeface="Segoe UI"/>
              </a:rPr>
              <a:t>80 of 12,584 plans are non-dominated: on those you cannot earn more without pumping more, or save more water without giving up income. Everything else is strictly worse and not worth discussing.</a:t>
            </a:r>
            <a:r>
              <a:rPr sz="1150" b="1">
                <a:solidFill>
                  <a:srgbClr val="0F172A"/>
                </a:solidFill>
                <a:latin typeface="Segoe UI"/>
              </a:rPr>
              <a:t>The current plan is not on the frontier. It sits well inside it.</a:t>
            </a:r>
          </a:p>
        </p:txBody>
      </p:sp>
      <p:sp>
        <p:nvSpPr>
          <p:cNvPr id="32" name="TextBox 31"/>
          <p:cNvSpPr txBox="1"/>
          <p:nvPr/>
        </p:nvSpPr>
        <p:spPr>
          <a:xfrm>
            <a:off x="566928" y="6419088"/>
            <a:ext cx="8229600" cy="237744"/>
          </a:xfrm>
          <a:prstGeom prst="rect">
            <a:avLst/>
          </a:prstGeom>
          <a:noFill/>
        </p:spPr>
        <p:txBody>
          <a:bodyPr wrap="square" lIns="0" rIns="0" tIns="0" bIns="0" anchor="t">
            <a:spAutoFit/>
          </a:bodyPr>
          <a:lstStyle/>
          <a:p>
            <a:pPr algn="l">
              <a:lnSpc>
                <a:spcPct val="100000"/>
              </a:lnSpc>
              <a:spcAft>
                <a:spcPts val="400"/>
              </a:spcAft>
            </a:pPr>
            <a:r>
              <a:rPr sz="850" b="0">
                <a:solidFill>
                  <a:srgbClr val="94A3B8"/>
                </a:solidFill>
                <a:latin typeface="Segoe UI"/>
              </a:rPr>
              <a:t>AquaCast-Punjab  ·  Sankalp — Climate-Smart Agriculture, Water &amp; Rural Credit</a:t>
            </a:r>
          </a:p>
        </p:txBody>
      </p:sp>
      <p:sp>
        <p:nvSpPr>
          <p:cNvPr id="33" name="TextBox 32"/>
          <p:cNvSpPr txBox="1"/>
          <p:nvPr/>
        </p:nvSpPr>
        <p:spPr>
          <a:xfrm>
            <a:off x="10972800" y="6419088"/>
            <a:ext cx="685800" cy="237744"/>
          </a:xfrm>
          <a:prstGeom prst="rect">
            <a:avLst/>
          </a:prstGeom>
          <a:noFill/>
        </p:spPr>
        <p:txBody>
          <a:bodyPr wrap="square" lIns="0" rIns="0" tIns="0" bIns="0" anchor="t">
            <a:spAutoFit/>
          </a:bodyPr>
          <a:lstStyle/>
          <a:p>
            <a:pPr algn="r">
              <a:lnSpc>
                <a:spcPct val="100000"/>
              </a:lnSpc>
              <a:spcAft>
                <a:spcPts val="400"/>
              </a:spcAft>
            </a:pPr>
            <a:r>
              <a:rPr sz="850" b="1">
                <a:solidFill>
                  <a:srgbClr val="94A3B8"/>
                </a:solidFill>
                <a:latin typeface="Segoe UI"/>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11064240" cy="256032"/>
          </a:xfrm>
          <a:prstGeom prst="rect">
            <a:avLst/>
          </a:prstGeom>
          <a:noFill/>
        </p:spPr>
        <p:txBody>
          <a:bodyPr wrap="square" lIns="0" rIns="0" tIns="0" bIns="0" anchor="t">
            <a:spAutoFit/>
          </a:bodyPr>
          <a:lstStyle/>
          <a:p>
            <a:pPr algn="l">
              <a:lnSpc>
                <a:spcPct val="100000"/>
              </a:lnSpc>
              <a:spcAft>
                <a:spcPts val="400"/>
              </a:spcAft>
            </a:pPr>
            <a:r>
              <a:rPr sz="1050" b="1">
                <a:solidFill>
                  <a:srgbClr val="0369A1"/>
                </a:solidFill>
                <a:latin typeface="Segoe UI"/>
              </a:rPr>
              <a:t>EMERGENT FROM THE CALIBRATION, NOT HARD-CODED</a:t>
            </a:r>
          </a:p>
        </p:txBody>
      </p:sp>
      <p:sp>
        <p:nvSpPr>
          <p:cNvPr id="4" name="TextBox 3"/>
          <p:cNvSpPr txBox="1"/>
          <p:nvPr/>
        </p:nvSpPr>
        <p:spPr>
          <a:xfrm>
            <a:off x="566928" y="640080"/>
            <a:ext cx="11064240" cy="658368"/>
          </a:xfrm>
          <a:prstGeom prst="rect">
            <a:avLst/>
          </a:prstGeom>
          <a:noFill/>
        </p:spPr>
        <p:txBody>
          <a:bodyPr wrap="square" lIns="0" rIns="0" tIns="0" bIns="0" anchor="t">
            <a:spAutoFit/>
          </a:bodyPr>
          <a:lstStyle/>
          <a:p>
            <a:pPr algn="l">
              <a:lnSpc>
                <a:spcPct val="100000"/>
              </a:lnSpc>
              <a:spcAft>
                <a:spcPts val="400"/>
              </a:spcAft>
            </a:pPr>
            <a:r>
              <a:rPr sz="2500" b="1">
                <a:solidFill>
                  <a:srgbClr val="0F172A"/>
                </a:solidFill>
                <a:latin typeface="Segoe UI"/>
              </a:rPr>
              <a:t>Three things the model found that we did not assume</a:t>
            </a:r>
          </a:p>
        </p:txBody>
      </p:sp>
      <p:sp>
        <p:nvSpPr>
          <p:cNvPr id="5" name="Rectangle 4"/>
          <p:cNvSpPr/>
          <p:nvPr/>
        </p:nvSpPr>
        <p:spPr>
          <a:xfrm>
            <a:off x="566928" y="1335024"/>
            <a:ext cx="658368"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ounded Rectangle 5"/>
          <p:cNvSpPr/>
          <p:nvPr/>
        </p:nvSpPr>
        <p:spPr>
          <a:xfrm>
            <a:off x="566928" y="1554480"/>
            <a:ext cx="3566160" cy="3017520"/>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566928" y="1554480"/>
            <a:ext cx="3566160" cy="45720"/>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86384" y="1755648"/>
            <a:ext cx="3108960" cy="274320"/>
          </a:xfrm>
          <a:prstGeom prst="rect">
            <a:avLst/>
          </a:prstGeom>
          <a:noFill/>
        </p:spPr>
        <p:txBody>
          <a:bodyPr wrap="square" lIns="0" rIns="0" tIns="0" bIns="0" anchor="t">
            <a:spAutoFit/>
          </a:bodyPr>
          <a:lstStyle/>
          <a:p>
            <a:pPr algn="l">
              <a:lnSpc>
                <a:spcPct val="100000"/>
              </a:lnSpc>
              <a:spcAft>
                <a:spcPts val="400"/>
              </a:spcAft>
            </a:pPr>
            <a:r>
              <a:rPr sz="1300" b="1">
                <a:solidFill>
                  <a:srgbClr val="0F172A"/>
                </a:solidFill>
                <a:latin typeface="Segoe UI"/>
              </a:rPr>
              <a:t>01 · Paddy's methane is the story</a:t>
            </a:r>
          </a:p>
        </p:txBody>
      </p:sp>
      <p:sp>
        <p:nvSpPr>
          <p:cNvPr id="9" name="TextBox 8"/>
          <p:cNvSpPr txBox="1"/>
          <p:nvPr/>
        </p:nvSpPr>
        <p:spPr>
          <a:xfrm>
            <a:off x="786384" y="2121408"/>
            <a:ext cx="3108960" cy="2286000"/>
          </a:xfrm>
          <a:prstGeom prst="rect">
            <a:avLst/>
          </a:prstGeom>
          <a:noFill/>
        </p:spPr>
        <p:txBody>
          <a:bodyPr wrap="square" lIns="0" rIns="0" tIns="0" bIns="0" anchor="t">
            <a:spAutoFit/>
          </a:bodyPr>
          <a:lstStyle/>
          <a:p>
            <a:pPr algn="l">
              <a:lnSpc>
                <a:spcPct val="126000"/>
              </a:lnSpc>
              <a:spcAft>
                <a:spcPts val="400"/>
              </a:spcAft>
            </a:pPr>
            <a:r>
              <a:rPr sz="1100" b="0">
                <a:solidFill>
                  <a:srgbClr val="64748B"/>
                </a:solidFill>
                <a:latin typeface="Segoe UI"/>
              </a:rPr>
              <a:t>Flooded rice emits ~30 kg CH₄/ha/season — 0.84 t CO₂e, the largest single item in paddy's footprint and around a quarter of it.</a:t>
            </a:r>
            <a:r>
              <a:rPr sz="1100" b="0">
                <a:solidFill>
                  <a:srgbClr val="64748B"/>
                </a:solidFill>
                <a:latin typeface="Segoe UI"/>
              </a:rPr>
              <a:t>Alternate wetting and drying halves it to 0.42 t and cuts the volume pumped by ~18%.</a:t>
            </a:r>
            <a:r>
              <a:rPr sz="1100" b="1">
                <a:solidFill>
                  <a:srgbClr val="0F172A"/>
                </a:solidFill>
                <a:latin typeface="Segoe UI"/>
              </a:rPr>
              <a:t>Omitting methane — as most farm calculators do — understates paddy badly.</a:t>
            </a:r>
          </a:p>
        </p:txBody>
      </p:sp>
      <p:sp>
        <p:nvSpPr>
          <p:cNvPr id="10" name="Rounded Rectangle 9"/>
          <p:cNvSpPr/>
          <p:nvPr/>
        </p:nvSpPr>
        <p:spPr>
          <a:xfrm>
            <a:off x="4315968" y="1554480"/>
            <a:ext cx="3566160" cy="3017520"/>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4315968" y="1554480"/>
            <a:ext cx="3566160" cy="457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4535424" y="1755648"/>
            <a:ext cx="3108960" cy="274320"/>
          </a:xfrm>
          <a:prstGeom prst="rect">
            <a:avLst/>
          </a:prstGeom>
          <a:noFill/>
        </p:spPr>
        <p:txBody>
          <a:bodyPr wrap="square" lIns="0" rIns="0" tIns="0" bIns="0" anchor="t">
            <a:spAutoFit/>
          </a:bodyPr>
          <a:lstStyle/>
          <a:p>
            <a:pPr algn="l">
              <a:lnSpc>
                <a:spcPct val="100000"/>
              </a:lnSpc>
              <a:spcAft>
                <a:spcPts val="400"/>
              </a:spcAft>
            </a:pPr>
            <a:r>
              <a:rPr sz="1300" b="1">
                <a:solidFill>
                  <a:srgbClr val="0F172A"/>
                </a:solidFill>
                <a:latin typeface="Segoe UI"/>
              </a:rPr>
              <a:t>02 · Burning is a price problem</a:t>
            </a:r>
          </a:p>
        </p:txBody>
      </p:sp>
      <p:sp>
        <p:nvSpPr>
          <p:cNvPr id="13" name="TextBox 12"/>
          <p:cNvSpPr txBox="1"/>
          <p:nvPr/>
        </p:nvSpPr>
        <p:spPr>
          <a:xfrm>
            <a:off x="4535424" y="2121408"/>
            <a:ext cx="3108960" cy="2286000"/>
          </a:xfrm>
          <a:prstGeom prst="rect">
            <a:avLst/>
          </a:prstGeom>
          <a:noFill/>
        </p:spPr>
        <p:txBody>
          <a:bodyPr wrap="square" lIns="0" rIns="0" tIns="0" bIns="0" anchor="t">
            <a:spAutoFit/>
          </a:bodyPr>
          <a:lstStyle/>
          <a:p>
            <a:pPr algn="l">
              <a:lnSpc>
                <a:spcPct val="126000"/>
              </a:lnSpc>
              <a:spcAft>
                <a:spcPts val="400"/>
              </a:spcAft>
            </a:pPr>
            <a:r>
              <a:rPr sz="1100" b="0">
                <a:solidFill>
                  <a:srgbClr val="64748B"/>
                </a:solidFill>
                <a:latin typeface="Segoe UI"/>
              </a:rPr>
              <a:t>Paddy straw trades at ~₹900/t. It is poor fodder and nobody wants it.</a:t>
            </a:r>
            <a:r>
              <a:rPr sz="1100" b="0">
                <a:solidFill>
                  <a:srgbClr val="64748B"/>
                </a:solidFill>
                <a:latin typeface="Segoe UI"/>
              </a:rPr>
              <a:t>Wheat straw — “bhusa” — is prime dry fodder at ₹3200/t, which is exactly why nobody burns it.</a:t>
            </a:r>
            <a:r>
              <a:rPr sz="1100" b="1">
                <a:solidFill>
                  <a:srgbClr val="0F172A"/>
                </a:solidFill>
                <a:latin typeface="Segoe UI"/>
              </a:rPr>
              <a:t>A flat per-hectare residue value hides the one fact that explains Punjab's October air.</a:t>
            </a:r>
          </a:p>
        </p:txBody>
      </p:sp>
      <p:sp>
        <p:nvSpPr>
          <p:cNvPr id="14" name="Rounded Rectangle 13"/>
          <p:cNvSpPr/>
          <p:nvPr/>
        </p:nvSpPr>
        <p:spPr>
          <a:xfrm>
            <a:off x="8065008" y="1554480"/>
            <a:ext cx="3566160" cy="3017520"/>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8065008" y="1554480"/>
            <a:ext cx="3566160" cy="45720"/>
          </a:xfrm>
          <a:prstGeom prst="rect">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8284464" y="1755648"/>
            <a:ext cx="3108960" cy="274320"/>
          </a:xfrm>
          <a:prstGeom prst="rect">
            <a:avLst/>
          </a:prstGeom>
          <a:noFill/>
        </p:spPr>
        <p:txBody>
          <a:bodyPr wrap="square" lIns="0" rIns="0" tIns="0" bIns="0" anchor="t">
            <a:spAutoFit/>
          </a:bodyPr>
          <a:lstStyle/>
          <a:p>
            <a:pPr algn="l">
              <a:lnSpc>
                <a:spcPct val="100000"/>
              </a:lnSpc>
              <a:spcAft>
                <a:spcPts val="400"/>
              </a:spcAft>
            </a:pPr>
            <a:r>
              <a:rPr sz="1300" b="1">
                <a:solidFill>
                  <a:srgbClr val="0F172A"/>
                </a:solidFill>
                <a:latin typeface="Segoe UI"/>
              </a:rPr>
              <a:t>03 · Moong pays twice</a:t>
            </a:r>
          </a:p>
        </p:txBody>
      </p:sp>
      <p:sp>
        <p:nvSpPr>
          <p:cNvPr id="17" name="TextBox 16"/>
          <p:cNvSpPr txBox="1"/>
          <p:nvPr/>
        </p:nvSpPr>
        <p:spPr>
          <a:xfrm>
            <a:off x="8284464" y="2121408"/>
            <a:ext cx="3108960" cy="2286000"/>
          </a:xfrm>
          <a:prstGeom prst="rect">
            <a:avLst/>
          </a:prstGeom>
          <a:noFill/>
        </p:spPr>
        <p:txBody>
          <a:bodyPr wrap="square" lIns="0" rIns="0" tIns="0" bIns="0" anchor="t">
            <a:spAutoFit/>
          </a:bodyPr>
          <a:lstStyle/>
          <a:p>
            <a:pPr algn="l">
              <a:lnSpc>
                <a:spcPct val="126000"/>
              </a:lnSpc>
              <a:spcAft>
                <a:spcPts val="400"/>
              </a:spcAft>
            </a:pPr>
            <a:r>
              <a:rPr sz="1100" b="0">
                <a:solidFill>
                  <a:srgbClr val="64748B"/>
                </a:solidFill>
                <a:latin typeface="Segoe UI"/>
              </a:rPr>
              <a:t>A 60–70 day moong crop fits the idle window between the wheat harvest and the paddy transplant.</a:t>
            </a:r>
            <a:r>
              <a:rPr sz="1100" b="0">
                <a:solidFill>
                  <a:srgbClr val="64748B"/>
                </a:solidFill>
                <a:latin typeface="Segoe UI"/>
              </a:rPr>
              <a:t>It also pushes the transplant back ~3 weeks, moving peak pumping into the monsoon — so the paddy that follows needs less water.</a:t>
            </a:r>
            <a:r>
              <a:rPr sz="1100" b="1">
                <a:solidFill>
                  <a:srgbClr val="0F172A"/>
                </a:solidFill>
                <a:latin typeface="Segoe UI"/>
              </a:rPr>
              <a:t>One intervention, two mechanisms. Capped at half the farm, because it is a rotating catch crop, not a third season.</a:t>
            </a:r>
          </a:p>
        </p:txBody>
      </p:sp>
      <p:sp>
        <p:nvSpPr>
          <p:cNvPr id="18" name="TextBox 17"/>
          <p:cNvSpPr txBox="1"/>
          <p:nvPr/>
        </p:nvSpPr>
        <p:spPr>
          <a:xfrm>
            <a:off x="566928" y="6419088"/>
            <a:ext cx="8229600" cy="237744"/>
          </a:xfrm>
          <a:prstGeom prst="rect">
            <a:avLst/>
          </a:prstGeom>
          <a:noFill/>
        </p:spPr>
        <p:txBody>
          <a:bodyPr wrap="square" lIns="0" rIns="0" tIns="0" bIns="0" anchor="t">
            <a:spAutoFit/>
          </a:bodyPr>
          <a:lstStyle/>
          <a:p>
            <a:pPr algn="l">
              <a:lnSpc>
                <a:spcPct val="100000"/>
              </a:lnSpc>
              <a:spcAft>
                <a:spcPts val="400"/>
              </a:spcAft>
            </a:pPr>
            <a:r>
              <a:rPr sz="850" b="0">
                <a:solidFill>
                  <a:srgbClr val="94A3B8"/>
                </a:solidFill>
                <a:latin typeface="Segoe UI"/>
              </a:rPr>
              <a:t>AquaCast-Punjab  ·  Sankalp — Climate-Smart Agriculture, Water &amp; Rural Credit</a:t>
            </a:r>
          </a:p>
        </p:txBody>
      </p:sp>
      <p:sp>
        <p:nvSpPr>
          <p:cNvPr id="19" name="TextBox 18"/>
          <p:cNvSpPr txBox="1"/>
          <p:nvPr/>
        </p:nvSpPr>
        <p:spPr>
          <a:xfrm>
            <a:off x="10972800" y="6419088"/>
            <a:ext cx="685800" cy="237744"/>
          </a:xfrm>
          <a:prstGeom prst="rect">
            <a:avLst/>
          </a:prstGeom>
          <a:noFill/>
        </p:spPr>
        <p:txBody>
          <a:bodyPr wrap="square" lIns="0" rIns="0" tIns="0" bIns="0" anchor="t">
            <a:spAutoFit/>
          </a:bodyPr>
          <a:lstStyle/>
          <a:p>
            <a:pPr algn="r">
              <a:lnSpc>
                <a:spcPct val="100000"/>
              </a:lnSpc>
              <a:spcAft>
                <a:spcPts val="400"/>
              </a:spcAft>
            </a:pPr>
            <a:r>
              <a:rPr sz="850" b="1">
                <a:solidFill>
                  <a:srgbClr val="94A3B8"/>
                </a:solidFill>
                <a:latin typeface="Segoe UI"/>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11064240" cy="256032"/>
          </a:xfrm>
          <a:prstGeom prst="rect">
            <a:avLst/>
          </a:prstGeom>
          <a:noFill/>
        </p:spPr>
        <p:txBody>
          <a:bodyPr wrap="square" lIns="0" rIns="0" tIns="0" bIns="0" anchor="t">
            <a:spAutoFit/>
          </a:bodyPr>
          <a:lstStyle/>
          <a:p>
            <a:pPr algn="l">
              <a:lnSpc>
                <a:spcPct val="100000"/>
              </a:lnSpc>
              <a:spcAft>
                <a:spcPts val="400"/>
              </a:spcAft>
            </a:pPr>
            <a:r>
              <a:rPr sz="1050" b="1">
                <a:solidFill>
                  <a:srgbClr val="0369A1"/>
                </a:solidFill>
                <a:latin typeface="Segoe UI"/>
              </a:rPr>
              <a:t>CLIMATE FINANCE · PUBLISHED SCHEME RATES</a:t>
            </a:r>
          </a:p>
        </p:txBody>
      </p:sp>
      <p:sp>
        <p:nvSpPr>
          <p:cNvPr id="4" name="TextBox 3"/>
          <p:cNvSpPr txBox="1"/>
          <p:nvPr/>
        </p:nvSpPr>
        <p:spPr>
          <a:xfrm>
            <a:off x="566928" y="640080"/>
            <a:ext cx="11064240" cy="658368"/>
          </a:xfrm>
          <a:prstGeom prst="rect">
            <a:avLst/>
          </a:prstGeom>
          <a:noFill/>
        </p:spPr>
        <p:txBody>
          <a:bodyPr wrap="square" lIns="0" rIns="0" tIns="0" bIns="0" anchor="t">
            <a:spAutoFit/>
          </a:bodyPr>
          <a:lstStyle/>
          <a:p>
            <a:pPr algn="l">
              <a:lnSpc>
                <a:spcPct val="100000"/>
              </a:lnSpc>
              <a:spcAft>
                <a:spcPts val="400"/>
              </a:spcAft>
            </a:pPr>
            <a:r>
              <a:rPr sz="2500" b="1">
                <a:solidFill>
                  <a:srgbClr val="0F172A"/>
                </a:solidFill>
                <a:latin typeface="Segoe UI"/>
              </a:rPr>
              <a:t>The optimiser keeps recommending drip. Drip costs ₹78,000 a hectare.</a:t>
            </a:r>
          </a:p>
        </p:txBody>
      </p:sp>
      <p:sp>
        <p:nvSpPr>
          <p:cNvPr id="5" name="Rectangle 4"/>
          <p:cNvSpPr/>
          <p:nvPr/>
        </p:nvSpPr>
        <p:spPr>
          <a:xfrm>
            <a:off x="566928" y="1335024"/>
            <a:ext cx="658368"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ounded Rectangle 5"/>
          <p:cNvSpPr/>
          <p:nvPr/>
        </p:nvSpPr>
        <p:spPr>
          <a:xfrm>
            <a:off x="566928" y="1554480"/>
            <a:ext cx="2615184" cy="1225296"/>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566928" y="1554480"/>
            <a:ext cx="50292" cy="1225296"/>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22960" y="1737360"/>
            <a:ext cx="2203704" cy="603504"/>
          </a:xfrm>
          <a:prstGeom prst="rect">
            <a:avLst/>
          </a:prstGeom>
          <a:noFill/>
        </p:spPr>
        <p:txBody>
          <a:bodyPr wrap="square" lIns="0" rIns="0" tIns="0" bIns="0" anchor="t">
            <a:spAutoFit/>
          </a:bodyPr>
          <a:lstStyle/>
          <a:p>
            <a:pPr algn="l">
              <a:lnSpc>
                <a:spcPct val="100000"/>
              </a:lnSpc>
              <a:spcAft>
                <a:spcPts val="400"/>
              </a:spcAft>
            </a:pPr>
            <a:r>
              <a:rPr sz="3000" b="1">
                <a:solidFill>
                  <a:srgbClr val="EF4444"/>
                </a:solidFill>
                <a:latin typeface="Segoe UI"/>
              </a:rPr>
              <a:t>₹156,000</a:t>
            </a:r>
          </a:p>
        </p:txBody>
      </p:sp>
      <p:sp>
        <p:nvSpPr>
          <p:cNvPr id="9" name="TextBox 8"/>
          <p:cNvSpPr txBox="1"/>
          <p:nvPr/>
        </p:nvSpPr>
        <p:spPr>
          <a:xfrm>
            <a:off x="822960" y="2340864"/>
            <a:ext cx="2203704" cy="457200"/>
          </a:xfrm>
          <a:prstGeom prst="rect">
            <a:avLst/>
          </a:prstGeom>
          <a:noFill/>
        </p:spPr>
        <p:txBody>
          <a:bodyPr wrap="square" lIns="0" rIns="0" tIns="0" bIns="0" anchor="t">
            <a:spAutoFit/>
          </a:bodyPr>
          <a:lstStyle/>
          <a:p>
            <a:pPr algn="l">
              <a:lnSpc>
                <a:spcPct val="95000"/>
              </a:lnSpc>
              <a:spcAft>
                <a:spcPts val="400"/>
              </a:spcAft>
            </a:pPr>
            <a:r>
              <a:rPr sz="1050" b="0">
                <a:solidFill>
                  <a:srgbClr val="64748B"/>
                </a:solidFill>
                <a:latin typeface="Segoe UI"/>
              </a:rPr>
              <a:t>capital required</a:t>
            </a:r>
          </a:p>
        </p:txBody>
      </p:sp>
      <p:sp>
        <p:nvSpPr>
          <p:cNvPr id="10" name="TextBox 9"/>
          <p:cNvSpPr txBox="1"/>
          <p:nvPr/>
        </p:nvSpPr>
        <p:spPr>
          <a:xfrm>
            <a:off x="822960" y="2359152"/>
            <a:ext cx="2203704" cy="274320"/>
          </a:xfrm>
          <a:prstGeom prst="rect">
            <a:avLst/>
          </a:prstGeom>
          <a:noFill/>
        </p:spPr>
        <p:txBody>
          <a:bodyPr wrap="square" lIns="0" rIns="0" tIns="0" bIns="0" anchor="t">
            <a:spAutoFit/>
          </a:bodyPr>
          <a:lstStyle/>
          <a:p>
            <a:pPr algn="l">
              <a:lnSpc>
                <a:spcPct val="100000"/>
              </a:lnSpc>
              <a:spcAft>
                <a:spcPts val="400"/>
              </a:spcAft>
            </a:pPr>
            <a:r>
              <a:rPr sz="900" b="1">
                <a:solidFill>
                  <a:srgbClr val="EF4444"/>
                </a:solidFill>
                <a:latin typeface="Segoe UI"/>
              </a:rPr>
              <a:t>drip + residue kit, 2 ha</a:t>
            </a:r>
          </a:p>
        </p:txBody>
      </p:sp>
      <p:sp>
        <p:nvSpPr>
          <p:cNvPr id="11" name="Rounded Rectangle 10"/>
          <p:cNvSpPr/>
          <p:nvPr/>
        </p:nvSpPr>
        <p:spPr>
          <a:xfrm>
            <a:off x="3401568" y="1554480"/>
            <a:ext cx="2615184" cy="1225296"/>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3401568" y="1554480"/>
            <a:ext cx="50292" cy="1225296"/>
          </a:xfrm>
          <a:prstGeom prst="rect">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3657600" y="1737360"/>
            <a:ext cx="2203704" cy="603504"/>
          </a:xfrm>
          <a:prstGeom prst="rect">
            <a:avLst/>
          </a:prstGeom>
          <a:noFill/>
        </p:spPr>
        <p:txBody>
          <a:bodyPr wrap="square" lIns="0" rIns="0" tIns="0" bIns="0" anchor="t">
            <a:spAutoFit/>
          </a:bodyPr>
          <a:lstStyle/>
          <a:p>
            <a:pPr algn="l">
              <a:lnSpc>
                <a:spcPct val="100000"/>
              </a:lnSpc>
              <a:spcAft>
                <a:spcPts val="400"/>
              </a:spcAft>
            </a:pPr>
            <a:r>
              <a:rPr sz="3000" b="1">
                <a:solidFill>
                  <a:srgbClr val="22C55E"/>
                </a:solidFill>
                <a:latin typeface="Segoe UI"/>
              </a:rPr>
              <a:t>₹85,800</a:t>
            </a:r>
          </a:p>
        </p:txBody>
      </p:sp>
      <p:sp>
        <p:nvSpPr>
          <p:cNvPr id="14" name="TextBox 13"/>
          <p:cNvSpPr txBox="1"/>
          <p:nvPr/>
        </p:nvSpPr>
        <p:spPr>
          <a:xfrm>
            <a:off x="3657600" y="2340864"/>
            <a:ext cx="2203704" cy="457200"/>
          </a:xfrm>
          <a:prstGeom prst="rect">
            <a:avLst/>
          </a:prstGeom>
          <a:noFill/>
        </p:spPr>
        <p:txBody>
          <a:bodyPr wrap="square" lIns="0" rIns="0" tIns="0" bIns="0" anchor="t">
            <a:spAutoFit/>
          </a:bodyPr>
          <a:lstStyle/>
          <a:p>
            <a:pPr algn="l">
              <a:lnSpc>
                <a:spcPct val="95000"/>
              </a:lnSpc>
              <a:spcAft>
                <a:spcPts val="400"/>
              </a:spcAft>
            </a:pPr>
            <a:r>
              <a:rPr sz="1050" b="0">
                <a:solidFill>
                  <a:srgbClr val="64748B"/>
                </a:solidFill>
                <a:latin typeface="Segoe UI"/>
              </a:rPr>
              <a:t>government subsidy</a:t>
            </a:r>
          </a:p>
        </p:txBody>
      </p:sp>
      <p:sp>
        <p:nvSpPr>
          <p:cNvPr id="15" name="TextBox 14"/>
          <p:cNvSpPr txBox="1"/>
          <p:nvPr/>
        </p:nvSpPr>
        <p:spPr>
          <a:xfrm>
            <a:off x="3657600" y="2359152"/>
            <a:ext cx="2203704" cy="274320"/>
          </a:xfrm>
          <a:prstGeom prst="rect">
            <a:avLst/>
          </a:prstGeom>
          <a:noFill/>
        </p:spPr>
        <p:txBody>
          <a:bodyPr wrap="square" lIns="0" rIns="0" tIns="0" bIns="0" anchor="t">
            <a:spAutoFit/>
          </a:bodyPr>
          <a:lstStyle/>
          <a:p>
            <a:pPr algn="l">
              <a:lnSpc>
                <a:spcPct val="100000"/>
              </a:lnSpc>
              <a:spcAft>
                <a:spcPts val="400"/>
              </a:spcAft>
            </a:pPr>
            <a:r>
              <a:rPr sz="900" b="1">
                <a:solidFill>
                  <a:srgbClr val="22C55E"/>
                </a:solidFill>
                <a:latin typeface="Segoe UI"/>
              </a:rPr>
              <a:t>PMKSY-PDMC at 55%</a:t>
            </a:r>
          </a:p>
        </p:txBody>
      </p:sp>
      <p:sp>
        <p:nvSpPr>
          <p:cNvPr id="16" name="Rounded Rectangle 15"/>
          <p:cNvSpPr/>
          <p:nvPr/>
        </p:nvSpPr>
        <p:spPr>
          <a:xfrm>
            <a:off x="6236208" y="1554480"/>
            <a:ext cx="2615184" cy="1225296"/>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6236208" y="1554480"/>
            <a:ext cx="50292" cy="1225296"/>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6492240" y="1737360"/>
            <a:ext cx="2203704" cy="603504"/>
          </a:xfrm>
          <a:prstGeom prst="rect">
            <a:avLst/>
          </a:prstGeom>
          <a:noFill/>
        </p:spPr>
        <p:txBody>
          <a:bodyPr wrap="square" lIns="0" rIns="0" tIns="0" bIns="0" anchor="t">
            <a:spAutoFit/>
          </a:bodyPr>
          <a:lstStyle/>
          <a:p>
            <a:pPr algn="l">
              <a:lnSpc>
                <a:spcPct val="100000"/>
              </a:lnSpc>
              <a:spcAft>
                <a:spcPts val="400"/>
              </a:spcAft>
            </a:pPr>
            <a:r>
              <a:rPr sz="3000" b="1">
                <a:solidFill>
                  <a:srgbClr val="0369A1"/>
                </a:solidFill>
                <a:latin typeface="Segoe UI"/>
              </a:rPr>
              <a:t>₹54,600</a:t>
            </a:r>
          </a:p>
        </p:txBody>
      </p:sp>
      <p:sp>
        <p:nvSpPr>
          <p:cNvPr id="19" name="TextBox 18"/>
          <p:cNvSpPr txBox="1"/>
          <p:nvPr/>
        </p:nvSpPr>
        <p:spPr>
          <a:xfrm>
            <a:off x="6492240" y="2340864"/>
            <a:ext cx="2203704" cy="457200"/>
          </a:xfrm>
          <a:prstGeom prst="rect">
            <a:avLst/>
          </a:prstGeom>
          <a:noFill/>
        </p:spPr>
        <p:txBody>
          <a:bodyPr wrap="square" lIns="0" rIns="0" tIns="0" bIns="0" anchor="t">
            <a:spAutoFit/>
          </a:bodyPr>
          <a:lstStyle/>
          <a:p>
            <a:pPr algn="l">
              <a:lnSpc>
                <a:spcPct val="95000"/>
              </a:lnSpc>
              <a:spcAft>
                <a:spcPts val="400"/>
              </a:spcAft>
            </a:pPr>
            <a:r>
              <a:rPr sz="1050" b="0">
                <a:solidFill>
                  <a:srgbClr val="64748B"/>
                </a:solidFill>
                <a:latin typeface="Segoe UI"/>
              </a:rPr>
              <a:t>loan at 4%</a:t>
            </a:r>
          </a:p>
        </p:txBody>
      </p:sp>
      <p:sp>
        <p:nvSpPr>
          <p:cNvPr id="20" name="TextBox 19"/>
          <p:cNvSpPr txBox="1"/>
          <p:nvPr/>
        </p:nvSpPr>
        <p:spPr>
          <a:xfrm>
            <a:off x="6492240" y="2359152"/>
            <a:ext cx="2203704" cy="274320"/>
          </a:xfrm>
          <a:prstGeom prst="rect">
            <a:avLst/>
          </a:prstGeom>
          <a:noFill/>
        </p:spPr>
        <p:txBody>
          <a:bodyPr wrap="square" lIns="0" rIns="0" tIns="0" bIns="0" anchor="t">
            <a:spAutoFit/>
          </a:bodyPr>
          <a:lstStyle/>
          <a:p>
            <a:pPr algn="l">
              <a:lnSpc>
                <a:spcPct val="100000"/>
              </a:lnSpc>
              <a:spcAft>
                <a:spcPts val="400"/>
              </a:spcAft>
            </a:pPr>
            <a:r>
              <a:rPr sz="900" b="1">
                <a:solidFill>
                  <a:srgbClr val="0369A1"/>
                </a:solidFill>
                <a:latin typeface="Segoe UI"/>
              </a:rPr>
              <a:t>KCC less 3% subvention</a:t>
            </a:r>
          </a:p>
        </p:txBody>
      </p:sp>
      <p:sp>
        <p:nvSpPr>
          <p:cNvPr id="21" name="Rounded Rectangle 20"/>
          <p:cNvSpPr/>
          <p:nvPr/>
        </p:nvSpPr>
        <p:spPr>
          <a:xfrm>
            <a:off x="9070848" y="1554480"/>
            <a:ext cx="2615184" cy="1225296"/>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9070848" y="1554480"/>
            <a:ext cx="50292" cy="1225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9326880" y="1737360"/>
            <a:ext cx="2203704" cy="603504"/>
          </a:xfrm>
          <a:prstGeom prst="rect">
            <a:avLst/>
          </a:prstGeom>
          <a:noFill/>
        </p:spPr>
        <p:txBody>
          <a:bodyPr wrap="square" lIns="0" rIns="0" tIns="0" bIns="0" anchor="t">
            <a:spAutoFit/>
          </a:bodyPr>
          <a:lstStyle/>
          <a:p>
            <a:pPr algn="l">
              <a:lnSpc>
                <a:spcPct val="100000"/>
              </a:lnSpc>
              <a:spcAft>
                <a:spcPts val="400"/>
              </a:spcAft>
            </a:pPr>
            <a:r>
              <a:rPr sz="2400" b="1">
                <a:solidFill>
                  <a:srgbClr val="F59E0B"/>
                </a:solidFill>
                <a:latin typeface="Segoe UI"/>
              </a:rPr>
              <a:t>₹1,006/mo</a:t>
            </a:r>
          </a:p>
        </p:txBody>
      </p:sp>
      <p:sp>
        <p:nvSpPr>
          <p:cNvPr id="24" name="TextBox 23"/>
          <p:cNvSpPr txBox="1"/>
          <p:nvPr/>
        </p:nvSpPr>
        <p:spPr>
          <a:xfrm>
            <a:off x="9326880" y="2340864"/>
            <a:ext cx="2203704" cy="457200"/>
          </a:xfrm>
          <a:prstGeom prst="rect">
            <a:avLst/>
          </a:prstGeom>
          <a:noFill/>
        </p:spPr>
        <p:txBody>
          <a:bodyPr wrap="square" lIns="0" rIns="0" tIns="0" bIns="0" anchor="t">
            <a:spAutoFit/>
          </a:bodyPr>
          <a:lstStyle/>
          <a:p>
            <a:pPr algn="l">
              <a:lnSpc>
                <a:spcPct val="95000"/>
              </a:lnSpc>
              <a:spcAft>
                <a:spcPts val="400"/>
              </a:spcAft>
            </a:pPr>
            <a:r>
              <a:rPr sz="1050" b="0">
                <a:solidFill>
                  <a:srgbClr val="64748B"/>
                </a:solidFill>
                <a:latin typeface="Segoe UI"/>
              </a:rPr>
              <a:t>EMI over 5 years</a:t>
            </a:r>
          </a:p>
        </p:txBody>
      </p:sp>
      <p:sp>
        <p:nvSpPr>
          <p:cNvPr id="25" name="TextBox 24"/>
          <p:cNvSpPr txBox="1"/>
          <p:nvPr/>
        </p:nvSpPr>
        <p:spPr>
          <a:xfrm>
            <a:off x="9326880" y="2359152"/>
            <a:ext cx="2203704" cy="274320"/>
          </a:xfrm>
          <a:prstGeom prst="rect">
            <a:avLst/>
          </a:prstGeom>
          <a:noFill/>
        </p:spPr>
        <p:txBody>
          <a:bodyPr wrap="square" lIns="0" rIns="0" tIns="0" bIns="0" anchor="t">
            <a:spAutoFit/>
          </a:bodyPr>
          <a:lstStyle/>
          <a:p>
            <a:pPr algn="l">
              <a:lnSpc>
                <a:spcPct val="100000"/>
              </a:lnSpc>
              <a:spcAft>
                <a:spcPts val="400"/>
              </a:spcAft>
            </a:pPr>
            <a:r>
              <a:rPr sz="900" b="1">
                <a:solidFill>
                  <a:srgbClr val="F59E0B"/>
                </a:solidFill>
                <a:latin typeface="Segoe UI"/>
              </a:rPr>
              <a:t>₹15,600 from the farmer</a:t>
            </a:r>
          </a:p>
        </p:txBody>
      </p:sp>
      <p:sp>
        <p:nvSpPr>
          <p:cNvPr id="26" name="Rounded Rectangle 25"/>
          <p:cNvSpPr/>
          <p:nvPr/>
        </p:nvSpPr>
        <p:spPr>
          <a:xfrm>
            <a:off x="566928" y="3035808"/>
            <a:ext cx="5532120" cy="2103120"/>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566928" y="3035808"/>
            <a:ext cx="50292" cy="2103120"/>
          </a:xfrm>
          <a:prstGeom prst="rect">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804672" y="3200400"/>
            <a:ext cx="5029200" cy="274320"/>
          </a:xfrm>
          <a:prstGeom prst="rect">
            <a:avLst/>
          </a:prstGeom>
          <a:noFill/>
        </p:spPr>
        <p:txBody>
          <a:bodyPr wrap="square" lIns="0" rIns="0" tIns="0" bIns="0" anchor="t">
            <a:spAutoFit/>
          </a:bodyPr>
          <a:lstStyle/>
          <a:p>
            <a:pPr algn="l">
              <a:lnSpc>
                <a:spcPct val="100000"/>
              </a:lnSpc>
              <a:spcAft>
                <a:spcPts val="400"/>
              </a:spcAft>
            </a:pPr>
            <a:r>
              <a:rPr sz="1400" b="1">
                <a:solidFill>
                  <a:srgbClr val="0F172A"/>
                </a:solidFill>
                <a:latin typeface="Segoe UI"/>
              </a:rPr>
              <a:t>Two paybacks, because they answer different questions</a:t>
            </a:r>
          </a:p>
        </p:txBody>
      </p:sp>
      <p:sp>
        <p:nvSpPr>
          <p:cNvPr id="29" name="TextBox 28"/>
          <p:cNvSpPr txBox="1"/>
          <p:nvPr/>
        </p:nvSpPr>
        <p:spPr>
          <a:xfrm>
            <a:off x="804672" y="3584448"/>
            <a:ext cx="5029200" cy="1417320"/>
          </a:xfrm>
          <a:prstGeom prst="rect">
            <a:avLst/>
          </a:prstGeom>
          <a:noFill/>
        </p:spPr>
        <p:txBody>
          <a:bodyPr wrap="square" lIns="0" rIns="0" tIns="0" bIns="0" anchor="t">
            <a:spAutoFit/>
          </a:bodyPr>
          <a:lstStyle/>
          <a:p>
            <a:pPr algn="l">
              <a:lnSpc>
                <a:spcPct val="128000"/>
              </a:lnSpc>
              <a:spcAft>
                <a:spcPts val="400"/>
              </a:spcAft>
            </a:pPr>
            <a:r>
              <a:rPr sz="1150" b="0">
                <a:solidFill>
                  <a:srgbClr val="64748B"/>
                </a:solidFill>
                <a:latin typeface="Segoe UI"/>
              </a:rPr>
              <a:t>On the total capital: 4.7 years.</a:t>
            </a:r>
            <a:r>
              <a:rPr sz="1150" b="0">
                <a:solidFill>
                  <a:srgbClr val="64748B"/>
                </a:solidFill>
                <a:latin typeface="Segoe UI"/>
              </a:rPr>
              <a:t>On the farmer's own cash: 0.7 years — because the subsidy does most of the work and the loan is serviced out of the extra income.</a:t>
            </a:r>
            <a:r>
              <a:rPr sz="1150" b="1">
                <a:solidFill>
                  <a:srgbClr val="0F172A"/>
                </a:solidFill>
                <a:latin typeface="Segoe UI"/>
              </a:rPr>
              <a:t>This is the difference between a plan that is correct and a plan that is adoptable.</a:t>
            </a:r>
          </a:p>
        </p:txBody>
      </p:sp>
      <p:sp>
        <p:nvSpPr>
          <p:cNvPr id="30" name="TextBox 29"/>
          <p:cNvSpPr txBox="1"/>
          <p:nvPr/>
        </p:nvSpPr>
        <p:spPr>
          <a:xfrm>
            <a:off x="6355080" y="3035808"/>
            <a:ext cx="5285232" cy="274320"/>
          </a:xfrm>
          <a:prstGeom prst="rect">
            <a:avLst/>
          </a:prstGeom>
          <a:noFill/>
        </p:spPr>
        <p:txBody>
          <a:bodyPr wrap="square" lIns="0" rIns="0" tIns="0" bIns="0" anchor="t">
            <a:spAutoFit/>
          </a:bodyPr>
          <a:lstStyle/>
          <a:p>
            <a:pPr algn="l">
              <a:lnSpc>
                <a:spcPct val="100000"/>
              </a:lnSpc>
              <a:spcAft>
                <a:spcPts val="400"/>
              </a:spcAft>
            </a:pPr>
            <a:r>
              <a:rPr sz="1400" b="1">
                <a:solidFill>
                  <a:srgbClr val="0F172A"/>
                </a:solidFill>
                <a:latin typeface="Segoe UI"/>
              </a:rPr>
              <a:t>And the lender is not asked to trust a new model</a:t>
            </a:r>
          </a:p>
        </p:txBody>
      </p:sp>
      <p:sp>
        <p:nvSpPr>
          <p:cNvPr id="31" name="TextBox 30"/>
          <p:cNvSpPr txBox="1"/>
          <p:nvPr/>
        </p:nvSpPr>
        <p:spPr>
          <a:xfrm>
            <a:off x="6355080" y="3419856"/>
            <a:ext cx="5285232" cy="1691640"/>
          </a:xfrm>
          <a:prstGeom prst="rect">
            <a:avLst/>
          </a:prstGeom>
          <a:noFill/>
        </p:spPr>
        <p:txBody>
          <a:bodyPr wrap="square" lIns="0" rIns="0" tIns="0" bIns="0" anchor="t">
            <a:spAutoFit/>
          </a:bodyPr>
          <a:lstStyle/>
          <a:p>
            <a:pPr algn="l">
              <a:lnSpc>
                <a:spcPct val="128000"/>
              </a:lnSpc>
              <a:spcAft>
                <a:spcPts val="400"/>
              </a:spcAft>
            </a:pPr>
            <a:r>
              <a:rPr sz="1150" b="0">
                <a:solidFill>
                  <a:srgbClr val="64748B"/>
                </a:solidFill>
                <a:latin typeface="Segoe UI"/>
              </a:rPr>
              <a:t>Slower drawdown is a direct input to the underwriting score the lender already uses — so the crop change is priced by their own engine, not by a second, friendlier one.</a:t>
            </a:r>
            <a:r>
              <a:rPr sz="1150" b="1">
                <a:solidFill>
                  <a:srgbClr val="0F172A"/>
                </a:solidFill>
                <a:latin typeface="Segoe UI"/>
              </a:rPr>
              <a:t>Aquifer risk and credit risk are the same risk. A falling water table raises pumping cost, shortens pump life and depresses the collateral value of the land.</a:t>
            </a:r>
          </a:p>
        </p:txBody>
      </p:sp>
      <p:sp>
        <p:nvSpPr>
          <p:cNvPr id="32" name="TextBox 31"/>
          <p:cNvSpPr txBox="1"/>
          <p:nvPr/>
        </p:nvSpPr>
        <p:spPr>
          <a:xfrm>
            <a:off x="566928" y="6419088"/>
            <a:ext cx="8229600" cy="237744"/>
          </a:xfrm>
          <a:prstGeom prst="rect">
            <a:avLst/>
          </a:prstGeom>
          <a:noFill/>
        </p:spPr>
        <p:txBody>
          <a:bodyPr wrap="square" lIns="0" rIns="0" tIns="0" bIns="0" anchor="t">
            <a:spAutoFit/>
          </a:bodyPr>
          <a:lstStyle/>
          <a:p>
            <a:pPr algn="l">
              <a:lnSpc>
                <a:spcPct val="100000"/>
              </a:lnSpc>
              <a:spcAft>
                <a:spcPts val="400"/>
              </a:spcAft>
            </a:pPr>
            <a:r>
              <a:rPr sz="850" b="0">
                <a:solidFill>
                  <a:srgbClr val="94A3B8"/>
                </a:solidFill>
                <a:latin typeface="Segoe UI"/>
              </a:rPr>
              <a:t>AquaCast-Punjab  ·  Sankalp — Climate-Smart Agriculture, Water &amp; Rural Credit</a:t>
            </a:r>
          </a:p>
        </p:txBody>
      </p:sp>
      <p:sp>
        <p:nvSpPr>
          <p:cNvPr id="33" name="TextBox 32"/>
          <p:cNvSpPr txBox="1"/>
          <p:nvPr/>
        </p:nvSpPr>
        <p:spPr>
          <a:xfrm>
            <a:off x="10972800" y="6419088"/>
            <a:ext cx="685800" cy="237744"/>
          </a:xfrm>
          <a:prstGeom prst="rect">
            <a:avLst/>
          </a:prstGeom>
          <a:noFill/>
        </p:spPr>
        <p:txBody>
          <a:bodyPr wrap="square" lIns="0" rIns="0" tIns="0" bIns="0" anchor="t">
            <a:spAutoFit/>
          </a:bodyPr>
          <a:lstStyle/>
          <a:p>
            <a:pPr algn="r">
              <a:lnSpc>
                <a:spcPct val="100000"/>
              </a:lnSpc>
              <a:spcAft>
                <a:spcPts val="400"/>
              </a:spcAft>
            </a:pPr>
            <a:r>
              <a:rPr sz="850" b="1">
                <a:solidFill>
                  <a:srgbClr val="94A3B8"/>
                </a:solidFill>
                <a:latin typeface="Segoe UI"/>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11064240" cy="256032"/>
          </a:xfrm>
          <a:prstGeom prst="rect">
            <a:avLst/>
          </a:prstGeom>
          <a:noFill/>
        </p:spPr>
        <p:txBody>
          <a:bodyPr wrap="square" lIns="0" rIns="0" tIns="0" bIns="0" anchor="t">
            <a:spAutoFit/>
          </a:bodyPr>
          <a:lstStyle/>
          <a:p>
            <a:pPr algn="l">
              <a:lnSpc>
                <a:spcPct val="100000"/>
              </a:lnSpc>
              <a:spcAft>
                <a:spcPts val="400"/>
              </a:spcAft>
            </a:pPr>
            <a:r>
              <a:rPr sz="1050" b="1">
                <a:solidFill>
                  <a:srgbClr val="0369A1"/>
                </a:solidFill>
                <a:latin typeface="Segoe UI"/>
              </a:rPr>
              <a:t>VERIFICATION · 1,200 MONTE CARLO DRAWS</a:t>
            </a:r>
          </a:p>
        </p:txBody>
      </p:sp>
      <p:sp>
        <p:nvSpPr>
          <p:cNvPr id="4" name="TextBox 3"/>
          <p:cNvSpPr txBox="1"/>
          <p:nvPr/>
        </p:nvSpPr>
        <p:spPr>
          <a:xfrm>
            <a:off x="566928" y="640080"/>
            <a:ext cx="11064240" cy="658368"/>
          </a:xfrm>
          <a:prstGeom prst="rect">
            <a:avLst/>
          </a:prstGeom>
          <a:noFill/>
        </p:spPr>
        <p:txBody>
          <a:bodyPr wrap="square" lIns="0" rIns="0" tIns="0" bIns="0" anchor="t">
            <a:spAutoFit/>
          </a:bodyPr>
          <a:lstStyle/>
          <a:p>
            <a:pPr algn="l">
              <a:lnSpc>
                <a:spcPct val="100000"/>
              </a:lnSpc>
              <a:spcAft>
                <a:spcPts val="400"/>
              </a:spcAft>
            </a:pPr>
            <a:r>
              <a:rPr sz="2500" b="1">
                <a:solidFill>
                  <a:srgbClr val="0F172A"/>
                </a:solidFill>
                <a:latin typeface="Segoe UI"/>
              </a:rPr>
              <a:t>The claim, and how far we are willing to stand behind it</a:t>
            </a:r>
          </a:p>
        </p:txBody>
      </p:sp>
      <p:sp>
        <p:nvSpPr>
          <p:cNvPr id="5" name="Rectangle 4"/>
          <p:cNvSpPr/>
          <p:nvPr/>
        </p:nvSpPr>
        <p:spPr>
          <a:xfrm>
            <a:off x="566928" y="1335024"/>
            <a:ext cx="658368"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graphicFrame>
        <p:nvGraphicFramePr>
          <p:cNvPr id="6" name="Table 5"/>
          <p:cNvGraphicFramePr>
            <a:graphicFrameLocks noGrp="1"/>
          </p:cNvGraphicFramePr>
          <p:nvPr/>
        </p:nvGraphicFramePr>
        <p:xfrm>
          <a:off x="566928" y="1554480"/>
          <a:ext cx="5532120" cy="1865376"/>
        </p:xfrm>
        <a:graphic>
          <a:graphicData uri="http://schemas.openxmlformats.org/drawingml/2006/table">
            <a:tbl>
              <a:tblPr firstRow="1" bandRow="1">
                <a:tableStyleId>{5C22544A-7EE6-4342-B048-85BDC9FD1C3A}</a:tableStyleId>
              </a:tblPr>
              <a:tblGrid>
                <a:gridCol w="1417320"/>
                <a:gridCol w="1417320"/>
                <a:gridCol w="1600200"/>
                <a:gridCol w="1097280"/>
              </a:tblGrid>
              <a:tr h="402336">
                <a:tc>
                  <a:txBody>
                    <a:bodyPr wrap="square"/>
                    <a:lstStyle/>
                    <a:p>
                      <a:pPr algn="l"/>
                      <a:r>
                        <a:rPr sz="1000" b="1">
                          <a:solidFill>
                            <a:srgbClr val="FFFFFF"/>
                          </a:solidFill>
                          <a:latin typeface="Segoe UI"/>
                        </a:rPr>
                        <a:t>Claim</a:t>
                      </a:r>
                    </a:p>
                  </a:txBody>
                  <a:tcPr marL="91440" marR="91440" marT="27432" marB="27432" anchor="ctr">
                    <a:solidFill>
                      <a:srgbClr val="0B1E30"/>
                    </a:solidFill>
                  </a:tcPr>
                </a:tc>
                <a:tc>
                  <a:txBody>
                    <a:bodyPr wrap="square"/>
                    <a:lstStyle/>
                    <a:p>
                      <a:pPr algn="ctr"/>
                      <a:r>
                        <a:rPr sz="1000" b="1">
                          <a:solidFill>
                            <a:srgbClr val="FFFFFF"/>
                          </a:solidFill>
                          <a:latin typeface="Segoe UI"/>
                        </a:rPr>
                        <a:t>Modelled</a:t>
                      </a:r>
                    </a:p>
                  </a:txBody>
                  <a:tcPr marL="91440" marR="91440" marT="27432" marB="27432" anchor="ctr">
                    <a:solidFill>
                      <a:srgbClr val="0B1E30"/>
                    </a:solidFill>
                  </a:tcPr>
                </a:tc>
                <a:tc>
                  <a:txBody>
                    <a:bodyPr wrap="square"/>
                    <a:lstStyle/>
                    <a:p>
                      <a:pPr algn="ctr"/>
                      <a:r>
                        <a:rPr sz="1000" b="1">
                          <a:solidFill>
                            <a:srgbClr val="FFFFFF"/>
                          </a:solidFill>
                          <a:latin typeface="Segoe UI"/>
                        </a:rPr>
                        <a:t>90% range</a:t>
                      </a:r>
                    </a:p>
                  </a:txBody>
                  <a:tcPr marL="91440" marR="91440" marT="27432" marB="27432" anchor="ctr">
                    <a:solidFill>
                      <a:srgbClr val="0B1E30"/>
                    </a:solidFill>
                  </a:tcPr>
                </a:tc>
                <a:tc>
                  <a:txBody>
                    <a:bodyPr wrap="square"/>
                    <a:lstStyle/>
                    <a:p>
                      <a:pPr algn="ctr"/>
                      <a:r>
                        <a:rPr sz="1000" b="1">
                          <a:solidFill>
                            <a:srgbClr val="FFFFFF"/>
                          </a:solidFill>
                          <a:latin typeface="Segoe UI"/>
                        </a:rPr>
                        <a:t>Status</a:t>
                      </a:r>
                    </a:p>
                  </a:txBody>
                  <a:tcPr marL="91440" marR="91440" marT="27432" marB="27432" anchor="ctr">
                    <a:solidFill>
                      <a:srgbClr val="0B1E30"/>
                    </a:solidFill>
                  </a:tcPr>
                </a:tc>
              </a:tr>
              <a:tr h="365760">
                <a:tc>
                  <a:txBody>
                    <a:bodyPr wrap="square"/>
                    <a:lstStyle/>
                    <a:p>
                      <a:pPr algn="l"/>
                      <a:r>
                        <a:rPr sz="1000" b="0">
                          <a:solidFill>
                            <a:srgbClr val="0F172A"/>
                          </a:solidFill>
                          <a:latin typeface="Segoe UI"/>
                        </a:rPr>
                        <a:t>Groundwater saved</a:t>
                      </a:r>
                    </a:p>
                  </a:txBody>
                  <a:tcPr marL="91440" marR="91440" marT="27432" marB="27432" anchor="ctr">
                    <a:solidFill>
                      <a:srgbClr val="FFFFFF"/>
                    </a:solidFill>
                  </a:tcPr>
                </a:tc>
                <a:tc>
                  <a:txBody>
                    <a:bodyPr wrap="square"/>
                    <a:lstStyle/>
                    <a:p>
                      <a:pPr algn="ctr"/>
                      <a:r>
                        <a:rPr sz="1000" b="0">
                          <a:solidFill>
                            <a:srgbClr val="0F172A"/>
                          </a:solidFill>
                          <a:latin typeface="Segoe UI"/>
                        </a:rPr>
                        <a:t>8,483 m³/yr</a:t>
                      </a:r>
                    </a:p>
                  </a:txBody>
                  <a:tcPr marL="91440" marR="91440" marT="27432" marB="27432" anchor="ctr">
                    <a:solidFill>
                      <a:srgbClr val="FFFFFF"/>
                    </a:solidFill>
                  </a:tcPr>
                </a:tc>
                <a:tc>
                  <a:txBody>
                    <a:bodyPr wrap="square"/>
                    <a:lstStyle/>
                    <a:p>
                      <a:pPr algn="ctr"/>
                      <a:r>
                        <a:rPr sz="1000" b="0">
                          <a:solidFill>
                            <a:srgbClr val="0F172A"/>
                          </a:solidFill>
                          <a:latin typeface="Segoe UI"/>
                        </a:rPr>
                        <a:t>7,098 – 9,895</a:t>
                      </a:r>
                    </a:p>
                  </a:txBody>
                  <a:tcPr marL="91440" marR="91440" marT="27432" marB="27432" anchor="ctr">
                    <a:solidFill>
                      <a:srgbClr val="FFFFFF"/>
                    </a:solidFill>
                  </a:tcPr>
                </a:tc>
                <a:tc>
                  <a:txBody>
                    <a:bodyPr wrap="square"/>
                    <a:lstStyle/>
                    <a:p>
                      <a:pPr algn="ctr"/>
                      <a:r>
                        <a:rPr sz="1000" b="0">
                          <a:solidFill>
                            <a:srgbClr val="0F172A"/>
                          </a:solidFill>
                          <a:latin typeface="Segoe UI"/>
                        </a:rPr>
                        <a:t>Modelled</a:t>
                      </a:r>
                    </a:p>
                  </a:txBody>
                  <a:tcPr marL="91440" marR="91440" marT="27432" marB="27432" anchor="ctr">
                    <a:solidFill>
                      <a:srgbClr val="FFFFFF"/>
                    </a:solidFill>
                  </a:tcPr>
                </a:tc>
              </a:tr>
              <a:tr h="365760">
                <a:tc>
                  <a:txBody>
                    <a:bodyPr wrap="square"/>
                    <a:lstStyle/>
                    <a:p>
                      <a:pPr algn="l"/>
                      <a:r>
                        <a:rPr sz="1000" b="0">
                          <a:solidFill>
                            <a:srgbClr val="0F172A"/>
                          </a:solidFill>
                          <a:latin typeface="Segoe UI"/>
                        </a:rPr>
                        <a:t>Net income change</a:t>
                      </a:r>
                    </a:p>
                  </a:txBody>
                  <a:tcPr marL="91440" marR="91440" marT="27432" marB="27432" anchor="ctr">
                    <a:solidFill>
                      <a:srgbClr val="F8FAFC"/>
                    </a:solidFill>
                  </a:tcPr>
                </a:tc>
                <a:tc>
                  <a:txBody>
                    <a:bodyPr wrap="square"/>
                    <a:lstStyle/>
                    <a:p>
                      <a:pPr algn="ctr"/>
                      <a:r>
                        <a:rPr sz="1000" b="0">
                          <a:solidFill>
                            <a:srgbClr val="0F172A"/>
                          </a:solidFill>
                          <a:latin typeface="Segoe UI"/>
                        </a:rPr>
                        <a:t>+₹26,625/yr</a:t>
                      </a:r>
                    </a:p>
                  </a:txBody>
                  <a:tcPr marL="91440" marR="91440" marT="27432" marB="27432" anchor="ctr">
                    <a:solidFill>
                      <a:srgbClr val="F8FAFC"/>
                    </a:solidFill>
                  </a:tcPr>
                </a:tc>
                <a:tc>
                  <a:txBody>
                    <a:bodyPr wrap="square"/>
                    <a:lstStyle/>
                    <a:p>
                      <a:pPr algn="ctr"/>
                      <a:r>
                        <a:rPr sz="1000" b="0">
                          <a:solidFill>
                            <a:srgbClr val="0F172A"/>
                          </a:solidFill>
                          <a:latin typeface="Segoe UI"/>
                        </a:rPr>
                        <a:t>₹10,901 – 42,103</a:t>
                      </a:r>
                    </a:p>
                  </a:txBody>
                  <a:tcPr marL="91440" marR="91440" marT="27432" marB="27432" anchor="ctr">
                    <a:solidFill>
                      <a:srgbClr val="F8FAFC"/>
                    </a:solidFill>
                  </a:tcPr>
                </a:tc>
                <a:tc>
                  <a:txBody>
                    <a:bodyPr wrap="square"/>
                    <a:lstStyle/>
                    <a:p>
                      <a:pPr algn="ctr"/>
                      <a:r>
                        <a:rPr sz="1000" b="0">
                          <a:solidFill>
                            <a:srgbClr val="0F172A"/>
                          </a:solidFill>
                          <a:latin typeface="Segoe UI"/>
                        </a:rPr>
                        <a:t>Modelled</a:t>
                      </a:r>
                    </a:p>
                  </a:txBody>
                  <a:tcPr marL="91440" marR="91440" marT="27432" marB="27432" anchor="ctr">
                    <a:solidFill>
                      <a:srgbClr val="F8FAFC"/>
                    </a:solidFill>
                  </a:tcPr>
                </a:tc>
              </a:tr>
              <a:tr h="365760">
                <a:tc>
                  <a:txBody>
                    <a:bodyPr wrap="square"/>
                    <a:lstStyle/>
                    <a:p>
                      <a:pPr algn="l"/>
                      <a:r>
                        <a:rPr sz="1000" b="0">
                          <a:solidFill>
                            <a:srgbClr val="0F172A"/>
                          </a:solidFill>
                          <a:latin typeface="Segoe UI"/>
                        </a:rPr>
                        <a:t>CO₂e avoided</a:t>
                      </a:r>
                    </a:p>
                  </a:txBody>
                  <a:tcPr marL="91440" marR="91440" marT="27432" marB="27432" anchor="ctr">
                    <a:solidFill>
                      <a:srgbClr val="FFFFFF"/>
                    </a:solidFill>
                  </a:tcPr>
                </a:tc>
                <a:tc>
                  <a:txBody>
                    <a:bodyPr wrap="square"/>
                    <a:lstStyle/>
                    <a:p>
                      <a:pPr algn="ctr"/>
                      <a:r>
                        <a:rPr sz="1000" b="0">
                          <a:solidFill>
                            <a:srgbClr val="0F172A"/>
                          </a:solidFill>
                          <a:latin typeface="Segoe UI"/>
                        </a:rPr>
                        <a:t>4.77 t/yr</a:t>
                      </a:r>
                    </a:p>
                  </a:txBody>
                  <a:tcPr marL="91440" marR="91440" marT="27432" marB="27432" anchor="ctr">
                    <a:solidFill>
                      <a:srgbClr val="FFFFFF"/>
                    </a:solidFill>
                  </a:tcPr>
                </a:tc>
                <a:tc>
                  <a:txBody>
                    <a:bodyPr wrap="square"/>
                    <a:lstStyle/>
                    <a:p>
                      <a:pPr algn="ctr"/>
                      <a:r>
                        <a:rPr sz="1000" b="0">
                          <a:solidFill>
                            <a:srgbClr val="0F172A"/>
                          </a:solidFill>
                          <a:latin typeface="Segoe UI"/>
                        </a:rPr>
                        <a:t>→ 2.62 t after 45% haircut</a:t>
                      </a:r>
                    </a:p>
                  </a:txBody>
                  <a:tcPr marL="91440" marR="91440" marT="27432" marB="27432" anchor="ctr">
                    <a:solidFill>
                      <a:srgbClr val="FFFFFF"/>
                    </a:solidFill>
                  </a:tcPr>
                </a:tc>
                <a:tc>
                  <a:txBody>
                    <a:bodyPr wrap="square"/>
                    <a:lstStyle/>
                    <a:p>
                      <a:pPr algn="ctr"/>
                      <a:r>
                        <a:rPr sz="1000" b="0">
                          <a:solidFill>
                            <a:srgbClr val="0F172A"/>
                          </a:solidFill>
                          <a:latin typeface="Segoe UI"/>
                        </a:rPr>
                        <a:t>Estimate, not credit</a:t>
                      </a:r>
                    </a:p>
                  </a:txBody>
                  <a:tcPr marL="91440" marR="91440" marT="27432" marB="27432" anchor="ctr">
                    <a:solidFill>
                      <a:srgbClr val="FFFFFF"/>
                    </a:solidFill>
                  </a:tcPr>
                </a:tc>
              </a:tr>
              <a:tr h="365760">
                <a:tc>
                  <a:txBody>
                    <a:bodyPr wrap="square"/>
                    <a:lstStyle/>
                    <a:p>
                      <a:pPr algn="l"/>
                      <a:r>
                        <a:rPr sz="1000" b="0">
                          <a:solidFill>
                            <a:srgbClr val="0F172A"/>
                          </a:solidFill>
                          <a:latin typeface="Segoe UI"/>
                        </a:rPr>
                        <a:t>Pump life gained</a:t>
                      </a:r>
                    </a:p>
                  </a:txBody>
                  <a:tcPr marL="91440" marR="91440" marT="27432" marB="27432" anchor="ctr">
                    <a:solidFill>
                      <a:srgbClr val="F8FAFC"/>
                    </a:solidFill>
                  </a:tcPr>
                </a:tc>
                <a:tc>
                  <a:txBody>
                    <a:bodyPr wrap="square"/>
                    <a:lstStyle/>
                    <a:p>
                      <a:pPr algn="ctr"/>
                      <a:r>
                        <a:rPr sz="1000" b="0">
                          <a:solidFill>
                            <a:srgbClr val="0F172A"/>
                          </a:solidFill>
                          <a:latin typeface="Segoe UI"/>
                        </a:rPr>
                        <a:t>+2.2 yr</a:t>
                      </a:r>
                    </a:p>
                  </a:txBody>
                  <a:tcPr marL="91440" marR="91440" marT="27432" marB="27432" anchor="ctr">
                    <a:solidFill>
                      <a:srgbClr val="F8FAFC"/>
                    </a:solidFill>
                  </a:tcPr>
                </a:tc>
                <a:tc>
                  <a:txBody>
                    <a:bodyPr wrap="square"/>
                    <a:lstStyle/>
                    <a:p>
                      <a:pPr algn="ctr"/>
                      <a:r>
                        <a:rPr sz="1000" b="0">
                          <a:solidFill>
                            <a:srgbClr val="0F172A"/>
                          </a:solidFill>
                          <a:latin typeface="Segoe UI"/>
                        </a:rPr>
                        <a:t>—</a:t>
                      </a:r>
                    </a:p>
                  </a:txBody>
                  <a:tcPr marL="91440" marR="91440" marT="27432" marB="27432" anchor="ctr">
                    <a:solidFill>
                      <a:srgbClr val="F8FAFC"/>
                    </a:solidFill>
                  </a:tcPr>
                </a:tc>
                <a:tc>
                  <a:txBody>
                    <a:bodyPr wrap="square"/>
                    <a:lstStyle/>
                    <a:p>
                      <a:pPr algn="ctr"/>
                      <a:r>
                        <a:rPr sz="1000" b="0">
                          <a:solidFill>
                            <a:srgbClr val="0F172A"/>
                          </a:solidFill>
                          <a:latin typeface="Segoe UI"/>
                        </a:rPr>
                        <a:t>Modelled</a:t>
                      </a:r>
                    </a:p>
                  </a:txBody>
                  <a:tcPr marL="91440" marR="91440" marT="27432" marB="27432" anchor="ctr">
                    <a:solidFill>
                      <a:srgbClr val="F8FAFC"/>
                    </a:solidFill>
                  </a:tcPr>
                </a:tc>
              </a:tr>
            </a:tbl>
          </a:graphicData>
        </a:graphic>
      </p:graphicFrame>
      <p:sp>
        <p:nvSpPr>
          <p:cNvPr id="7" name="TextBox 6"/>
          <p:cNvSpPr txBox="1"/>
          <p:nvPr/>
        </p:nvSpPr>
        <p:spPr>
          <a:xfrm>
            <a:off x="6355080" y="1554480"/>
            <a:ext cx="5285232" cy="274320"/>
          </a:xfrm>
          <a:prstGeom prst="rect">
            <a:avLst/>
          </a:prstGeom>
          <a:noFill/>
        </p:spPr>
        <p:txBody>
          <a:bodyPr wrap="square" lIns="0" rIns="0" tIns="0" bIns="0" anchor="t">
            <a:spAutoFit/>
          </a:bodyPr>
          <a:lstStyle/>
          <a:p>
            <a:pPr algn="l">
              <a:lnSpc>
                <a:spcPct val="100000"/>
              </a:lnSpc>
              <a:spcAft>
                <a:spcPts val="400"/>
              </a:spcAft>
            </a:pPr>
            <a:r>
              <a:rPr sz="1400" b="1">
                <a:solidFill>
                  <a:srgbClr val="0F172A"/>
                </a:solidFill>
                <a:latin typeface="Segoe UI"/>
              </a:rPr>
              <a:t>The income gain is positive in every draw</a:t>
            </a:r>
          </a:p>
        </p:txBody>
      </p:sp>
      <p:sp>
        <p:nvSpPr>
          <p:cNvPr id="8" name="TextBox 7"/>
          <p:cNvSpPr txBox="1"/>
          <p:nvPr/>
        </p:nvSpPr>
        <p:spPr>
          <a:xfrm>
            <a:off x="6355080" y="1938528"/>
            <a:ext cx="5285232" cy="2377440"/>
          </a:xfrm>
          <a:prstGeom prst="rect">
            <a:avLst/>
          </a:prstGeom>
          <a:noFill/>
        </p:spPr>
        <p:txBody>
          <a:bodyPr wrap="square" lIns="0" rIns="0" tIns="0" bIns="0" anchor="t">
            <a:spAutoFit/>
          </a:bodyPr>
          <a:lstStyle/>
          <a:p>
            <a:pPr algn="l">
              <a:lnSpc>
                <a:spcPct val="126000"/>
              </a:lnSpc>
              <a:spcAft>
                <a:spcPts val="400"/>
              </a:spcAft>
            </a:pPr>
            <a:r>
              <a:rPr sz="1150" b="0">
                <a:solidFill>
                  <a:srgbClr val="64748B"/>
                </a:solidFill>
                <a:latin typeface="Segoe UI"/>
              </a:rPr>
              <a:t>Across 1,200 draws perturbing prices, crop water use, emission factors, residue markets and aquifer properties, the income change never turned negative. The recommendation does not depend on the assumptions being exactly right.</a:t>
            </a:r>
            <a:r>
              <a:rPr sz="1100" b="0">
                <a:solidFill>
                  <a:srgbClr val="64748B"/>
                </a:solidFill>
                <a:latin typeface="Segoe UI"/>
              </a:rPr>
              <a:t>Both plans in each draw share the same perturbation, so common errors cancel instead of inflating the variance of the difference.</a:t>
            </a:r>
            <a:r>
              <a:rPr sz="1150" b="1">
                <a:solidFill>
                  <a:srgbClr val="0F172A"/>
                </a:solidFill>
                <a:latin typeface="Segoe UI"/>
              </a:rPr>
              <a:t>And five MRV steps are labelled in the product: one performed (modelling), four not. No credit is issued, registered or sold.</a:t>
            </a:r>
          </a:p>
        </p:txBody>
      </p:sp>
      <p:sp>
        <p:nvSpPr>
          <p:cNvPr id="9" name="TextBox 8"/>
          <p:cNvSpPr txBox="1"/>
          <p:nvPr/>
        </p:nvSpPr>
        <p:spPr>
          <a:xfrm>
            <a:off x="566928" y="6419088"/>
            <a:ext cx="8229600" cy="237744"/>
          </a:xfrm>
          <a:prstGeom prst="rect">
            <a:avLst/>
          </a:prstGeom>
          <a:noFill/>
        </p:spPr>
        <p:txBody>
          <a:bodyPr wrap="square" lIns="0" rIns="0" tIns="0" bIns="0" anchor="t">
            <a:spAutoFit/>
          </a:bodyPr>
          <a:lstStyle/>
          <a:p>
            <a:pPr algn="l">
              <a:lnSpc>
                <a:spcPct val="100000"/>
              </a:lnSpc>
              <a:spcAft>
                <a:spcPts val="400"/>
              </a:spcAft>
            </a:pPr>
            <a:r>
              <a:rPr sz="850" b="0">
                <a:solidFill>
                  <a:srgbClr val="94A3B8"/>
                </a:solidFill>
                <a:latin typeface="Segoe UI"/>
              </a:rPr>
              <a:t>AquaCast-Punjab  ·  Sankalp — Climate-Smart Agriculture, Water &amp; Rural Credit</a:t>
            </a:r>
          </a:p>
        </p:txBody>
      </p:sp>
      <p:sp>
        <p:nvSpPr>
          <p:cNvPr id="10" name="TextBox 9"/>
          <p:cNvSpPr txBox="1"/>
          <p:nvPr/>
        </p:nvSpPr>
        <p:spPr>
          <a:xfrm>
            <a:off x="10972800" y="6419088"/>
            <a:ext cx="685800" cy="237744"/>
          </a:xfrm>
          <a:prstGeom prst="rect">
            <a:avLst/>
          </a:prstGeom>
          <a:noFill/>
        </p:spPr>
        <p:txBody>
          <a:bodyPr wrap="square" lIns="0" rIns="0" tIns="0" bIns="0" anchor="t">
            <a:spAutoFit/>
          </a:bodyPr>
          <a:lstStyle/>
          <a:p>
            <a:pPr algn="r">
              <a:lnSpc>
                <a:spcPct val="100000"/>
              </a:lnSpc>
              <a:spcAft>
                <a:spcPts val="400"/>
              </a:spcAft>
            </a:pPr>
            <a:r>
              <a:rPr sz="850" b="1">
                <a:solidFill>
                  <a:srgbClr val="94A3B8"/>
                </a:solidFill>
                <a:latin typeface="Segoe UI"/>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11064240" cy="256032"/>
          </a:xfrm>
          <a:prstGeom prst="rect">
            <a:avLst/>
          </a:prstGeom>
          <a:noFill/>
        </p:spPr>
        <p:txBody>
          <a:bodyPr wrap="square" lIns="0" rIns="0" tIns="0" bIns="0" anchor="t">
            <a:spAutoFit/>
          </a:bodyPr>
          <a:lstStyle/>
          <a:p>
            <a:pPr algn="l">
              <a:lnSpc>
                <a:spcPct val="100000"/>
              </a:lnSpc>
              <a:spcAft>
                <a:spcPts val="400"/>
              </a:spcAft>
            </a:pPr>
            <a:r>
              <a:rPr sz="1050" b="1">
                <a:solidFill>
                  <a:srgbClr val="0369A1"/>
                </a:solidFill>
                <a:latin typeface="Segoe UI"/>
              </a:rPr>
              <a:t>ZERO CREDENTIALS · EVERY SWAP IS ONE MODULE</a:t>
            </a:r>
          </a:p>
        </p:txBody>
      </p:sp>
      <p:sp>
        <p:nvSpPr>
          <p:cNvPr id="4" name="TextBox 3"/>
          <p:cNvSpPr txBox="1"/>
          <p:nvPr/>
        </p:nvSpPr>
        <p:spPr>
          <a:xfrm>
            <a:off x="566928" y="640080"/>
            <a:ext cx="11064240" cy="658368"/>
          </a:xfrm>
          <a:prstGeom prst="rect">
            <a:avLst/>
          </a:prstGeom>
          <a:noFill/>
        </p:spPr>
        <p:txBody>
          <a:bodyPr wrap="square" lIns="0" rIns="0" tIns="0" bIns="0" anchor="t">
            <a:spAutoFit/>
          </a:bodyPr>
          <a:lstStyle/>
          <a:p>
            <a:pPr algn="l">
              <a:lnSpc>
                <a:spcPct val="100000"/>
              </a:lnSpc>
              <a:spcAft>
                <a:spcPts val="400"/>
              </a:spcAft>
            </a:pPr>
            <a:r>
              <a:rPr sz="2500" b="1">
                <a:solidFill>
                  <a:srgbClr val="0F172A"/>
                </a:solidFill>
                <a:latin typeface="Segoe UI"/>
              </a:rPr>
              <a:t>What is real, and what is mocked — stated, not buried</a:t>
            </a:r>
          </a:p>
        </p:txBody>
      </p:sp>
      <p:sp>
        <p:nvSpPr>
          <p:cNvPr id="5" name="Rectangle 4"/>
          <p:cNvSpPr/>
          <p:nvPr/>
        </p:nvSpPr>
        <p:spPr>
          <a:xfrm>
            <a:off x="566928" y="1335024"/>
            <a:ext cx="658368"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graphicFrame>
        <p:nvGraphicFramePr>
          <p:cNvPr id="6" name="Table 5"/>
          <p:cNvGraphicFramePr>
            <a:graphicFrameLocks noGrp="1"/>
          </p:cNvGraphicFramePr>
          <p:nvPr/>
        </p:nvGraphicFramePr>
        <p:xfrm>
          <a:off x="566928" y="1554480"/>
          <a:ext cx="11064240" cy="3328416"/>
        </p:xfrm>
        <a:graphic>
          <a:graphicData uri="http://schemas.openxmlformats.org/drawingml/2006/table">
            <a:tbl>
              <a:tblPr firstRow="1" bandRow="1">
                <a:tableStyleId>{5C22544A-7EE6-4342-B048-85BDC9FD1C3A}</a:tableStyleId>
              </a:tblPr>
              <a:tblGrid>
                <a:gridCol w="3017520"/>
                <a:gridCol w="4754880"/>
                <a:gridCol w="3291840"/>
              </a:tblGrid>
              <a:tr h="402336">
                <a:tc>
                  <a:txBody>
                    <a:bodyPr wrap="square"/>
                    <a:lstStyle/>
                    <a:p>
                      <a:pPr algn="l"/>
                      <a:r>
                        <a:rPr sz="1050" b="1">
                          <a:solidFill>
                            <a:srgbClr val="FFFFFF"/>
                          </a:solidFill>
                          <a:latin typeface="Segoe UI"/>
                        </a:rPr>
                        <a:t>Production dependency</a:t>
                      </a:r>
                    </a:p>
                  </a:txBody>
                  <a:tcPr marL="91440" marR="91440" marT="27432" marB="27432" anchor="ctr">
                    <a:solidFill>
                      <a:srgbClr val="0B1E30"/>
                    </a:solidFill>
                  </a:tcPr>
                </a:tc>
                <a:tc>
                  <a:txBody>
                    <a:bodyPr wrap="square"/>
                    <a:lstStyle/>
                    <a:p>
                      <a:pPr algn="ctr"/>
                      <a:r>
                        <a:rPr sz="1050" b="1">
                          <a:solidFill>
                            <a:srgbClr val="FFFFFF"/>
                          </a:solidFill>
                          <a:latin typeface="Segoe UI"/>
                        </a:rPr>
                        <a:t>This prototype</a:t>
                      </a:r>
                    </a:p>
                  </a:txBody>
                  <a:tcPr marL="91440" marR="91440" marT="27432" marB="27432" anchor="ctr">
                    <a:solidFill>
                      <a:srgbClr val="0B1E30"/>
                    </a:solidFill>
                  </a:tcPr>
                </a:tc>
                <a:tc>
                  <a:txBody>
                    <a:bodyPr wrap="square"/>
                    <a:lstStyle/>
                    <a:p>
                      <a:pPr algn="ctr"/>
                      <a:r>
                        <a:rPr sz="1050" b="1">
                          <a:solidFill>
                            <a:srgbClr val="FFFFFF"/>
                          </a:solidFill>
                          <a:latin typeface="Segoe UI"/>
                        </a:rPr>
                        <a:t>Swapped in</a:t>
                      </a:r>
                    </a:p>
                  </a:txBody>
                  <a:tcPr marL="91440" marR="91440" marT="27432" marB="27432" anchor="ctr">
                    <a:solidFill>
                      <a:srgbClr val="0B1E30"/>
                    </a:solidFill>
                  </a:tcPr>
                </a:tc>
              </a:tr>
              <a:tr h="365760">
                <a:tc>
                  <a:txBody>
                    <a:bodyPr wrap="square"/>
                    <a:lstStyle/>
                    <a:p>
                      <a:pPr algn="l"/>
                      <a:r>
                        <a:rPr sz="1050" b="0">
                          <a:solidFill>
                            <a:srgbClr val="0F172A"/>
                          </a:solidFill>
                          <a:latin typeface="Segoe UI"/>
                        </a:rPr>
                        <a:t>PostgreSQL + PostGIS</a:t>
                      </a:r>
                    </a:p>
                  </a:txBody>
                  <a:tcPr marL="91440" marR="91440" marT="27432" marB="27432" anchor="ctr">
                    <a:solidFill>
                      <a:srgbClr val="FFFFFF"/>
                    </a:solidFill>
                  </a:tcPr>
                </a:tc>
                <a:tc>
                  <a:txBody>
                    <a:bodyPr wrap="square"/>
                    <a:lstStyle/>
                    <a:p>
                      <a:pPr algn="ctr"/>
                      <a:r>
                        <a:rPr sz="1050" b="0">
                          <a:solidFill>
                            <a:srgbClr val="0F172A"/>
                          </a:solidFill>
                          <a:latin typeface="Segoe UI"/>
                        </a:rPr>
                        <a:t>Local GeoJSON in data/</a:t>
                      </a:r>
                    </a:p>
                  </a:txBody>
                  <a:tcPr marL="91440" marR="91440" marT="27432" marB="27432" anchor="ctr">
                    <a:solidFill>
                      <a:srgbClr val="FFFFFF"/>
                    </a:solidFill>
                  </a:tcPr>
                </a:tc>
                <a:tc>
                  <a:txBody>
                    <a:bodyPr wrap="square"/>
                    <a:lstStyle/>
                    <a:p>
                      <a:pPr algn="ctr"/>
                      <a:r>
                        <a:rPr sz="1050" b="0">
                          <a:solidFill>
                            <a:srgbClr val="0F172A"/>
                          </a:solidFill>
                          <a:latin typeface="Segoe UI"/>
                        </a:rPr>
                        <a:t>spatial_loader.py</a:t>
                      </a:r>
                    </a:p>
                  </a:txBody>
                  <a:tcPr marL="91440" marR="91440" marT="27432" marB="27432" anchor="ctr">
                    <a:solidFill>
                      <a:srgbClr val="FFFFFF"/>
                    </a:solidFill>
                  </a:tcPr>
                </a:tc>
              </a:tr>
              <a:tr h="365760">
                <a:tc>
                  <a:txBody>
                    <a:bodyPr wrap="square"/>
                    <a:lstStyle/>
                    <a:p>
                      <a:pPr algn="l"/>
                      <a:r>
                        <a:rPr sz="1050" b="0">
                          <a:solidFill>
                            <a:srgbClr val="0F172A"/>
                          </a:solidFill>
                          <a:latin typeface="Segoe UI"/>
                        </a:rPr>
                        <a:t>Google Earth Engine</a:t>
                      </a:r>
                    </a:p>
                  </a:txBody>
                  <a:tcPr marL="91440" marR="91440" marT="27432" marB="27432" anchor="ctr">
                    <a:solidFill>
                      <a:srgbClr val="F8FAFC"/>
                    </a:solidFill>
                  </a:tcPr>
                </a:tc>
                <a:tc>
                  <a:txBody>
                    <a:bodyPr wrap="square"/>
                    <a:lstStyle/>
                    <a:p>
                      <a:pPr algn="ctr"/>
                      <a:r>
                        <a:rPr sz="1050" b="0">
                          <a:solidFill>
                            <a:srgbClr val="0F172A"/>
                          </a:solidFill>
                          <a:latin typeface="Segoe UI"/>
                        </a:rPr>
                        <a:t>Phenology model, labelled simulated</a:t>
                      </a:r>
                    </a:p>
                  </a:txBody>
                  <a:tcPr marL="91440" marR="91440" marT="27432" marB="27432" anchor="ctr">
                    <a:solidFill>
                      <a:srgbClr val="F8FAFC"/>
                    </a:solidFill>
                  </a:tcPr>
                </a:tc>
                <a:tc>
                  <a:txBody>
                    <a:bodyPr wrap="square"/>
                    <a:lstStyle/>
                    <a:p>
                      <a:pPr algn="ctr"/>
                      <a:r>
                        <a:rPr sz="1050" b="0">
                          <a:solidFill>
                            <a:srgbClr val="0F172A"/>
                          </a:solidFill>
                          <a:latin typeface="Segoe UI"/>
                        </a:rPr>
                        <a:t>satellite.py</a:t>
                      </a:r>
                    </a:p>
                  </a:txBody>
                  <a:tcPr marL="91440" marR="91440" marT="27432" marB="27432" anchor="ctr">
                    <a:solidFill>
                      <a:srgbClr val="F8FAFC"/>
                    </a:solidFill>
                  </a:tcPr>
                </a:tc>
              </a:tr>
              <a:tr h="365760">
                <a:tc>
                  <a:txBody>
                    <a:bodyPr wrap="square"/>
                    <a:lstStyle/>
                    <a:p>
                      <a:pPr algn="l"/>
                      <a:r>
                        <a:rPr sz="1050" b="0">
                          <a:solidFill>
                            <a:srgbClr val="0F172A"/>
                          </a:solidFill>
                          <a:latin typeface="Segoe UI"/>
                        </a:rPr>
                        <a:t>Twilio / WhatsApp API</a:t>
                      </a:r>
                    </a:p>
                  </a:txBody>
                  <a:tcPr marL="91440" marR="91440" marT="27432" marB="27432" anchor="ctr">
                    <a:solidFill>
                      <a:srgbClr val="FFFFFF"/>
                    </a:solidFill>
                  </a:tcPr>
                </a:tc>
                <a:tc>
                  <a:txBody>
                    <a:bodyPr wrap="square"/>
                    <a:lstStyle/>
                    <a:p>
                      <a:pPr algn="ctr"/>
                      <a:r>
                        <a:rPr sz="1050" b="0">
                          <a:solidFill>
                            <a:srgbClr val="0F172A"/>
                          </a:solidFill>
                          <a:latin typeface="Segoe UI"/>
                        </a:rPr>
                        <a:t>Rendered handset, staged locally</a:t>
                      </a:r>
                    </a:p>
                  </a:txBody>
                  <a:tcPr marL="91440" marR="91440" marT="27432" marB="27432" anchor="ctr">
                    <a:solidFill>
                      <a:srgbClr val="FFFFFF"/>
                    </a:solidFill>
                  </a:tcPr>
                </a:tc>
                <a:tc>
                  <a:txBody>
                    <a:bodyPr wrap="square"/>
                    <a:lstStyle/>
                    <a:p>
                      <a:pPr algn="ctr"/>
                      <a:r>
                        <a:rPr sz="1050" b="0">
                          <a:solidFill>
                            <a:srgbClr val="0F172A"/>
                          </a:solidFill>
                          <a:latin typeface="Segoe UI"/>
                        </a:rPr>
                        <a:t>Farmer Phone page</a:t>
                      </a:r>
                    </a:p>
                  </a:txBody>
                  <a:tcPr marL="91440" marR="91440" marT="27432" marB="27432" anchor="ctr">
                    <a:solidFill>
                      <a:srgbClr val="FFFFFF"/>
                    </a:solidFill>
                  </a:tcPr>
                </a:tc>
              </a:tr>
              <a:tr h="365760">
                <a:tc>
                  <a:txBody>
                    <a:bodyPr wrap="square"/>
                    <a:lstStyle/>
                    <a:p>
                      <a:pPr algn="l"/>
                      <a:r>
                        <a:rPr sz="1050" b="0">
                          <a:solidFill>
                            <a:srgbClr val="0F172A"/>
                          </a:solidFill>
                          <a:latin typeface="Segoe UI"/>
                        </a:rPr>
                        <a:t>Lender KYC + bureau</a:t>
                      </a:r>
                    </a:p>
                  </a:txBody>
                  <a:tcPr marL="91440" marR="91440" marT="27432" marB="27432" anchor="ctr">
                    <a:solidFill>
                      <a:srgbClr val="F8FAFC"/>
                    </a:solidFill>
                  </a:tcPr>
                </a:tc>
                <a:tc>
                  <a:txBody>
                    <a:bodyPr wrap="square"/>
                    <a:lstStyle/>
                    <a:p>
                      <a:pPr algn="ctr"/>
                      <a:r>
                        <a:rPr sz="1050" b="0">
                          <a:solidFill>
                            <a:srgbClr val="0F172A"/>
                          </a:solidFill>
                          <a:latin typeface="Segoe UI"/>
                        </a:rPr>
                        <a:t>Deterministic public-prior model</a:t>
                      </a:r>
                    </a:p>
                  </a:txBody>
                  <a:tcPr marL="91440" marR="91440" marT="27432" marB="27432" anchor="ctr">
                    <a:solidFill>
                      <a:srgbClr val="F8FAFC"/>
                    </a:solidFill>
                  </a:tcPr>
                </a:tc>
                <a:tc>
                  <a:txBody>
                    <a:bodyPr wrap="square"/>
                    <a:lstStyle/>
                    <a:p>
                      <a:pPr algn="ctr"/>
                      <a:r>
                        <a:rPr sz="1050" b="0">
                          <a:solidFill>
                            <a:srgbClr val="0F172A"/>
                          </a:solidFill>
                          <a:latin typeface="Segoe UI"/>
                        </a:rPr>
                        <a:t>credit_risk_engine.py</a:t>
                      </a:r>
                    </a:p>
                  </a:txBody>
                  <a:tcPr marL="91440" marR="91440" marT="27432" marB="27432" anchor="ctr">
                    <a:solidFill>
                      <a:srgbClr val="F8FAFC"/>
                    </a:solidFill>
                  </a:tcPr>
                </a:tc>
              </a:tr>
              <a:tr h="365760">
                <a:tc>
                  <a:txBody>
                    <a:bodyPr wrap="square"/>
                    <a:lstStyle/>
                    <a:p>
                      <a:pPr algn="l"/>
                      <a:r>
                        <a:rPr sz="1050" b="0">
                          <a:solidFill>
                            <a:srgbClr val="0F172A"/>
                          </a:solidFill>
                          <a:latin typeface="Segoe UI"/>
                        </a:rPr>
                        <a:t>OR-Tools MILP</a:t>
                      </a:r>
                    </a:p>
                  </a:txBody>
                  <a:tcPr marL="91440" marR="91440" marT="27432" marB="27432" anchor="ctr">
                    <a:solidFill>
                      <a:srgbClr val="FFFFFF"/>
                    </a:solidFill>
                  </a:tcPr>
                </a:tc>
                <a:tc>
                  <a:txBody>
                    <a:bodyPr wrap="square"/>
                    <a:lstStyle/>
                    <a:p>
                      <a:pPr algn="ctr"/>
                      <a:r>
                        <a:rPr sz="1050" b="0">
                          <a:solidFill>
                            <a:srgbClr val="0F172A"/>
                          </a:solidFill>
                          <a:latin typeface="Segoe UI"/>
                        </a:rPr>
                        <a:t>Vectorised enumeration, 12,584 plans</a:t>
                      </a:r>
                    </a:p>
                  </a:txBody>
                  <a:tcPr marL="91440" marR="91440" marT="27432" marB="27432" anchor="ctr">
                    <a:solidFill>
                      <a:srgbClr val="FFFFFF"/>
                    </a:solidFill>
                  </a:tcPr>
                </a:tc>
                <a:tc>
                  <a:txBody>
                    <a:bodyPr wrap="square"/>
                    <a:lstStyle/>
                    <a:p>
                      <a:pPr algn="ctr"/>
                      <a:r>
                        <a:rPr sz="1050" b="0">
                          <a:solidFill>
                            <a:srgbClr val="0F172A"/>
                          </a:solidFill>
                          <a:latin typeface="Segoe UI"/>
                        </a:rPr>
                        <a:t>optimizer.py</a:t>
                      </a:r>
                    </a:p>
                  </a:txBody>
                  <a:tcPr marL="91440" marR="91440" marT="27432" marB="27432" anchor="ctr">
                    <a:solidFill>
                      <a:srgbClr val="FFFFFF"/>
                    </a:solidFill>
                  </a:tcPr>
                </a:tc>
              </a:tr>
              <a:tr h="365760">
                <a:tc>
                  <a:txBody>
                    <a:bodyPr wrap="square"/>
                    <a:lstStyle/>
                    <a:p>
                      <a:pPr algn="l"/>
                      <a:r>
                        <a:rPr sz="1050" b="0">
                          <a:solidFill>
                            <a:srgbClr val="0F172A"/>
                          </a:solidFill>
                          <a:latin typeface="Segoe UI"/>
                        </a:rPr>
                        <a:t>XGBoost crop ranker</a:t>
                      </a:r>
                    </a:p>
                  </a:txBody>
                  <a:tcPr marL="91440" marR="91440" marT="27432" marB="27432" anchor="ctr">
                    <a:solidFill>
                      <a:srgbClr val="F8FAFC"/>
                    </a:solidFill>
                  </a:tcPr>
                </a:tc>
                <a:tc>
                  <a:txBody>
                    <a:bodyPr wrap="square"/>
                    <a:lstStyle/>
                    <a:p>
                      <a:pPr algn="ctr"/>
                      <a:r>
                        <a:rPr sz="1050" b="0">
                          <a:solidFill>
                            <a:srgbClr val="0F172A"/>
                          </a:solidFill>
                          <a:latin typeface="Segoe UI"/>
                        </a:rPr>
                        <a:t>Deterministic scored rules</a:t>
                      </a:r>
                    </a:p>
                  </a:txBody>
                  <a:tcPr marL="91440" marR="91440" marT="27432" marB="27432" anchor="ctr">
                    <a:solidFill>
                      <a:srgbClr val="F8FAFC"/>
                    </a:solidFill>
                  </a:tcPr>
                </a:tc>
                <a:tc>
                  <a:txBody>
                    <a:bodyPr wrap="square"/>
                    <a:lstStyle/>
                    <a:p>
                      <a:pPr algn="ctr"/>
                      <a:r>
                        <a:rPr sz="1050" b="0">
                          <a:solidFill>
                            <a:srgbClr val="0F172A"/>
                          </a:solidFill>
                          <a:latin typeface="Segoe UI"/>
                        </a:rPr>
                        <a:t>advisor.py</a:t>
                      </a:r>
                    </a:p>
                  </a:txBody>
                  <a:tcPr marL="91440" marR="91440" marT="27432" marB="27432" anchor="ctr">
                    <a:solidFill>
                      <a:srgbClr val="F8FAFC"/>
                    </a:solidFill>
                  </a:tcPr>
                </a:tc>
              </a:tr>
              <a:tr h="365760">
                <a:tc>
                  <a:txBody>
                    <a:bodyPr wrap="square"/>
                    <a:lstStyle/>
                    <a:p>
                      <a:pPr algn="l"/>
                      <a:r>
                        <a:rPr sz="1050" b="0">
                          <a:solidFill>
                            <a:srgbClr val="0F172A"/>
                          </a:solidFill>
                          <a:latin typeface="Segoe UI"/>
                        </a:rPr>
                        <a:t>LLM narration</a:t>
                      </a:r>
                    </a:p>
                  </a:txBody>
                  <a:tcPr marL="91440" marR="91440" marT="27432" marB="27432" anchor="ctr">
                    <a:solidFill>
                      <a:srgbClr val="FFFFFF"/>
                    </a:solidFill>
                  </a:tcPr>
                </a:tc>
                <a:tc>
                  <a:txBody>
                    <a:bodyPr wrap="square"/>
                    <a:lstStyle/>
                    <a:p>
                      <a:pPr algn="ctr"/>
                      <a:r>
                        <a:rPr sz="1050" b="0">
                          <a:solidFill>
                            <a:srgbClr val="0F172A"/>
                          </a:solidFill>
                          <a:latin typeface="Segoe UI"/>
                        </a:rPr>
                        <a:t>Rule templates; off without a key</a:t>
                      </a:r>
                    </a:p>
                  </a:txBody>
                  <a:tcPr marL="91440" marR="91440" marT="27432" marB="27432" anchor="ctr">
                    <a:solidFill>
                      <a:srgbClr val="FFFFFF"/>
                    </a:solidFill>
                  </a:tcPr>
                </a:tc>
                <a:tc>
                  <a:txBody>
                    <a:bodyPr wrap="square"/>
                    <a:lstStyle/>
                    <a:p>
                      <a:pPr algn="ctr"/>
                      <a:r>
                        <a:rPr sz="1050" b="0">
                          <a:solidFill>
                            <a:srgbClr val="0F172A"/>
                          </a:solidFill>
                          <a:latin typeface="Segoe UI"/>
                        </a:rPr>
                        <a:t>advisor.py</a:t>
                      </a:r>
                    </a:p>
                  </a:txBody>
                  <a:tcPr marL="91440" marR="91440" marT="27432" marB="27432" anchor="ctr">
                    <a:solidFill>
                      <a:srgbClr val="FFFFFF"/>
                    </a:solidFill>
                  </a:tcPr>
                </a:tc>
              </a:tr>
              <a:tr h="365760">
                <a:tc>
                  <a:txBody>
                    <a:bodyPr wrap="square"/>
                    <a:lstStyle/>
                    <a:p>
                      <a:pPr algn="l"/>
                      <a:r>
                        <a:rPr sz="1050" b="0">
                          <a:solidFill>
                            <a:srgbClr val="0F172A"/>
                          </a:solidFill>
                          <a:latin typeface="Segoe UI"/>
                        </a:rPr>
                        <a:t>Carbon registry</a:t>
                      </a:r>
                    </a:p>
                  </a:txBody>
                  <a:tcPr marL="91440" marR="91440" marT="27432" marB="27432" anchor="ctr">
                    <a:solidFill>
                      <a:srgbClr val="F8FAFC"/>
                    </a:solidFill>
                  </a:tcPr>
                </a:tc>
                <a:tc>
                  <a:txBody>
                    <a:bodyPr wrap="square"/>
                    <a:lstStyle/>
                    <a:p>
                      <a:pPr algn="ctr"/>
                      <a:r>
                        <a:rPr sz="1050" b="0">
                          <a:solidFill>
                            <a:srgbClr val="0F172A"/>
                          </a:solidFill>
                          <a:latin typeface="Segoe UI"/>
                        </a:rPr>
                        <a:t>Estimates with a stated haircut</a:t>
                      </a:r>
                    </a:p>
                  </a:txBody>
                  <a:tcPr marL="91440" marR="91440" marT="27432" marB="27432" anchor="ctr">
                    <a:solidFill>
                      <a:srgbClr val="F8FAFC"/>
                    </a:solidFill>
                  </a:tcPr>
                </a:tc>
                <a:tc>
                  <a:txBody>
                    <a:bodyPr wrap="square"/>
                    <a:lstStyle/>
                    <a:p>
                      <a:pPr algn="ctr"/>
                      <a:r>
                        <a:rPr sz="1050" b="0">
                          <a:solidFill>
                            <a:srgbClr val="0F172A"/>
                          </a:solidFill>
                          <a:latin typeface="Segoe UI"/>
                        </a:rPr>
                        <a:t>impact.py</a:t>
                      </a:r>
                    </a:p>
                  </a:txBody>
                  <a:tcPr marL="91440" marR="91440" marT="27432" marB="27432" anchor="ctr">
                    <a:solidFill>
                      <a:srgbClr val="F8FAFC"/>
                    </a:solidFill>
                  </a:tcPr>
                </a:tc>
              </a:tr>
            </a:tbl>
          </a:graphicData>
        </a:graphic>
      </p:graphicFrame>
      <p:sp>
        <p:nvSpPr>
          <p:cNvPr id="7" name="Rounded Rectangle 6"/>
          <p:cNvSpPr/>
          <p:nvPr/>
        </p:nvSpPr>
        <p:spPr>
          <a:xfrm>
            <a:off x="566928" y="4846320"/>
            <a:ext cx="11064240" cy="868680"/>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566928" y="4846320"/>
            <a:ext cx="50292" cy="868680"/>
          </a:xfrm>
          <a:prstGeom prst="rect">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22960" y="4992624"/>
            <a:ext cx="10607040" cy="640080"/>
          </a:xfrm>
          <a:prstGeom prst="rect">
            <a:avLst/>
          </a:prstGeom>
          <a:noFill/>
        </p:spPr>
        <p:txBody>
          <a:bodyPr wrap="square" lIns="0" rIns="0" tIns="0" bIns="0" anchor="t">
            <a:spAutoFit/>
          </a:bodyPr>
          <a:lstStyle/>
          <a:p>
            <a:pPr algn="l">
              <a:lnSpc>
                <a:spcPct val="120000"/>
              </a:lnSpc>
              <a:spcAft>
                <a:spcPts val="400"/>
              </a:spcAft>
            </a:pPr>
            <a:r>
              <a:rPr sz="1200" b="1">
                <a:solidFill>
                  <a:srgbClr val="0F172A"/>
                </a:solidFill>
                <a:latin typeface="Segoe UI"/>
              </a:rPr>
              <a:t>streamlit run app.py  —  runs with no API key, no database, no network. Every simulated feature is labelled at the point of use, not in a footnote.</a:t>
            </a:r>
          </a:p>
        </p:txBody>
      </p:sp>
      <p:sp>
        <p:nvSpPr>
          <p:cNvPr id="10" name="TextBox 9"/>
          <p:cNvSpPr txBox="1"/>
          <p:nvPr/>
        </p:nvSpPr>
        <p:spPr>
          <a:xfrm>
            <a:off x="566928" y="6419088"/>
            <a:ext cx="8229600" cy="237744"/>
          </a:xfrm>
          <a:prstGeom prst="rect">
            <a:avLst/>
          </a:prstGeom>
          <a:noFill/>
        </p:spPr>
        <p:txBody>
          <a:bodyPr wrap="square" lIns="0" rIns="0" tIns="0" bIns="0" anchor="t">
            <a:spAutoFit/>
          </a:bodyPr>
          <a:lstStyle/>
          <a:p>
            <a:pPr algn="l">
              <a:lnSpc>
                <a:spcPct val="100000"/>
              </a:lnSpc>
              <a:spcAft>
                <a:spcPts val="400"/>
              </a:spcAft>
            </a:pPr>
            <a:r>
              <a:rPr sz="850" b="0">
                <a:solidFill>
                  <a:srgbClr val="94A3B8"/>
                </a:solidFill>
                <a:latin typeface="Segoe UI"/>
              </a:rPr>
              <a:t>AquaCast-Punjab  ·  Sankalp — Climate-Smart Agriculture, Water &amp; Rural Credit</a:t>
            </a:r>
          </a:p>
        </p:txBody>
      </p:sp>
      <p:sp>
        <p:nvSpPr>
          <p:cNvPr id="11" name="TextBox 10"/>
          <p:cNvSpPr txBox="1"/>
          <p:nvPr/>
        </p:nvSpPr>
        <p:spPr>
          <a:xfrm>
            <a:off x="10972800" y="6419088"/>
            <a:ext cx="685800" cy="237744"/>
          </a:xfrm>
          <a:prstGeom prst="rect">
            <a:avLst/>
          </a:prstGeom>
          <a:noFill/>
        </p:spPr>
        <p:txBody>
          <a:bodyPr wrap="square" lIns="0" rIns="0" tIns="0" bIns="0" anchor="t">
            <a:spAutoFit/>
          </a:bodyPr>
          <a:lstStyle/>
          <a:p>
            <a:pPr algn="r">
              <a:lnSpc>
                <a:spcPct val="100000"/>
              </a:lnSpc>
              <a:spcAft>
                <a:spcPts val="400"/>
              </a:spcAft>
            </a:pPr>
            <a:r>
              <a:rPr sz="850" b="1">
                <a:solidFill>
                  <a:srgbClr val="94A3B8"/>
                </a:solidFill>
                <a:latin typeface="Segoe UI"/>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E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77240" y="1417320"/>
            <a:ext cx="10607040" cy="365760"/>
          </a:xfrm>
          <a:prstGeom prst="rect">
            <a:avLst/>
          </a:prstGeom>
          <a:noFill/>
        </p:spPr>
        <p:txBody>
          <a:bodyPr wrap="square" lIns="0" rIns="0" tIns="0" bIns="0" anchor="t">
            <a:spAutoFit/>
          </a:bodyPr>
          <a:lstStyle/>
          <a:p>
            <a:pPr algn="l">
              <a:lnSpc>
                <a:spcPct val="100000"/>
              </a:lnSpc>
              <a:spcAft>
                <a:spcPts val="400"/>
              </a:spcAft>
            </a:pPr>
            <a:r>
              <a:rPr sz="1200" b="1">
                <a:solidFill>
                  <a:srgbClr val="0EA5E9"/>
                </a:solidFill>
                <a:latin typeface="Segoe UI"/>
              </a:rPr>
              <a:t>THE ONE-LINER</a:t>
            </a:r>
          </a:p>
        </p:txBody>
      </p:sp>
      <p:sp>
        <p:nvSpPr>
          <p:cNvPr id="5" name="TextBox 4"/>
          <p:cNvSpPr txBox="1"/>
          <p:nvPr/>
        </p:nvSpPr>
        <p:spPr>
          <a:xfrm>
            <a:off x="777240" y="1874519"/>
            <a:ext cx="10607040" cy="1828800"/>
          </a:xfrm>
          <a:prstGeom prst="rect">
            <a:avLst/>
          </a:prstGeom>
          <a:noFill/>
        </p:spPr>
        <p:txBody>
          <a:bodyPr wrap="square" lIns="0" rIns="0" tIns="0" bIns="0" anchor="t">
            <a:spAutoFit/>
          </a:bodyPr>
          <a:lstStyle/>
          <a:p>
            <a:pPr algn="l">
              <a:lnSpc>
                <a:spcPct val="122000"/>
              </a:lnSpc>
              <a:spcAft>
                <a:spcPts val="400"/>
              </a:spcAft>
            </a:pPr>
            <a:r>
              <a:rPr sz="3200" b="1">
                <a:solidFill>
                  <a:srgbClr val="FFFFFF"/>
                </a:solidFill>
                <a:latin typeface="Segoe UI"/>
              </a:rPr>
              <a:t>Every other team will show you a groundwater chart.
We show a farmer which hours to pump, and a bank
which loan is about to go dry.</a:t>
            </a:r>
          </a:p>
        </p:txBody>
      </p:sp>
      <p:sp>
        <p:nvSpPr>
          <p:cNvPr id="6" name="Rectangle 5"/>
          <p:cNvSpPr/>
          <p:nvPr/>
        </p:nvSpPr>
        <p:spPr>
          <a:xfrm>
            <a:off x="777240" y="3950208"/>
            <a:ext cx="2011680" cy="41148"/>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777240" y="4224528"/>
            <a:ext cx="10607040" cy="1005840"/>
          </a:xfrm>
          <a:prstGeom prst="rect">
            <a:avLst/>
          </a:prstGeom>
          <a:noFill/>
        </p:spPr>
        <p:txBody>
          <a:bodyPr wrap="square" lIns="0" rIns="0" tIns="0" bIns="0" anchor="t">
            <a:spAutoFit/>
          </a:bodyPr>
          <a:lstStyle/>
          <a:p>
            <a:pPr algn="l">
              <a:lnSpc>
                <a:spcPct val="130000"/>
              </a:lnSpc>
              <a:spcAft>
                <a:spcPts val="400"/>
              </a:spcAft>
            </a:pPr>
            <a:r>
              <a:rPr sz="1400" b="0">
                <a:solidFill>
                  <a:srgbClr val="B6CDE0"/>
                </a:solidFill>
                <a:latin typeface="Segoe UI"/>
              </a:rPr>
              <a:t>0.099–0.117 m RMSE  ·  up to +70.9% skill  ·  3 districts  ·  122 wells scored  ·  1,828-day frame  ·  bilingual  ·  52,547-parameter PyTorch LSTM</a:t>
            </a:r>
          </a:p>
        </p:txBody>
      </p:sp>
      <p:sp>
        <p:nvSpPr>
          <p:cNvPr id="8" name="TextBox 7"/>
          <p:cNvSpPr txBox="1"/>
          <p:nvPr/>
        </p:nvSpPr>
        <p:spPr>
          <a:xfrm>
            <a:off x="777240" y="5742432"/>
            <a:ext cx="10607040" cy="365760"/>
          </a:xfrm>
          <a:prstGeom prst="rect">
            <a:avLst/>
          </a:prstGeom>
          <a:noFill/>
        </p:spPr>
        <p:txBody>
          <a:bodyPr wrap="square" lIns="0" rIns="0" tIns="0" bIns="0" anchor="t">
            <a:spAutoFit/>
          </a:bodyPr>
          <a:lstStyle/>
          <a:p>
            <a:pPr algn="l">
              <a:lnSpc>
                <a:spcPct val="100000"/>
              </a:lnSpc>
              <a:spcAft>
                <a:spcPts val="400"/>
              </a:spcAft>
            </a:pPr>
            <a:r>
              <a:rPr sz="1100" b="0">
                <a:solidFill>
                  <a:srgbClr val="7DA2C4"/>
                </a:solidFill>
                <a:latin typeface="Segoe UI"/>
              </a:rPr>
              <a:t>Run it:  python3 run_pipeline.py   →   dashboard on :8501   ·   Verify it:  python3 tests/smoke_test.py   →   25 passed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